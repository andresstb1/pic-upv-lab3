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89" r:id="rId3"/>
    <p:sldId id="290" r:id="rId4"/>
    <p:sldId id="302" r:id="rId5"/>
    <p:sldId id="304" r:id="rId6"/>
    <p:sldId id="305" r:id="rId7"/>
    <p:sldId id="306" r:id="rId8"/>
    <p:sldId id="295" r:id="rId9"/>
    <p:sldId id="296" r:id="rId10"/>
    <p:sldId id="293" r:id="rId11"/>
    <p:sldId id="300" r:id="rId12"/>
    <p:sldId id="301" r:id="rId13"/>
    <p:sldId id="288" r:id="rId1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110" d="100"/>
          <a:sy n="110" d="100"/>
        </p:scale>
        <p:origin x="560" y="7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04/10/2026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04/10/2026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EBBE3-89E7-61DD-87E2-A7D41912D5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8D3D6D-CA41-5D39-4FBB-A1EAFFE8C4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C07848B-6746-278A-22FA-0348AEE920A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148929F-6294-17C8-7493-55B2F22294EA}"/>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720327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50AF5-9562-A3BC-FEE3-51287DB20A3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ADF2C1-F959-EEB7-78AC-3AAC4F9112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BD9CFC-D79F-A013-0DBD-6F171B2DDA6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04A3AF3-2C7D-CDDB-D7AF-1BF8CF989B3A}"/>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776060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1DEB0-6126-A9B2-A84E-357DA2ED0C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3D8772-09EB-1820-86E4-4E77B3069F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A20F089-D9F5-21D7-09A7-55360806430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42EC21-9946-E7DA-6D20-42C12E3F0182}"/>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221035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3BDFF-9C6D-CC47-8CE7-79C46C9EF1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8F3198-1DD8-E950-76B9-A9DCD3D244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ED5362-BAC4-D827-5282-036491170CE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4DEE6D2-8979-C50C-DA3D-FD25DA42732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91766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718B2-88B2-A4C8-0A01-92B11D31F0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31B4C0-7FF4-EE83-7E6A-919A27AC0D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DCDE58-0018-D072-B859-C1AC9EC01E9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EF417D8-9E89-D229-A882-CD9C13AFD9ED}"/>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730032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23D8-BF0C-DF65-6C39-2DC198CCBC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F56B3C-5B2B-34A0-84F9-5EAADECC13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181FBD-7448-53F9-8E51-9ECEF1B1AED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E282F7F-483C-D793-92CA-9D47D2119F3C}"/>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458608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github.com/cccanvas-upv/pic-upv-lab3.git" TargetMode="External"/><Relationship Id="rId7" Type="http://schemas.openxmlformats.org/officeDocument/2006/relationships/image" Target="../media/image9.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0.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1010533"/>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p>
          <a:p>
            <a:pPr marL="12700">
              <a:lnSpc>
                <a:spcPct val="100000"/>
              </a:lnSpc>
              <a:spcBef>
                <a:spcPts val="100"/>
              </a:spcBef>
            </a:pP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Andrés Sánchez-Toril Bastrygina</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s-ES" dirty="0">
                <a:hlinkClick r:id="rId3" tooltip="https://github.com/cccanvas-upv/pic-upv-lab3.git"/>
              </a:rPr>
              <a:t>https://github.com/cccanvas-upv/pic-upv-lab3.git</a:t>
            </a:r>
            <a:endParaRPr lang="en-US" kern="0" dirty="0">
              <a:solidFill>
                <a:sysClr val="windowText" lastClr="000000"/>
              </a:solidFill>
              <a:sym typeface="Wingdings" pitchFamily="2" charset="2"/>
            </a:endParaRP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s-ES" b="0"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s-ES" b="0"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5"/>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6"/>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s-ES" b="0"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s-ES" b="0"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8"/>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a:stretch>
              </a:blipFill>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EF90E-456A-D2BB-49B3-C54E915A887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E2E957C-AA9F-1785-E8D7-0CB74664BE6C}"/>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Balanced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200B2E7-C3A6-3A7E-67AB-6BE323ACF3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73258D8-EE26-4469-A19B-4889374B60AB}"/>
              </a:ext>
            </a:extLst>
          </p:cNvPr>
          <p:cNvSpPr>
            <a:spLocks noGrp="1"/>
          </p:cNvSpPr>
          <p:nvPr>
            <p:ph type="sldNum" sz="quarter" idx="7"/>
          </p:nvPr>
        </p:nvSpPr>
        <p:spPr/>
        <p:txBody>
          <a:bodyPr/>
          <a:lstStyle/>
          <a:p>
            <a:fld id="{B6F15528-21DE-4FAA-801E-634DDDAF4B2B}" type="slidenum">
              <a:rPr lang="es-ES" smtClean="0"/>
              <a:t>4</a:t>
            </a:fld>
            <a:endParaRPr lang="es-ES"/>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F5A76D2F-0A29-2941-0B50-B4BE2AF3BCC8}"/>
                  </a:ext>
                </a:extLst>
              </p:cNvPr>
              <p:cNvSpPr txBox="1"/>
              <p:nvPr/>
            </p:nvSpPr>
            <p:spPr>
              <a:xfrm>
                <a:off x="609600" y="3251492"/>
                <a:ext cx="11199971" cy="2864887"/>
              </a:xfrm>
              <a:prstGeom prst="rect">
                <a:avLst/>
              </a:prstGeom>
              <a:solidFill>
                <a:schemeClr val="bg1">
                  <a:lumMod val="95000"/>
                </a:schemeClr>
              </a:solidFill>
              <a:ln w="28575">
                <a:solidFill>
                  <a:srgbClr val="E0700D"/>
                </a:solidFill>
              </a:ln>
            </p:spPr>
            <p:txBody>
              <a:bodyPr wrap="square" rtlCol="0">
                <a:spAutoFit/>
              </a:bodyPr>
              <a:lstStyle/>
              <a:p>
                <a:r>
                  <a:rPr lang="es-ES" sz="1200" dirty="0"/>
                  <a:t>In </a:t>
                </a:r>
                <a:r>
                  <a:rPr lang="es-ES" sz="1200" dirty="0" err="1"/>
                  <a:t>this</a:t>
                </a:r>
                <a:r>
                  <a:rPr lang="es-ES" sz="1200" dirty="0"/>
                  <a:t> </a:t>
                </a:r>
                <a:r>
                  <a:rPr lang="es-ES" sz="1200" dirty="0" err="1"/>
                  <a:t>assessment</a:t>
                </a:r>
                <a:r>
                  <a:rPr lang="es-ES" sz="1200" dirty="0"/>
                  <a:t>, </a:t>
                </a:r>
                <a:r>
                  <a:rPr lang="es-ES" sz="1200" dirty="0" err="1"/>
                  <a:t>the</a:t>
                </a:r>
                <a:r>
                  <a:rPr lang="es-ES" sz="1200" dirty="0"/>
                  <a:t> </a:t>
                </a:r>
                <a:r>
                  <a:rPr lang="es-ES" sz="1200" dirty="0" err="1"/>
                  <a:t>balanced</a:t>
                </a:r>
                <a:r>
                  <a:rPr lang="es-ES" sz="1200" dirty="0"/>
                  <a:t> </a:t>
                </a:r>
                <a:r>
                  <a:rPr lang="es-ES" sz="1200" dirty="0" err="1"/>
                  <a:t>configuration</a:t>
                </a:r>
                <a:r>
                  <a:rPr lang="es-ES" sz="1200" dirty="0"/>
                  <a:t> </a:t>
                </a:r>
                <a:r>
                  <a:rPr lang="es-ES" sz="1200" dirty="0" err="1"/>
                  <a:t>of</a:t>
                </a:r>
                <a:r>
                  <a:rPr lang="es-ES" sz="1200" dirty="0"/>
                  <a:t> </a:t>
                </a:r>
                <a:r>
                  <a:rPr lang="es-ES" sz="1200" dirty="0" err="1"/>
                  <a:t>the</a:t>
                </a:r>
                <a:r>
                  <a:rPr lang="es-ES" sz="1200" dirty="0"/>
                  <a:t> Mach-Zehnder </a:t>
                </a:r>
                <a:r>
                  <a:rPr lang="es-ES" sz="1200" dirty="0" err="1"/>
                  <a:t>Interferometer</a:t>
                </a:r>
                <a:r>
                  <a:rPr lang="es-ES" sz="1200" dirty="0"/>
                  <a:t> (MZI) </a:t>
                </a:r>
                <a:r>
                  <a:rPr lang="es-ES" sz="1200" dirty="0" err="1"/>
                  <a:t>was</a:t>
                </a:r>
                <a:r>
                  <a:rPr lang="es-ES" sz="1200" dirty="0"/>
                  <a:t> </a:t>
                </a:r>
                <a:r>
                  <a:rPr lang="es-ES" sz="1200" dirty="0" err="1"/>
                  <a:t>modeled</a:t>
                </a:r>
                <a:r>
                  <a:rPr lang="es-ES" sz="1200" dirty="0"/>
                  <a:t> and </a:t>
                </a:r>
                <a:r>
                  <a:rPr lang="es-ES" sz="1200" dirty="0" err="1"/>
                  <a:t>evaluated</a:t>
                </a:r>
                <a:r>
                  <a:rPr lang="es-ES" sz="1200" dirty="0"/>
                  <a:t> </a:t>
                </a:r>
                <a:r>
                  <a:rPr lang="es-ES" sz="1200" dirty="0" err="1"/>
                  <a:t>by</a:t>
                </a:r>
                <a:r>
                  <a:rPr lang="es-ES" sz="1200" dirty="0"/>
                  <a:t> </a:t>
                </a:r>
                <a:r>
                  <a:rPr lang="es-ES" sz="1200" dirty="0" err="1"/>
                  <a:t>defining</a:t>
                </a:r>
                <a:r>
                  <a:rPr lang="es-ES" sz="1200" dirty="0"/>
                  <a:t> </a:t>
                </a:r>
                <a:r>
                  <a:rPr lang="es-ES" sz="1200" dirty="0" err="1"/>
                  <a:t>identical</a:t>
                </a:r>
                <a:r>
                  <a:rPr lang="es-ES" sz="1200" dirty="0"/>
                  <a:t> </a:t>
                </a:r>
                <a:r>
                  <a:rPr lang="es-ES" sz="1200" dirty="0" err="1"/>
                  <a:t>physical</a:t>
                </a:r>
                <a:r>
                  <a:rPr lang="es-ES" sz="1200" dirty="0"/>
                  <a:t> </a:t>
                </a:r>
                <a:r>
                  <a:rPr lang="es-ES" sz="1200" dirty="0" err="1"/>
                  <a:t>arm</a:t>
                </a:r>
                <a:r>
                  <a:rPr lang="es-ES" sz="1200" dirty="0"/>
                  <a:t> </a:t>
                </a:r>
                <a:r>
                  <a:rPr lang="es-ES" sz="1200" dirty="0" err="1"/>
                  <a:t>lengths</a:t>
                </a:r>
                <a:r>
                  <a:rPr lang="es-ES" sz="1200" dirty="0"/>
                  <a:t> (</a:t>
                </a:r>
                <a14:m>
                  <m:oMath xmlns:m="http://schemas.openxmlformats.org/officeDocument/2006/math">
                    <m:sSub>
                      <m:sSubPr>
                        <m:ctrlPr>
                          <a:rPr lang="es-ES" sz="1200" i="1"/>
                        </m:ctrlPr>
                      </m:sSubPr>
                      <m:e>
                        <m:r>
                          <a:rPr lang="es-ES" sz="1200" i="1"/>
                          <m:t>𝐿</m:t>
                        </m:r>
                      </m:e>
                      <m:sub>
                        <m:r>
                          <a:rPr lang="es-ES" sz="1200" i="1"/>
                          <m:t>𝑢</m:t>
                        </m:r>
                      </m:sub>
                    </m:sSub>
                    <m:r>
                      <a:rPr lang="es-ES" sz="1200"/>
                      <m:t>=</m:t>
                    </m:r>
                    <m:sSub>
                      <m:sSubPr>
                        <m:ctrlPr>
                          <a:rPr lang="es-ES" sz="1200" i="1"/>
                        </m:ctrlPr>
                      </m:sSubPr>
                      <m:e>
                        <m:r>
                          <a:rPr lang="es-ES" sz="1200" i="1"/>
                          <m:t>𝐿</m:t>
                        </m:r>
                      </m:e>
                      <m:sub>
                        <m:r>
                          <a:rPr lang="es-ES" sz="1200" i="1"/>
                          <m:t>𝑑</m:t>
                        </m:r>
                      </m:sub>
                    </m:sSub>
                    <m:r>
                      <a:rPr lang="es-ES" sz="1200"/>
                      <m:t>=25.0 </m:t>
                    </m:r>
                    <m:r>
                      <a:rPr lang="es-ES" sz="1200" i="1"/>
                      <m:t>𝜇</m:t>
                    </m:r>
                    <m:r>
                      <m:rPr>
                        <m:sty m:val="p"/>
                      </m:rPr>
                      <a:rPr lang="es-ES" sz="1200"/>
                      <m:t>m</m:t>
                    </m:r>
                  </m:oMath>
                </a14:m>
                <a:r>
                  <a:rPr lang="es-ES" sz="1200" dirty="0"/>
                  <a:t>) and </a:t>
                </a:r>
                <a:r>
                  <a:rPr lang="es-ES" sz="1200" dirty="0" err="1"/>
                  <a:t>matching</a:t>
                </a:r>
                <a:r>
                  <a:rPr lang="es-ES" sz="1200" dirty="0"/>
                  <a:t> modal </a:t>
                </a:r>
                <a:r>
                  <a:rPr lang="es-ES" sz="1200" dirty="0" err="1"/>
                  <a:t>effective</a:t>
                </a:r>
                <a:r>
                  <a:rPr lang="es-ES" sz="1200" dirty="0"/>
                  <a:t> </a:t>
                </a:r>
                <a:r>
                  <a:rPr lang="es-ES" sz="1200" dirty="0" err="1"/>
                  <a:t>indices</a:t>
                </a:r>
                <a:r>
                  <a:rPr lang="es-ES" sz="1200" dirty="0"/>
                  <a:t>. </a:t>
                </a:r>
                <a:r>
                  <a:rPr lang="es-ES" sz="1200" dirty="0" err="1"/>
                  <a:t>Because</a:t>
                </a:r>
                <a:r>
                  <a:rPr lang="es-ES" sz="1200" dirty="0"/>
                  <a:t> </a:t>
                </a:r>
                <a:r>
                  <a:rPr lang="es-ES" sz="1200" dirty="0" err="1"/>
                  <a:t>the</a:t>
                </a:r>
                <a:r>
                  <a:rPr lang="es-ES" sz="1200" dirty="0"/>
                  <a:t> </a:t>
                </a:r>
                <a:r>
                  <a:rPr lang="es-ES" sz="1200" dirty="0" err="1"/>
                  <a:t>physical</a:t>
                </a:r>
                <a:r>
                  <a:rPr lang="es-ES" sz="1200" dirty="0"/>
                  <a:t> </a:t>
                </a:r>
                <a:r>
                  <a:rPr lang="es-ES" sz="1200" dirty="0" err="1"/>
                  <a:t>path</a:t>
                </a:r>
                <a:r>
                  <a:rPr lang="es-ES" sz="1200" dirty="0"/>
                  <a:t> </a:t>
                </a:r>
                <a:r>
                  <a:rPr lang="es-ES" sz="1200" dirty="0" err="1"/>
                  <a:t>length</a:t>
                </a:r>
                <a:r>
                  <a:rPr lang="es-ES" sz="1200" dirty="0"/>
                  <a:t> </a:t>
                </a:r>
                <a:r>
                  <a:rPr lang="es-ES" sz="1200" dirty="0" err="1"/>
                  <a:t>difference</a:t>
                </a:r>
                <a:r>
                  <a:rPr lang="es-ES" sz="1200" dirty="0"/>
                  <a:t> </a:t>
                </a:r>
                <a:r>
                  <a:rPr lang="es-ES" sz="1200" dirty="0" err="1"/>
                  <a:t>is</a:t>
                </a:r>
                <a:r>
                  <a:rPr lang="es-ES" sz="1200" dirty="0"/>
                  <a:t> </a:t>
                </a:r>
                <a:r>
                  <a:rPr lang="es-ES" sz="1200" dirty="0" err="1"/>
                  <a:t>strictly</a:t>
                </a:r>
                <a:r>
                  <a:rPr lang="es-ES" sz="1200" dirty="0"/>
                  <a:t> </a:t>
                </a:r>
                <a:r>
                  <a:rPr lang="es-ES" sz="1200" dirty="0" err="1"/>
                  <a:t>zero</a:t>
                </a:r>
                <a:r>
                  <a:rPr lang="es-ES" sz="1200" dirty="0"/>
                  <a:t> (</a:t>
                </a:r>
                <a14:m>
                  <m:oMath xmlns:m="http://schemas.openxmlformats.org/officeDocument/2006/math">
                    <m:r>
                      <m:rPr>
                        <m:sty m:val="p"/>
                      </m:rPr>
                      <a:rPr lang="es-ES" sz="1200"/>
                      <m:t>Δ</m:t>
                    </m:r>
                    <m:r>
                      <a:rPr lang="es-ES" sz="1200" i="1"/>
                      <m:t>𝐿</m:t>
                    </m:r>
                    <m:r>
                      <a:rPr lang="es-ES" sz="1200"/>
                      <m:t>=0</m:t>
                    </m:r>
                  </m:oMath>
                </a14:m>
                <a:r>
                  <a:rPr lang="es-ES" sz="1200" dirty="0"/>
                  <a:t>), </a:t>
                </a:r>
                <a:r>
                  <a:rPr lang="es-ES" sz="1200" dirty="0" err="1"/>
                  <a:t>the</a:t>
                </a:r>
                <a:r>
                  <a:rPr lang="es-ES" sz="1200" dirty="0"/>
                  <a:t> </a:t>
                </a:r>
                <a:r>
                  <a:rPr lang="es-ES" sz="1200" dirty="0" err="1"/>
                  <a:t>accumulated</a:t>
                </a:r>
                <a:r>
                  <a:rPr lang="es-ES" sz="1200" dirty="0"/>
                  <a:t> </a:t>
                </a:r>
                <a:r>
                  <a:rPr lang="es-ES" sz="1200" dirty="0" err="1"/>
                  <a:t>optical</a:t>
                </a:r>
                <a:r>
                  <a:rPr lang="es-ES" sz="1200" dirty="0"/>
                  <a:t> </a:t>
                </a:r>
                <a:r>
                  <a:rPr lang="es-ES" sz="1200" dirty="0" err="1"/>
                  <a:t>phase</a:t>
                </a:r>
                <a:r>
                  <a:rPr lang="es-ES" sz="1200" dirty="0"/>
                  <a:t> </a:t>
                </a:r>
                <a:r>
                  <a:rPr lang="es-ES" sz="1200" dirty="0" err="1"/>
                  <a:t>difference</a:t>
                </a:r>
                <a:r>
                  <a:rPr lang="es-ES" sz="1200" dirty="0"/>
                  <a:t> </a:t>
                </a:r>
                <a:r>
                  <a:rPr lang="es-ES" sz="1200" dirty="0" err="1"/>
                  <a:t>vanishes</a:t>
                </a:r>
                <a:r>
                  <a:rPr lang="es-ES" sz="1200" dirty="0"/>
                  <a:t> </a:t>
                </a:r>
                <a:r>
                  <a:rPr lang="es-ES" sz="1200" dirty="0" err="1"/>
                  <a:t>across</a:t>
                </a:r>
                <a:r>
                  <a:rPr lang="es-ES" sz="1200" dirty="0"/>
                  <a:t> </a:t>
                </a:r>
                <a:r>
                  <a:rPr lang="es-ES" sz="1200" dirty="0" err="1"/>
                  <a:t>the</a:t>
                </a:r>
                <a:r>
                  <a:rPr lang="es-ES" sz="1200" dirty="0"/>
                  <a:t> </a:t>
                </a:r>
                <a:r>
                  <a:rPr lang="es-ES" sz="1200" dirty="0" err="1"/>
                  <a:t>entire</a:t>
                </a:r>
                <a:r>
                  <a:rPr lang="es-ES" sz="1200" dirty="0"/>
                  <a:t> </a:t>
                </a:r>
                <a:r>
                  <a:rPr lang="es-ES" sz="1200" dirty="0" err="1"/>
                  <a:t>spectrum</a:t>
                </a:r>
                <a:r>
                  <a:rPr lang="es-ES" sz="1200" dirty="0"/>
                  <a:t>: </a:t>
                </a:r>
              </a:p>
              <a:p>
                <a14:m>
                  <m:oMathPara xmlns:m="http://schemas.openxmlformats.org/officeDocument/2006/math">
                    <m:oMath>
                      <m:r>
                        <m:rPr>
                          <m:sty m:val="p"/>
                        </m:rPr>
                        <a:rPr lang="es-ES" sz="1200"/>
                        <m:t>Δ</m:t>
                      </m:r>
                      <m:r>
                        <a:rPr lang="es-ES" sz="1200" i="1"/>
                        <m:t>𝜙</m:t>
                      </m:r>
                      <m:d>
                        <m:dPr>
                          <m:ctrlPr>
                            <a:rPr lang="es-ES" sz="1200" i="1"/>
                          </m:ctrlPr>
                        </m:dPr>
                        <m:e>
                          <m:r>
                            <a:rPr lang="es-ES" sz="1200" i="1"/>
                            <m:t>𝜆</m:t>
                          </m:r>
                        </m:e>
                      </m:d>
                      <m:r>
                        <a:rPr lang="es-ES" sz="1200"/>
                        <m:t>=</m:t>
                      </m:r>
                      <m:f>
                        <m:fPr>
                          <m:ctrlPr>
                            <a:rPr lang="es-ES" sz="1200"/>
                          </m:ctrlPr>
                        </m:fPr>
                        <m:num>
                          <m:r>
                            <a:rPr lang="es-ES" sz="1200"/>
                            <m:t>2</m:t>
                          </m:r>
                          <m:r>
                            <a:rPr lang="es-ES" sz="1200" i="1"/>
                            <m:t>𝜋</m:t>
                          </m:r>
                        </m:num>
                        <m:den>
                          <m:r>
                            <a:rPr lang="es-ES" sz="1200" i="1"/>
                            <m:t>𝜆</m:t>
                          </m:r>
                        </m:den>
                      </m:f>
                      <m:sSub>
                        <m:sSubPr>
                          <m:ctrlPr>
                            <a:rPr lang="es-ES" sz="1200" i="1"/>
                          </m:ctrlPr>
                        </m:sSubPr>
                        <m:e>
                          <m:r>
                            <a:rPr lang="es-ES" sz="1200" i="1"/>
                            <m:t>𝑛</m:t>
                          </m:r>
                        </m:e>
                        <m:sub>
                          <m:r>
                            <m:rPr>
                              <m:sty m:val="p"/>
                            </m:rPr>
                            <a:rPr lang="es-ES" sz="1200"/>
                            <m:t>eff</m:t>
                          </m:r>
                        </m:sub>
                      </m:sSub>
                      <m:d>
                        <m:dPr>
                          <m:ctrlPr>
                            <a:rPr lang="es-ES" sz="1200" i="1"/>
                          </m:ctrlPr>
                        </m:dPr>
                        <m:e>
                          <m:r>
                            <a:rPr lang="es-ES" sz="1200" i="1"/>
                            <m:t>𝜆</m:t>
                          </m:r>
                        </m:e>
                      </m:d>
                      <m:r>
                        <m:rPr>
                          <m:sty m:val="p"/>
                        </m:rPr>
                        <a:rPr lang="es-ES" sz="1200"/>
                        <m:t>Δ</m:t>
                      </m:r>
                      <m:r>
                        <a:rPr lang="es-ES" sz="1200" i="1"/>
                        <m:t>𝐿</m:t>
                      </m:r>
                      <m:r>
                        <a:rPr lang="es-ES" sz="1200"/>
                        <m:t>=0</m:t>
                      </m:r>
                    </m:oMath>
                  </m:oMathPara>
                </a14:m>
                <a:endParaRPr lang="es-ES" sz="1200" dirty="0"/>
              </a:p>
              <a:p>
                <a:r>
                  <a:rPr lang="es-ES" sz="1200" dirty="0" err="1"/>
                  <a:t>yielding</a:t>
                </a:r>
                <a:r>
                  <a:rPr lang="es-ES" sz="1200" dirty="0"/>
                  <a:t> </a:t>
                </a:r>
                <a:r>
                  <a:rPr lang="es-ES" sz="1200" dirty="0" err="1"/>
                  <a:t>an</a:t>
                </a:r>
                <a:r>
                  <a:rPr lang="es-ES" sz="1200" dirty="0"/>
                  <a:t> infinite Free </a:t>
                </a:r>
                <a:r>
                  <a:rPr lang="es-ES" sz="1200" dirty="0" err="1"/>
                  <a:t>Spectral</a:t>
                </a:r>
                <a:r>
                  <a:rPr lang="es-ES" sz="1200" dirty="0"/>
                  <a:t> Range (</a:t>
                </a:r>
                <a14:m>
                  <m:oMath xmlns:m="http://schemas.openxmlformats.org/officeDocument/2006/math">
                    <m:r>
                      <m:rPr>
                        <m:sty m:val="p"/>
                      </m:rPr>
                      <a:rPr lang="es-ES" sz="1200"/>
                      <m:t>FSR</m:t>
                    </m:r>
                    <m:r>
                      <a:rPr lang="es-ES" sz="1200"/>
                      <m:t>→∞</m:t>
                    </m:r>
                  </m:oMath>
                </a14:m>
                <a:r>
                  <a:rPr lang="es-ES" sz="1200" dirty="0"/>
                  <a:t>) and a </a:t>
                </a:r>
                <a:r>
                  <a:rPr lang="es-ES" sz="1200" dirty="0" err="1"/>
                  <a:t>completely</a:t>
                </a:r>
                <a:r>
                  <a:rPr lang="es-ES" sz="1200" dirty="0"/>
                  <a:t> flat, </a:t>
                </a:r>
                <a:r>
                  <a:rPr lang="es-ES" sz="1200" dirty="0" err="1"/>
                  <a:t>wavelength-independent</a:t>
                </a:r>
                <a:r>
                  <a:rPr lang="es-ES" sz="1200" dirty="0"/>
                  <a:t> </a:t>
                </a:r>
                <a:r>
                  <a:rPr lang="es-ES" sz="1200" dirty="0" err="1"/>
                  <a:t>spectral</a:t>
                </a:r>
                <a:r>
                  <a:rPr lang="es-ES" sz="1200" dirty="0"/>
                  <a:t> response. For ideal 3-dB </a:t>
                </a:r>
                <a:r>
                  <a:rPr lang="es-ES" sz="1200" dirty="0" err="1"/>
                  <a:t>couplers</a:t>
                </a:r>
                <a:r>
                  <a:rPr lang="es-ES" sz="1200" dirty="0"/>
                  <a:t> (</a:t>
                </a:r>
                <a14:m>
                  <m:oMath xmlns:m="http://schemas.openxmlformats.org/officeDocument/2006/math">
                    <m:sSub>
                      <m:sSubPr>
                        <m:ctrlPr>
                          <a:rPr lang="es-ES" sz="1200" i="1"/>
                        </m:ctrlPr>
                      </m:sSubPr>
                      <m:e>
                        <m:r>
                          <a:rPr lang="es-ES" sz="1200" i="1"/>
                          <m:t>𝐾</m:t>
                        </m:r>
                      </m:e>
                      <m:sub>
                        <m:r>
                          <a:rPr lang="es-ES" sz="1200" i="1"/>
                          <m:t>𝑎</m:t>
                        </m:r>
                      </m:sub>
                    </m:sSub>
                    <m:r>
                      <a:rPr lang="es-ES" sz="1200"/>
                      <m:t>=</m:t>
                    </m:r>
                    <m:sSub>
                      <m:sSubPr>
                        <m:ctrlPr>
                          <a:rPr lang="es-ES" sz="1200" i="1"/>
                        </m:ctrlPr>
                      </m:sSubPr>
                      <m:e>
                        <m:r>
                          <a:rPr lang="es-ES" sz="1200" i="1"/>
                          <m:t>𝐾</m:t>
                        </m:r>
                      </m:e>
                      <m:sub>
                        <m:r>
                          <a:rPr lang="es-ES" sz="1200" i="1"/>
                          <m:t>𝑏</m:t>
                        </m:r>
                      </m:sub>
                    </m:sSub>
                    <m:r>
                      <a:rPr lang="es-ES" sz="1200"/>
                      <m:t>=0.5</m:t>
                    </m:r>
                  </m:oMath>
                </a14:m>
                <a:r>
                  <a:rPr lang="es-ES" sz="1200" dirty="0"/>
                  <a:t>) </a:t>
                </a:r>
                <a:r>
                  <a:rPr lang="es-ES" sz="1200" dirty="0" err="1"/>
                  <a:t>under</a:t>
                </a:r>
                <a:r>
                  <a:rPr lang="es-ES" sz="1200" dirty="0"/>
                  <a:t> </a:t>
                </a:r>
                <a:r>
                  <a:rPr lang="es-ES" sz="1200" dirty="0" err="1"/>
                  <a:t>lossless</a:t>
                </a:r>
                <a:r>
                  <a:rPr lang="es-ES" sz="1200" dirty="0"/>
                  <a:t> </a:t>
                </a:r>
                <a:r>
                  <a:rPr lang="es-ES" sz="1200" dirty="0" err="1"/>
                  <a:t>propagation</a:t>
                </a:r>
                <a:r>
                  <a:rPr lang="es-ES" sz="1200" dirty="0"/>
                  <a:t> (</a:t>
                </a:r>
                <a14:m>
                  <m:oMath xmlns:m="http://schemas.openxmlformats.org/officeDocument/2006/math">
                    <m:r>
                      <a:rPr lang="es-ES" sz="1200" i="1"/>
                      <m:t>𝛼</m:t>
                    </m:r>
                    <m:r>
                      <a:rPr lang="es-ES" sz="1200"/>
                      <m:t>=0,</m:t>
                    </m:r>
                    <m:r>
                      <a:rPr lang="es-ES" sz="1200" i="1"/>
                      <m:t>𝛾</m:t>
                    </m:r>
                    <m:r>
                      <a:rPr lang="es-ES" sz="1200"/>
                      <m:t>=0</m:t>
                    </m:r>
                  </m:oMath>
                </a14:m>
                <a:r>
                  <a:rPr lang="es-ES" sz="1200" dirty="0"/>
                  <a:t>), complete constructive </a:t>
                </a:r>
                <a:r>
                  <a:rPr lang="es-ES" sz="1200" dirty="0" err="1"/>
                  <a:t>interference</a:t>
                </a:r>
                <a:r>
                  <a:rPr lang="es-ES" sz="1200" dirty="0"/>
                  <a:t> </a:t>
                </a:r>
                <a:r>
                  <a:rPr lang="es-ES" sz="1200" dirty="0" err="1"/>
                  <a:t>routes</a:t>
                </a:r>
                <a:r>
                  <a:rPr lang="es-ES" sz="1200" dirty="0"/>
                  <a:t> 100% </a:t>
                </a:r>
                <a:r>
                  <a:rPr lang="es-ES" sz="1200" dirty="0" err="1"/>
                  <a:t>of</a:t>
                </a:r>
                <a:r>
                  <a:rPr lang="es-ES" sz="1200" dirty="0"/>
                  <a:t> </a:t>
                </a:r>
                <a:r>
                  <a:rPr lang="es-ES" sz="1200" dirty="0" err="1"/>
                  <a:t>the</a:t>
                </a:r>
                <a:r>
                  <a:rPr lang="es-ES" sz="1200" dirty="0"/>
                  <a:t> input </a:t>
                </a:r>
                <a:r>
                  <a:rPr lang="es-ES" sz="1200" dirty="0" err="1"/>
                  <a:t>power</a:t>
                </a:r>
                <a:r>
                  <a:rPr lang="es-ES" sz="1200" dirty="0"/>
                  <a:t> </a:t>
                </a:r>
                <a:r>
                  <a:rPr lang="es-ES" sz="1200" dirty="0" err="1"/>
                  <a:t>to</a:t>
                </a:r>
                <a:r>
                  <a:rPr lang="es-ES" sz="1200" dirty="0"/>
                  <a:t> </a:t>
                </a:r>
                <a:r>
                  <a:rPr lang="es-ES" sz="1200" dirty="0" err="1"/>
                  <a:t>the</a:t>
                </a:r>
                <a:r>
                  <a:rPr lang="es-ES" sz="1200" dirty="0"/>
                  <a:t> </a:t>
                </a:r>
                <a:r>
                  <a:rPr lang="es-ES" sz="1200" dirty="0" err="1"/>
                  <a:t>cross</a:t>
                </a:r>
                <a:r>
                  <a:rPr lang="es-ES" sz="1200" dirty="0"/>
                  <a:t> </a:t>
                </a:r>
                <a:r>
                  <a:rPr lang="es-ES" sz="1200" dirty="0" err="1"/>
                  <a:t>port</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21</m:t>
                        </m:r>
                      </m:sub>
                    </m:sSub>
                    <m:r>
                      <a:rPr lang="es-ES" sz="1200"/>
                      <m:t>|</m:t>
                    </m:r>
                    <m:sSup>
                      <m:sSupPr>
                        <m:ctrlPr>
                          <a:rPr lang="es-ES" sz="1200"/>
                        </m:ctrlPr>
                      </m:sSupPr>
                      <m:e>
                        <m:r>
                          <a:rPr lang="es-ES" sz="1200"/>
                          <m:t>​</m:t>
                        </m:r>
                      </m:e>
                      <m:sup>
                        <m:r>
                          <a:rPr lang="es-ES" sz="1200"/>
                          <m:t>2</m:t>
                        </m:r>
                      </m:sup>
                    </m:sSup>
                    <m:r>
                      <a:rPr lang="es-ES" sz="1200"/>
                      <m:t>=1.0</m:t>
                    </m:r>
                  </m:oMath>
                </a14:m>
                <a:r>
                  <a:rPr lang="es-ES" sz="1200" dirty="0"/>
                  <a:t>), </a:t>
                </a:r>
                <a:r>
                  <a:rPr lang="es-ES" sz="1200" dirty="0" err="1"/>
                  <a:t>while</a:t>
                </a:r>
                <a:r>
                  <a:rPr lang="es-ES" sz="1200" dirty="0"/>
                  <a:t> complete destructive </a:t>
                </a:r>
                <a:r>
                  <a:rPr lang="es-ES" sz="1200" dirty="0" err="1"/>
                  <a:t>interference</a:t>
                </a:r>
                <a:r>
                  <a:rPr lang="es-ES" sz="1200" dirty="0"/>
                  <a:t> </a:t>
                </a:r>
                <a:r>
                  <a:rPr lang="es-ES" sz="1200" dirty="0" err="1"/>
                  <a:t>yields</a:t>
                </a:r>
                <a:r>
                  <a:rPr lang="es-ES" sz="1200" dirty="0"/>
                  <a:t> </a:t>
                </a:r>
                <a:r>
                  <a:rPr lang="es-ES" sz="1200" dirty="0" err="1"/>
                  <a:t>zero</a:t>
                </a:r>
                <a:r>
                  <a:rPr lang="es-ES" sz="1200" dirty="0"/>
                  <a:t> </a:t>
                </a:r>
                <a:r>
                  <a:rPr lang="es-ES" sz="1200" dirty="0" err="1"/>
                  <a:t>transmission</a:t>
                </a:r>
                <a:r>
                  <a:rPr lang="es-ES" sz="1200" dirty="0"/>
                  <a:t> at </a:t>
                </a:r>
                <a:r>
                  <a:rPr lang="es-ES" sz="1200" dirty="0" err="1"/>
                  <a:t>the</a:t>
                </a:r>
                <a:r>
                  <a:rPr lang="es-ES" sz="1200" dirty="0"/>
                  <a:t> bar </a:t>
                </a:r>
                <a:r>
                  <a:rPr lang="es-ES" sz="1200" dirty="0" err="1"/>
                  <a:t>port</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22</m:t>
                        </m:r>
                      </m:sub>
                    </m:sSub>
                    <m:r>
                      <a:rPr lang="es-ES" sz="1200"/>
                      <m:t>|</m:t>
                    </m:r>
                    <m:sSup>
                      <m:sSupPr>
                        <m:ctrlPr>
                          <a:rPr lang="es-ES" sz="1200"/>
                        </m:ctrlPr>
                      </m:sSupPr>
                      <m:e>
                        <m:r>
                          <a:rPr lang="es-ES" sz="1200"/>
                          <m:t>​</m:t>
                        </m:r>
                      </m:e>
                      <m:sup>
                        <m:r>
                          <a:rPr lang="es-ES" sz="1200"/>
                          <m:t>2</m:t>
                        </m:r>
                      </m:sup>
                    </m:sSup>
                    <m:r>
                      <a:rPr lang="es-ES" sz="1200"/>
                      <m:t>=0.0</m:t>
                    </m:r>
                  </m:oMath>
                </a14:m>
                <a:r>
                  <a:rPr lang="es-ES" sz="1200" dirty="0"/>
                  <a:t>). </a:t>
                </a:r>
              </a:p>
              <a:p>
                <a:r>
                  <a:rPr lang="es-ES" sz="1200" dirty="0" err="1"/>
                  <a:t>Introducing</a:t>
                </a:r>
                <a:r>
                  <a:rPr lang="es-ES" sz="1200" dirty="0"/>
                  <a:t> a </a:t>
                </a:r>
                <a:r>
                  <a:rPr lang="es-ES" sz="1200" dirty="0" err="1"/>
                  <a:t>power-splitting</a:t>
                </a:r>
                <a:r>
                  <a:rPr lang="es-ES" sz="1200" dirty="0"/>
                  <a:t> </a:t>
                </a:r>
                <a:r>
                  <a:rPr lang="es-ES" sz="1200" dirty="0" err="1"/>
                  <a:t>imbalance</a:t>
                </a:r>
                <a:r>
                  <a:rPr lang="es-ES" sz="1200" dirty="0"/>
                  <a:t> in </a:t>
                </a:r>
                <a:r>
                  <a:rPr lang="es-ES" sz="1200" dirty="0" err="1"/>
                  <a:t>the</a:t>
                </a:r>
                <a:r>
                  <a:rPr lang="es-ES" sz="1200" dirty="0"/>
                  <a:t> </a:t>
                </a:r>
                <a:r>
                  <a:rPr lang="es-ES" sz="1200" dirty="0" err="1"/>
                  <a:t>couplers</a:t>
                </a:r>
                <a:r>
                  <a:rPr lang="es-ES" sz="1200" dirty="0"/>
                  <a:t> (</a:t>
                </a:r>
                <a14:m>
                  <m:oMath xmlns:m="http://schemas.openxmlformats.org/officeDocument/2006/math">
                    <m:sSub>
                      <m:sSubPr>
                        <m:ctrlPr>
                          <a:rPr lang="es-ES" sz="1200" i="1"/>
                        </m:ctrlPr>
                      </m:sSubPr>
                      <m:e>
                        <m:r>
                          <a:rPr lang="es-ES" sz="1200" i="1"/>
                          <m:t>𝐾</m:t>
                        </m:r>
                      </m:e>
                      <m:sub>
                        <m:r>
                          <a:rPr lang="es-ES" sz="1200" i="1"/>
                          <m:t>𝑎</m:t>
                        </m:r>
                      </m:sub>
                    </m:sSub>
                    <m:r>
                      <a:rPr lang="es-ES" sz="1200"/>
                      <m:t>=0.4,</m:t>
                    </m:r>
                    <m:sSub>
                      <m:sSubPr>
                        <m:ctrlPr>
                          <a:rPr lang="es-ES" sz="1200" i="1"/>
                        </m:ctrlPr>
                      </m:sSubPr>
                      <m:e>
                        <m:r>
                          <a:rPr lang="es-ES" sz="1200" i="1"/>
                          <m:t>𝐾</m:t>
                        </m:r>
                      </m:e>
                      <m:sub>
                        <m:r>
                          <a:rPr lang="es-ES" sz="1200" i="1"/>
                          <m:t>𝑏</m:t>
                        </m:r>
                      </m:sub>
                    </m:sSub>
                    <m:r>
                      <a:rPr lang="es-ES" sz="1200"/>
                      <m:t>=0.3</m:t>
                    </m:r>
                  </m:oMath>
                </a14:m>
                <a:r>
                  <a:rPr lang="es-ES" sz="1200" dirty="0"/>
                  <a:t>) preserves </a:t>
                </a:r>
                <a:r>
                  <a:rPr lang="es-ES" sz="1200" dirty="0" err="1"/>
                  <a:t>the</a:t>
                </a:r>
                <a:r>
                  <a:rPr lang="es-ES" sz="1200" dirty="0"/>
                  <a:t> </a:t>
                </a:r>
                <a:r>
                  <a:rPr lang="es-ES" sz="1200" dirty="0" err="1"/>
                  <a:t>zero</a:t>
                </a:r>
                <a:r>
                  <a:rPr lang="es-ES" sz="1200" dirty="0"/>
                  <a:t> </a:t>
                </a:r>
                <a:r>
                  <a:rPr lang="es-ES" sz="1200" dirty="0" err="1"/>
                  <a:t>phase</a:t>
                </a:r>
                <a:r>
                  <a:rPr lang="es-ES" sz="1200" dirty="0"/>
                  <a:t> </a:t>
                </a:r>
                <a:r>
                  <a:rPr lang="es-ES" sz="1200" dirty="0" err="1"/>
                  <a:t>delay</a:t>
                </a:r>
                <a:r>
                  <a:rPr lang="es-ES" sz="1200" dirty="0"/>
                  <a:t> (</a:t>
                </a:r>
                <a14:m>
                  <m:oMath xmlns:m="http://schemas.openxmlformats.org/officeDocument/2006/math">
                    <m:r>
                      <m:rPr>
                        <m:sty m:val="p"/>
                      </m:rPr>
                      <a:rPr lang="es-ES" sz="1200"/>
                      <m:t>Δ</m:t>
                    </m:r>
                    <m:r>
                      <a:rPr lang="es-ES" sz="1200" i="1"/>
                      <m:t>𝜙</m:t>
                    </m:r>
                    <m:r>
                      <a:rPr lang="es-ES" sz="1200"/>
                      <m:t>=0</m:t>
                    </m:r>
                  </m:oMath>
                </a14:m>
                <a:r>
                  <a:rPr lang="es-ES" sz="1200" dirty="0"/>
                  <a:t>) and </a:t>
                </a:r>
                <a:r>
                  <a:rPr lang="es-ES" sz="1200" dirty="0" err="1"/>
                  <a:t>spectral</a:t>
                </a:r>
                <a:r>
                  <a:rPr lang="es-ES" sz="1200" dirty="0"/>
                  <a:t> </a:t>
                </a:r>
                <a:r>
                  <a:rPr lang="es-ES" sz="1200" dirty="0" err="1"/>
                  <a:t>flatness</a:t>
                </a:r>
                <a:r>
                  <a:rPr lang="es-ES" sz="1200" dirty="0"/>
                  <a:t>, </a:t>
                </a:r>
                <a:r>
                  <a:rPr lang="es-ES" sz="1200" dirty="0" err="1"/>
                  <a:t>but</a:t>
                </a:r>
                <a:r>
                  <a:rPr lang="es-ES" sz="1200" dirty="0"/>
                  <a:t> </a:t>
                </a:r>
                <a:r>
                  <a:rPr lang="es-ES" sz="1200" dirty="0" err="1"/>
                  <a:t>breaks</a:t>
                </a:r>
                <a:r>
                  <a:rPr lang="es-ES" sz="1200" dirty="0"/>
                  <a:t> </a:t>
                </a:r>
                <a:r>
                  <a:rPr lang="es-ES" sz="1200" dirty="0" err="1"/>
                  <a:t>the</a:t>
                </a:r>
                <a:r>
                  <a:rPr lang="es-ES" sz="1200" dirty="0"/>
                  <a:t> </a:t>
                </a:r>
                <a:r>
                  <a:rPr lang="es-ES" sz="1200" dirty="0" err="1"/>
                  <a:t>field</a:t>
                </a:r>
                <a:r>
                  <a:rPr lang="es-ES" sz="1200" dirty="0"/>
                  <a:t> </a:t>
                </a:r>
                <a:r>
                  <a:rPr lang="es-ES" sz="1200" dirty="0" err="1"/>
                  <a:t>amplitude</a:t>
                </a:r>
                <a:r>
                  <a:rPr lang="es-ES" sz="1200" dirty="0"/>
                  <a:t> </a:t>
                </a:r>
                <a:r>
                  <a:rPr lang="es-ES" sz="1200" dirty="0" err="1"/>
                  <a:t>symmetry</a:t>
                </a:r>
                <a:r>
                  <a:rPr lang="es-ES" sz="1200" dirty="0"/>
                  <a:t> </a:t>
                </a:r>
                <a:r>
                  <a:rPr lang="es-ES" sz="1200" dirty="0" err="1"/>
                  <a:t>upon</a:t>
                </a:r>
                <a:r>
                  <a:rPr lang="es-ES" sz="1200" dirty="0"/>
                  <a:t> </a:t>
                </a:r>
                <a:r>
                  <a:rPr lang="es-ES" sz="1200" dirty="0" err="1"/>
                  <a:t>recombination</a:t>
                </a:r>
                <a:r>
                  <a:rPr lang="es-ES" sz="1200" dirty="0"/>
                  <a:t>. </a:t>
                </a:r>
                <a:r>
                  <a:rPr lang="es-ES" sz="1200" dirty="0" err="1"/>
                  <a:t>This</a:t>
                </a:r>
                <a:r>
                  <a:rPr lang="es-ES" sz="1200" dirty="0"/>
                  <a:t> </a:t>
                </a:r>
                <a:r>
                  <a:rPr lang="es-ES" sz="1200" dirty="0" err="1"/>
                  <a:t>precludes</a:t>
                </a:r>
                <a:r>
                  <a:rPr lang="es-ES" sz="1200" dirty="0"/>
                  <a:t> ideal destructive </a:t>
                </a:r>
                <a:r>
                  <a:rPr lang="es-ES" sz="1200" dirty="0" err="1"/>
                  <a:t>cancellation</a:t>
                </a:r>
                <a:r>
                  <a:rPr lang="es-ES" sz="1200" dirty="0"/>
                  <a:t>, </a:t>
                </a:r>
                <a:r>
                  <a:rPr lang="es-ES" sz="1200" dirty="0" err="1"/>
                  <a:t>resulting</a:t>
                </a:r>
                <a:r>
                  <a:rPr lang="es-ES" sz="1200" dirty="0"/>
                  <a:t> in residual </a:t>
                </a:r>
                <a:r>
                  <a:rPr lang="es-ES" sz="1200" dirty="0" err="1"/>
                  <a:t>cross-talk</a:t>
                </a:r>
                <a:r>
                  <a:rPr lang="es-ES" sz="1200" dirty="0"/>
                  <a:t> </a:t>
                </a:r>
                <a:r>
                  <a:rPr lang="es-ES" sz="1200" dirty="0" err="1"/>
                  <a:t>leakage</a:t>
                </a:r>
                <a:r>
                  <a:rPr lang="es-ES" sz="1200" dirty="0"/>
                  <a:t> at </a:t>
                </a:r>
                <a:r>
                  <a:rPr lang="es-ES" sz="1200" dirty="0" err="1"/>
                  <a:t>the</a:t>
                </a:r>
                <a:r>
                  <a:rPr lang="es-ES" sz="1200" dirty="0"/>
                  <a:t> bar </a:t>
                </a:r>
                <a:r>
                  <a:rPr lang="es-ES" sz="1200" dirty="0" err="1"/>
                  <a:t>port</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22</m:t>
                        </m:r>
                      </m:sub>
                    </m:sSub>
                    <m:r>
                      <a:rPr lang="es-ES" sz="1200"/>
                      <m:t>|</m:t>
                    </m:r>
                    <m:sSup>
                      <m:sSupPr>
                        <m:ctrlPr>
                          <a:rPr lang="es-ES" sz="1200"/>
                        </m:ctrlPr>
                      </m:sSupPr>
                      <m:e>
                        <m:r>
                          <a:rPr lang="es-ES" sz="1200"/>
                          <m:t>​</m:t>
                        </m:r>
                      </m:e>
                      <m:sup>
                        <m:r>
                          <a:rPr lang="es-ES" sz="1200"/>
                          <m:t>2</m:t>
                        </m:r>
                      </m:sup>
                    </m:sSup>
                    <m:r>
                      <a:rPr lang="es-ES" sz="1200"/>
                      <m:t>≈0.09</m:t>
                    </m:r>
                  </m:oMath>
                </a14:m>
                <a:r>
                  <a:rPr lang="es-ES" sz="1200" dirty="0"/>
                  <a:t>) and </a:t>
                </a:r>
                <a:r>
                  <a:rPr lang="es-ES" sz="1200" dirty="0" err="1"/>
                  <a:t>capped</a:t>
                </a:r>
                <a:r>
                  <a:rPr lang="es-ES" sz="1200" dirty="0"/>
                  <a:t> </a:t>
                </a:r>
                <a:r>
                  <a:rPr lang="es-ES" sz="1200" dirty="0" err="1"/>
                  <a:t>cross</a:t>
                </a:r>
                <a:r>
                  <a:rPr lang="es-ES" sz="1200" dirty="0"/>
                  <a:t> </a:t>
                </a:r>
                <a:r>
                  <a:rPr lang="es-ES" sz="1200" dirty="0" err="1"/>
                  <a:t>transmission</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21</m:t>
                        </m:r>
                      </m:sub>
                    </m:sSub>
                    <m:r>
                      <a:rPr lang="es-ES" sz="1200"/>
                      <m:t>|</m:t>
                    </m:r>
                    <m:sSup>
                      <m:sSupPr>
                        <m:ctrlPr>
                          <a:rPr lang="es-ES" sz="1200"/>
                        </m:ctrlPr>
                      </m:sSupPr>
                      <m:e>
                        <m:r>
                          <a:rPr lang="es-ES" sz="1200"/>
                          <m:t>​</m:t>
                        </m:r>
                      </m:e>
                      <m:sup>
                        <m:r>
                          <a:rPr lang="es-ES" sz="1200"/>
                          <m:t>2</m:t>
                        </m:r>
                      </m:sup>
                    </m:sSup>
                    <m:r>
                      <a:rPr lang="es-ES" sz="1200"/>
                      <m:t>≈0.91</m:t>
                    </m:r>
                  </m:oMath>
                </a14:m>
                <a:r>
                  <a:rPr lang="es-ES" sz="1200" dirty="0"/>
                  <a:t>), </a:t>
                </a:r>
                <a:r>
                  <a:rPr lang="es-ES" sz="1200" dirty="0" err="1"/>
                  <a:t>while</a:t>
                </a:r>
                <a:r>
                  <a:rPr lang="es-ES" sz="1200" dirty="0"/>
                  <a:t> </a:t>
                </a:r>
                <a:r>
                  <a:rPr lang="es-ES" sz="1200" dirty="0" err="1"/>
                  <a:t>strictly</a:t>
                </a:r>
                <a:r>
                  <a:rPr lang="es-ES" sz="1200" dirty="0"/>
                  <a:t> </a:t>
                </a:r>
                <a:r>
                  <a:rPr lang="es-ES" sz="1200" dirty="0" err="1"/>
                  <a:t>conserving</a:t>
                </a:r>
                <a:r>
                  <a:rPr lang="es-ES" sz="1200" dirty="0"/>
                  <a:t> total </a:t>
                </a:r>
                <a:r>
                  <a:rPr lang="es-ES" sz="1200" dirty="0" err="1"/>
                  <a:t>optical</a:t>
                </a:r>
                <a:r>
                  <a:rPr lang="es-ES" sz="1200" dirty="0"/>
                  <a:t> </a:t>
                </a:r>
                <a:r>
                  <a:rPr lang="es-ES" sz="1200" dirty="0" err="1"/>
                  <a:t>power</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21</m:t>
                        </m:r>
                      </m:sub>
                    </m:sSub>
                    <m:r>
                      <a:rPr lang="es-ES" sz="1200"/>
                      <m:t>|</m:t>
                    </m:r>
                    <m:sSup>
                      <m:sSupPr>
                        <m:ctrlPr>
                          <a:rPr lang="es-ES" sz="1200"/>
                        </m:ctrlPr>
                      </m:sSupPr>
                      <m:e>
                        <m:r>
                          <a:rPr lang="es-ES" sz="1200"/>
                          <m:t>​</m:t>
                        </m:r>
                      </m:e>
                      <m:sup>
                        <m:r>
                          <a:rPr lang="es-ES" sz="1200"/>
                          <m:t>2</m:t>
                        </m:r>
                      </m:sup>
                    </m:sSup>
                    <m:r>
                      <a:rPr lang="es-ES" sz="1200"/>
                      <m:t>+|</m:t>
                    </m:r>
                    <m:sSub>
                      <m:sSubPr>
                        <m:ctrlPr>
                          <a:rPr lang="es-ES" sz="1200" i="1"/>
                        </m:ctrlPr>
                      </m:sSubPr>
                      <m:e>
                        <m:r>
                          <a:rPr lang="es-ES" sz="1200" i="1"/>
                          <m:t>𝐻</m:t>
                        </m:r>
                      </m:e>
                      <m:sub>
                        <m:r>
                          <a:rPr lang="es-ES" sz="1200"/>
                          <m:t>22</m:t>
                        </m:r>
                      </m:sub>
                    </m:sSub>
                    <m:r>
                      <a:rPr lang="es-ES" sz="1200"/>
                      <m:t>|</m:t>
                    </m:r>
                    <m:sSup>
                      <m:sSupPr>
                        <m:ctrlPr>
                          <a:rPr lang="es-ES" sz="1200"/>
                        </m:ctrlPr>
                      </m:sSupPr>
                      <m:e>
                        <m:r>
                          <a:rPr lang="es-ES" sz="1200"/>
                          <m:t>​</m:t>
                        </m:r>
                      </m:e>
                      <m:sup>
                        <m:r>
                          <a:rPr lang="es-ES" sz="1200"/>
                          <m:t>2</m:t>
                        </m:r>
                      </m:sup>
                    </m:sSup>
                    <m:r>
                      <a:rPr lang="es-ES" sz="1200"/>
                      <m:t>=1</m:t>
                    </m:r>
                  </m:oMath>
                </a14:m>
                <a:r>
                  <a:rPr lang="es-ES" sz="1200" dirty="0"/>
                  <a:t>). </a:t>
                </a:r>
              </a:p>
              <a:p>
                <a:r>
                  <a:rPr lang="es-ES" sz="1200" dirty="0" err="1"/>
                  <a:t>Finally</a:t>
                </a:r>
                <a:r>
                  <a:rPr lang="es-ES" sz="1200" dirty="0"/>
                  <a:t>, </a:t>
                </a:r>
                <a:r>
                  <a:rPr lang="es-ES" sz="1200" dirty="0" err="1"/>
                  <a:t>incorporating</a:t>
                </a:r>
                <a:r>
                  <a:rPr lang="es-ES" sz="1200" dirty="0"/>
                  <a:t> </a:t>
                </a:r>
                <a:r>
                  <a:rPr lang="es-ES" sz="1200" dirty="0" err="1"/>
                  <a:t>coupler</a:t>
                </a:r>
                <a:r>
                  <a:rPr lang="es-ES" sz="1200" dirty="0"/>
                  <a:t> </a:t>
                </a:r>
                <a:r>
                  <a:rPr lang="es-ES" sz="1200" dirty="0" err="1"/>
                  <a:t>excess</a:t>
                </a:r>
                <a:r>
                  <a:rPr lang="es-ES" sz="1200" dirty="0"/>
                  <a:t> </a:t>
                </a:r>
                <a:r>
                  <a:rPr lang="es-ES" sz="1200" dirty="0" err="1"/>
                  <a:t>losses</a:t>
                </a:r>
                <a:r>
                  <a:rPr lang="es-ES" sz="1200" dirty="0"/>
                  <a:t> (</a:t>
                </a:r>
                <a14:m>
                  <m:oMath xmlns:m="http://schemas.openxmlformats.org/officeDocument/2006/math">
                    <m:sSub>
                      <m:sSubPr>
                        <m:ctrlPr>
                          <a:rPr lang="es-ES" sz="1200" i="1"/>
                        </m:ctrlPr>
                      </m:sSubPr>
                      <m:e>
                        <m:r>
                          <a:rPr lang="es-ES" sz="1200" i="1"/>
                          <m:t>𝛾</m:t>
                        </m:r>
                      </m:e>
                      <m:sub>
                        <m:r>
                          <a:rPr lang="es-ES" sz="1200" i="1"/>
                          <m:t>𝑎</m:t>
                        </m:r>
                      </m:sub>
                    </m:sSub>
                    <m:r>
                      <a:rPr lang="es-ES" sz="1200"/>
                      <m:t>=0.2,</m:t>
                    </m:r>
                    <m:sSub>
                      <m:sSubPr>
                        <m:ctrlPr>
                          <a:rPr lang="es-ES" sz="1200" i="1"/>
                        </m:ctrlPr>
                      </m:sSubPr>
                      <m:e>
                        <m:r>
                          <a:rPr lang="es-ES" sz="1200" i="1"/>
                          <m:t>𝛾</m:t>
                        </m:r>
                      </m:e>
                      <m:sub>
                        <m:r>
                          <a:rPr lang="es-ES" sz="1200" i="1"/>
                          <m:t>𝑏</m:t>
                        </m:r>
                      </m:sub>
                    </m:sSub>
                    <m:r>
                      <a:rPr lang="es-ES" sz="1200"/>
                      <m:t>=0.1</m:t>
                    </m:r>
                  </m:oMath>
                </a14:m>
                <a:r>
                  <a:rPr lang="es-ES" sz="1200" dirty="0"/>
                  <a:t>) </a:t>
                </a:r>
                <a:r>
                  <a:rPr lang="es-ES" sz="1200" dirty="0" err="1"/>
                  <a:t>maintains</a:t>
                </a:r>
                <a:r>
                  <a:rPr lang="es-ES" sz="1200" dirty="0"/>
                  <a:t> </a:t>
                </a:r>
                <a:r>
                  <a:rPr lang="es-ES" sz="1200" dirty="0" err="1"/>
                  <a:t>perfect</a:t>
                </a:r>
                <a:r>
                  <a:rPr lang="es-ES" sz="1200" dirty="0"/>
                  <a:t> </a:t>
                </a:r>
                <a:r>
                  <a:rPr lang="es-ES" sz="1200" dirty="0" err="1"/>
                  <a:t>phase</a:t>
                </a:r>
                <a:r>
                  <a:rPr lang="es-ES" sz="1200" dirty="0"/>
                  <a:t> </a:t>
                </a:r>
                <a:r>
                  <a:rPr lang="es-ES" sz="1200" dirty="0" err="1"/>
                  <a:t>cancellation</a:t>
                </a:r>
                <a:r>
                  <a:rPr lang="es-ES" sz="1200" dirty="0"/>
                  <a:t> at </a:t>
                </a:r>
                <a:r>
                  <a:rPr lang="es-ES" sz="1200" dirty="0" err="1"/>
                  <a:t>the</a:t>
                </a:r>
                <a:r>
                  <a:rPr lang="es-ES" sz="1200" dirty="0"/>
                  <a:t> bar </a:t>
                </a:r>
                <a:r>
                  <a:rPr lang="es-ES" sz="1200" dirty="0" err="1"/>
                  <a:t>port</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22</m:t>
                        </m:r>
                      </m:sub>
                    </m:sSub>
                    <m:r>
                      <a:rPr lang="es-ES" sz="1200"/>
                      <m:t>|</m:t>
                    </m:r>
                    <m:sSup>
                      <m:sSupPr>
                        <m:ctrlPr>
                          <a:rPr lang="es-ES" sz="1200"/>
                        </m:ctrlPr>
                      </m:sSupPr>
                      <m:e>
                        <m:r>
                          <a:rPr lang="es-ES" sz="1200"/>
                          <m:t>​</m:t>
                        </m:r>
                      </m:e>
                      <m:sup>
                        <m:r>
                          <a:rPr lang="es-ES" sz="1200"/>
                          <m:t>2</m:t>
                        </m:r>
                      </m:sup>
                    </m:sSup>
                    <m:r>
                      <a:rPr lang="es-ES" sz="1200"/>
                      <m:t>=0.0</m:t>
                    </m:r>
                  </m:oMath>
                </a14:m>
                <a:r>
                  <a:rPr lang="es-ES" sz="1200" dirty="0"/>
                  <a:t>), </a:t>
                </a:r>
                <a:r>
                  <a:rPr lang="es-ES" sz="1200" dirty="0" err="1"/>
                  <a:t>but</a:t>
                </a:r>
                <a:r>
                  <a:rPr lang="es-ES" sz="1200" dirty="0"/>
                  <a:t> </a:t>
                </a:r>
                <a:r>
                  <a:rPr lang="es-ES" sz="1200" dirty="0" err="1"/>
                  <a:t>uniformly</a:t>
                </a:r>
                <a:r>
                  <a:rPr lang="es-ES" sz="1200" dirty="0"/>
                  <a:t> </a:t>
                </a:r>
                <a:r>
                  <a:rPr lang="es-ES" sz="1200" dirty="0" err="1"/>
                  <a:t>scales</a:t>
                </a:r>
                <a:r>
                  <a:rPr lang="es-ES" sz="1200" dirty="0"/>
                  <a:t> </a:t>
                </a:r>
                <a:r>
                  <a:rPr lang="es-ES" sz="1200" dirty="0" err="1"/>
                  <a:t>down</a:t>
                </a:r>
                <a:r>
                  <a:rPr lang="es-ES" sz="1200" dirty="0"/>
                  <a:t> </a:t>
                </a:r>
                <a:r>
                  <a:rPr lang="es-ES" sz="1200" dirty="0" err="1"/>
                  <a:t>the</a:t>
                </a:r>
                <a:r>
                  <a:rPr lang="es-ES" sz="1200" dirty="0"/>
                  <a:t> total </a:t>
                </a:r>
                <a:r>
                  <a:rPr lang="es-ES" sz="1200" dirty="0" err="1"/>
                  <a:t>transmitted</a:t>
                </a:r>
                <a:r>
                  <a:rPr lang="es-ES" sz="1200" dirty="0"/>
                  <a:t> </a:t>
                </a:r>
                <a:r>
                  <a:rPr lang="es-ES" sz="1200" dirty="0" err="1"/>
                  <a:t>power</a:t>
                </a:r>
                <a:r>
                  <a:rPr lang="es-ES" sz="1200" dirty="0"/>
                  <a:t> </a:t>
                </a:r>
                <a:r>
                  <a:rPr lang="es-ES" sz="1200" dirty="0" err="1"/>
                  <a:t>by</a:t>
                </a:r>
                <a:r>
                  <a:rPr lang="es-ES" sz="1200" dirty="0"/>
                  <a:t> a </a:t>
                </a:r>
                <a:r>
                  <a:rPr lang="es-ES" sz="1200" dirty="0" err="1"/>
                  <a:t>constant</a:t>
                </a:r>
                <a:r>
                  <a:rPr lang="es-ES" sz="1200" dirty="0"/>
                  <a:t> factor </a:t>
                </a:r>
                <a14:m>
                  <m:oMath xmlns:m="http://schemas.openxmlformats.org/officeDocument/2006/math">
                    <m:d>
                      <m:dPr>
                        <m:ctrlPr>
                          <a:rPr lang="es-ES" sz="1200"/>
                        </m:ctrlPr>
                      </m:dPr>
                      <m:e>
                        <m:r>
                          <a:rPr lang="es-ES" sz="1200"/>
                          <m:t>1−</m:t>
                        </m:r>
                        <m:sSub>
                          <m:sSubPr>
                            <m:ctrlPr>
                              <a:rPr lang="es-ES" sz="1200" i="1"/>
                            </m:ctrlPr>
                          </m:sSubPr>
                          <m:e>
                            <m:r>
                              <a:rPr lang="es-ES" sz="1200" i="1"/>
                              <m:t>𝛾</m:t>
                            </m:r>
                          </m:e>
                          <m:sub>
                            <m:r>
                              <a:rPr lang="es-ES" sz="1200" i="1"/>
                              <m:t>𝑎</m:t>
                            </m:r>
                          </m:sub>
                        </m:sSub>
                      </m:e>
                    </m:d>
                    <m:d>
                      <m:dPr>
                        <m:ctrlPr>
                          <a:rPr lang="es-ES" sz="1200"/>
                        </m:ctrlPr>
                      </m:dPr>
                      <m:e>
                        <m:r>
                          <a:rPr lang="es-ES" sz="1200"/>
                          <m:t>1−</m:t>
                        </m:r>
                        <m:sSub>
                          <m:sSubPr>
                            <m:ctrlPr>
                              <a:rPr lang="es-ES" sz="1200" i="1"/>
                            </m:ctrlPr>
                          </m:sSubPr>
                          <m:e>
                            <m:r>
                              <a:rPr lang="es-ES" sz="1200" i="1"/>
                              <m:t>𝛾</m:t>
                            </m:r>
                          </m:e>
                          <m:sub>
                            <m:r>
                              <a:rPr lang="es-ES" sz="1200" i="1"/>
                              <m:t>𝑏</m:t>
                            </m:r>
                          </m:sub>
                        </m:sSub>
                      </m:e>
                    </m:d>
                    <m:r>
                      <a:rPr lang="es-ES" sz="1200"/>
                      <m:t>=0.72</m:t>
                    </m:r>
                  </m:oMath>
                </a14:m>
                <a:r>
                  <a:rPr lang="es-ES" sz="1200" dirty="0"/>
                  <a:t>(</a:t>
                </a:r>
                <a14:m>
                  <m:oMath xmlns:m="http://schemas.openxmlformats.org/officeDocument/2006/math">
                    <m:r>
                      <a:rPr lang="es-ES" sz="1200"/>
                      <m:t>|</m:t>
                    </m:r>
                    <m:sSub>
                      <m:sSubPr>
                        <m:ctrlPr>
                          <a:rPr lang="es-ES" sz="1200" i="1"/>
                        </m:ctrlPr>
                      </m:sSubPr>
                      <m:e>
                        <m:r>
                          <a:rPr lang="es-ES" sz="1200" i="1"/>
                          <m:t>𝐻</m:t>
                        </m:r>
                      </m:e>
                      <m:sub>
                        <m:r>
                          <a:rPr lang="es-ES" sz="1200"/>
                          <m:t>21</m:t>
                        </m:r>
                      </m:sub>
                    </m:sSub>
                    <m:r>
                      <a:rPr lang="es-ES" sz="1200"/>
                      <m:t>|</m:t>
                    </m:r>
                    <m:sSup>
                      <m:sSupPr>
                        <m:ctrlPr>
                          <a:rPr lang="es-ES" sz="1200"/>
                        </m:ctrlPr>
                      </m:sSupPr>
                      <m:e>
                        <m:r>
                          <a:rPr lang="es-ES" sz="1200"/>
                          <m:t>​</m:t>
                        </m:r>
                      </m:e>
                      <m:sup>
                        <m:r>
                          <a:rPr lang="es-ES" sz="1200"/>
                          <m:t>2</m:t>
                        </m:r>
                      </m:sup>
                    </m:sSup>
                    <m:r>
                      <a:rPr lang="es-ES" sz="1200"/>
                      <m:t>≈0.72</m:t>
                    </m:r>
                  </m:oMath>
                </a14:m>
                <a:r>
                  <a:rPr lang="es-ES" sz="1200" dirty="0"/>
                  <a:t>) </a:t>
                </a:r>
                <a:r>
                  <a:rPr lang="es-ES" sz="1200" dirty="0" err="1"/>
                  <a:t>without</a:t>
                </a:r>
                <a:r>
                  <a:rPr lang="es-ES" sz="1200" dirty="0"/>
                  <a:t> </a:t>
                </a:r>
                <a:r>
                  <a:rPr lang="es-ES" sz="1200" dirty="0" err="1"/>
                  <a:t>inducing</a:t>
                </a:r>
                <a:r>
                  <a:rPr lang="es-ES" sz="1200" dirty="0"/>
                  <a:t> </a:t>
                </a:r>
                <a:r>
                  <a:rPr lang="es-ES" sz="1200" dirty="0" err="1"/>
                  <a:t>spectral</a:t>
                </a:r>
                <a:r>
                  <a:rPr lang="es-ES" sz="1200" dirty="0"/>
                  <a:t> tilt. </a:t>
                </a:r>
                <a:r>
                  <a:rPr lang="es-ES" sz="1200" dirty="0" err="1"/>
                  <a:t>This</a:t>
                </a:r>
                <a:r>
                  <a:rPr lang="es-ES" sz="1200" dirty="0"/>
                  <a:t> </a:t>
                </a:r>
                <a:r>
                  <a:rPr lang="es-ES" sz="1200" dirty="0" err="1"/>
                  <a:t>perfect</a:t>
                </a:r>
                <a:r>
                  <a:rPr lang="es-ES" sz="1200" dirty="0"/>
                  <a:t> </a:t>
                </a:r>
                <a:r>
                  <a:rPr lang="es-ES" sz="1200" dirty="0" err="1"/>
                  <a:t>agreement</a:t>
                </a:r>
                <a:r>
                  <a:rPr lang="es-ES" sz="1200" dirty="0"/>
                  <a:t> </a:t>
                </a:r>
                <a:r>
                  <a:rPr lang="es-ES" sz="1200" dirty="0" err="1"/>
                  <a:t>validates</a:t>
                </a:r>
                <a:r>
                  <a:rPr lang="es-ES" sz="1200" dirty="0"/>
                  <a:t> </a:t>
                </a:r>
                <a:r>
                  <a:rPr lang="es-ES" sz="1200" dirty="0" err="1"/>
                  <a:t>the</a:t>
                </a:r>
                <a:r>
                  <a:rPr lang="es-ES" sz="1200" dirty="0"/>
                  <a:t> </a:t>
                </a:r>
                <a:r>
                  <a:rPr lang="es-ES" sz="1200" dirty="0" err="1"/>
                  <a:t>analytical</a:t>
                </a:r>
                <a:r>
                  <a:rPr lang="es-ES" sz="1200" dirty="0"/>
                  <a:t> </a:t>
                </a:r>
                <a:r>
                  <a:rPr lang="es-ES" sz="1200" dirty="0" err="1"/>
                  <a:t>scattering</a:t>
                </a:r>
                <a:r>
                  <a:rPr lang="es-ES" sz="1200" dirty="0"/>
                  <a:t> </a:t>
                </a:r>
                <a:r>
                  <a:rPr lang="es-ES" sz="1200" dirty="0" err="1"/>
                  <a:t>formulation</a:t>
                </a:r>
                <a:r>
                  <a:rPr lang="es-ES" sz="1200" dirty="0"/>
                  <a:t> </a:t>
                </a:r>
                <a:r>
                  <a:rPr lang="es-ES" sz="1200" dirty="0" err="1"/>
                  <a:t>against</a:t>
                </a:r>
                <a:r>
                  <a:rPr lang="es-ES" sz="1200" dirty="0"/>
                  <a:t> </a:t>
                </a:r>
                <a:r>
                  <a:rPr lang="es-ES" sz="1200" dirty="0" err="1"/>
                  <a:t>numerical</a:t>
                </a:r>
                <a:r>
                  <a:rPr lang="es-ES" sz="1200" dirty="0"/>
                  <a:t> transfer </a:t>
                </a:r>
                <a:r>
                  <a:rPr lang="es-ES" sz="1200" dirty="0" err="1"/>
                  <a:t>matrix</a:t>
                </a:r>
                <a:r>
                  <a:rPr lang="es-ES" sz="1200" dirty="0"/>
                  <a:t> </a:t>
                </a:r>
                <a:r>
                  <a:rPr lang="es-ES" sz="1200" dirty="0" err="1"/>
                  <a:t>simulations</a:t>
                </a:r>
                <a:r>
                  <a:rPr lang="es-ES" sz="1200" dirty="0"/>
                  <a:t>.</a:t>
                </a: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F5A76D2F-0A29-2941-0B50-B4BE2AF3BCC8}"/>
                  </a:ext>
                </a:extLst>
              </p:cNvPr>
              <p:cNvSpPr txBox="1">
                <a:spLocks noRot="1" noChangeAspect="1" noMove="1" noResize="1" noEditPoints="1" noAdjustHandles="1" noChangeArrowheads="1" noChangeShapeType="1" noTextEdit="1"/>
              </p:cNvSpPr>
              <p:nvPr/>
            </p:nvSpPr>
            <p:spPr>
              <a:xfrm>
                <a:off x="609600" y="3251492"/>
                <a:ext cx="11199971" cy="2864887"/>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BB46443F-C8BE-334B-DE98-1211DB7A4B3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95CD4C26-F664-3E9F-C304-DF149DF8BB6A}"/>
              </a:ext>
            </a:extLst>
          </p:cNvPr>
          <p:cNvPicPr>
            <a:picLocks noChangeAspect="1"/>
          </p:cNvPicPr>
          <p:nvPr/>
        </p:nvPicPr>
        <p:blipFill>
          <a:blip r:embed="rId5"/>
          <a:stretch>
            <a:fillRect/>
          </a:stretch>
        </p:blipFill>
        <p:spPr>
          <a:xfrm>
            <a:off x="990601" y="904926"/>
            <a:ext cx="2743200" cy="2201333"/>
          </a:xfrm>
          <a:prstGeom prst="rect">
            <a:avLst/>
          </a:prstGeom>
        </p:spPr>
      </p:pic>
      <p:pic>
        <p:nvPicPr>
          <p:cNvPr id="9" name="Imagen 8">
            <a:extLst>
              <a:ext uri="{FF2B5EF4-FFF2-40B4-BE49-F238E27FC236}">
                <a16:creationId xmlns:a16="http://schemas.microsoft.com/office/drawing/2014/main" id="{BB330994-8558-8586-53E0-9DB6E5AB13FD}"/>
              </a:ext>
            </a:extLst>
          </p:cNvPr>
          <p:cNvPicPr>
            <a:picLocks noChangeAspect="1"/>
          </p:cNvPicPr>
          <p:nvPr/>
        </p:nvPicPr>
        <p:blipFill>
          <a:blip r:embed="rId6"/>
          <a:stretch>
            <a:fillRect/>
          </a:stretch>
        </p:blipFill>
        <p:spPr>
          <a:xfrm>
            <a:off x="4724400" y="877658"/>
            <a:ext cx="2743200" cy="2201333"/>
          </a:xfrm>
          <a:prstGeom prst="rect">
            <a:avLst/>
          </a:prstGeom>
        </p:spPr>
      </p:pic>
      <p:pic>
        <p:nvPicPr>
          <p:cNvPr id="11" name="Imagen 10">
            <a:extLst>
              <a:ext uri="{FF2B5EF4-FFF2-40B4-BE49-F238E27FC236}">
                <a16:creationId xmlns:a16="http://schemas.microsoft.com/office/drawing/2014/main" id="{EB498690-FFC1-F391-7C4A-33688D0AF4F7}"/>
              </a:ext>
            </a:extLst>
          </p:cNvPr>
          <p:cNvPicPr>
            <a:picLocks noChangeAspect="1"/>
          </p:cNvPicPr>
          <p:nvPr/>
        </p:nvPicPr>
        <p:blipFill>
          <a:blip r:embed="rId7"/>
          <a:stretch>
            <a:fillRect/>
          </a:stretch>
        </p:blipFill>
        <p:spPr>
          <a:xfrm>
            <a:off x="8610600" y="949013"/>
            <a:ext cx="2743200" cy="2148289"/>
          </a:xfrm>
          <a:prstGeom prst="rect">
            <a:avLst/>
          </a:prstGeom>
        </p:spPr>
      </p:pic>
    </p:spTree>
    <p:extLst>
      <p:ext uri="{BB962C8B-B14F-4D97-AF65-F5344CB8AC3E}">
        <p14:creationId xmlns:p14="http://schemas.microsoft.com/office/powerpoint/2010/main" val="2970834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E43C5-4D67-E48A-F983-E547D43652B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D6F697A-BE88-736F-AA4A-01A3BF6BF016}"/>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Unbalanced: Phase difference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62894E2-EC1C-20FD-E898-D75D1EDE6A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A91182A-8A16-3ED3-A3BD-962CE2B59213}"/>
              </a:ext>
            </a:extLst>
          </p:cNvPr>
          <p:cNvSpPr>
            <a:spLocks noGrp="1"/>
          </p:cNvSpPr>
          <p:nvPr>
            <p:ph type="sldNum" sz="quarter" idx="7"/>
          </p:nvPr>
        </p:nvSpPr>
        <p:spPr/>
        <p:txBody>
          <a:bodyPr/>
          <a:lstStyle/>
          <a:p>
            <a:fld id="{B6F15528-21DE-4FAA-801E-634DDDAF4B2B}" type="slidenum">
              <a:rPr lang="es-ES" smtClean="0"/>
              <a:t>5</a:t>
            </a:fld>
            <a:endParaRPr lang="es-ES"/>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E4CA8118-8859-CDBB-B57C-29540F723B77}"/>
                  </a:ext>
                </a:extLst>
              </p:cNvPr>
              <p:cNvSpPr txBox="1"/>
              <p:nvPr/>
            </p:nvSpPr>
            <p:spPr>
              <a:xfrm>
                <a:off x="685800" y="1692984"/>
                <a:ext cx="7010400" cy="3009798"/>
              </a:xfrm>
              <a:prstGeom prst="rect">
                <a:avLst/>
              </a:prstGeom>
              <a:solidFill>
                <a:schemeClr val="bg1">
                  <a:lumMod val="95000"/>
                </a:schemeClr>
              </a:solidFill>
              <a:ln w="28575">
                <a:solidFill>
                  <a:srgbClr val="E0700D"/>
                </a:solidFill>
              </a:ln>
            </p:spPr>
            <p:txBody>
              <a:bodyPr wrap="square" rtlCol="0">
                <a:spAutoFit/>
              </a:bodyPr>
              <a:lstStyle/>
              <a:p>
                <a:r>
                  <a:rPr lang="es-ES" sz="1200" dirty="0"/>
                  <a:t>In </a:t>
                </a:r>
                <a:r>
                  <a:rPr lang="es-ES" sz="1200" dirty="0" err="1"/>
                  <a:t>this</a:t>
                </a:r>
                <a:r>
                  <a:rPr lang="es-ES" sz="1200" dirty="0"/>
                  <a:t> </a:t>
                </a:r>
                <a:r>
                  <a:rPr lang="es-ES" sz="1200" dirty="0" err="1"/>
                  <a:t>configuration</a:t>
                </a:r>
                <a:r>
                  <a:rPr lang="es-ES" sz="1200" dirty="0"/>
                  <a:t>, </a:t>
                </a:r>
                <a:r>
                  <a:rPr lang="es-ES" sz="1200" dirty="0" err="1"/>
                  <a:t>the</a:t>
                </a:r>
                <a:r>
                  <a:rPr lang="es-ES" sz="1200" dirty="0"/>
                  <a:t> </a:t>
                </a:r>
                <a:r>
                  <a:rPr lang="es-ES" sz="1200" dirty="0" err="1"/>
                  <a:t>optical</a:t>
                </a:r>
                <a:r>
                  <a:rPr lang="es-ES" sz="1200" dirty="0"/>
                  <a:t> </a:t>
                </a:r>
                <a:r>
                  <a:rPr lang="es-ES" sz="1200" dirty="0" err="1"/>
                  <a:t>phase</a:t>
                </a:r>
                <a:r>
                  <a:rPr lang="es-ES" sz="1200" dirty="0"/>
                  <a:t> </a:t>
                </a:r>
                <a:r>
                  <a:rPr lang="es-ES" sz="1200" dirty="0" err="1"/>
                  <a:t>imbalance</a:t>
                </a:r>
                <a:r>
                  <a:rPr lang="es-ES" sz="1200" dirty="0"/>
                  <a:t> </a:t>
                </a:r>
                <a:r>
                  <a:rPr lang="es-ES" sz="1200" dirty="0" err="1"/>
                  <a:t>is</a:t>
                </a:r>
                <a:r>
                  <a:rPr lang="es-ES" sz="1200" dirty="0"/>
                  <a:t> </a:t>
                </a:r>
                <a:r>
                  <a:rPr lang="es-ES" sz="1200" dirty="0" err="1"/>
                  <a:t>generated</a:t>
                </a:r>
                <a:r>
                  <a:rPr lang="es-ES" sz="1200" dirty="0"/>
                  <a:t> </a:t>
                </a:r>
                <a:r>
                  <a:rPr lang="es-ES" sz="1200" dirty="0" err="1"/>
                  <a:t>exclusively</a:t>
                </a:r>
                <a:r>
                  <a:rPr lang="es-ES" sz="1200" dirty="0"/>
                  <a:t> </a:t>
                </a:r>
                <a:r>
                  <a:rPr lang="es-ES" sz="1200" dirty="0" err="1"/>
                  <a:t>through</a:t>
                </a:r>
                <a:r>
                  <a:rPr lang="es-ES" sz="1200" dirty="0"/>
                  <a:t> </a:t>
                </a:r>
                <a:r>
                  <a:rPr lang="es-ES" sz="1200" dirty="0" err="1"/>
                  <a:t>an</a:t>
                </a:r>
                <a:r>
                  <a:rPr lang="es-ES" sz="1200" dirty="0"/>
                  <a:t> </a:t>
                </a:r>
                <a:r>
                  <a:rPr lang="es-ES" sz="1200" dirty="0" err="1"/>
                  <a:t>effective</a:t>
                </a:r>
                <a:r>
                  <a:rPr lang="es-ES" sz="1200" dirty="0"/>
                  <a:t> </a:t>
                </a:r>
                <a:r>
                  <a:rPr lang="es-ES" sz="1200" dirty="0" err="1"/>
                  <a:t>index</a:t>
                </a:r>
                <a:r>
                  <a:rPr lang="es-ES" sz="1200" dirty="0"/>
                  <a:t> </a:t>
                </a:r>
                <a:r>
                  <a:rPr lang="es-ES" sz="1200" dirty="0" err="1"/>
                  <a:t>asymmetry</a:t>
                </a:r>
                <a:r>
                  <a:rPr lang="es-ES" sz="1200" dirty="0"/>
                  <a:t> (</a:t>
                </a:r>
                <a14:m>
                  <m:oMath xmlns:m="http://schemas.openxmlformats.org/officeDocument/2006/math">
                    <m:r>
                      <m:rPr>
                        <m:sty m:val="p"/>
                      </m:rPr>
                      <a:rPr lang="es-ES" sz="1200"/>
                      <m:t>Δ</m:t>
                    </m:r>
                    <m:sSub>
                      <m:sSubPr>
                        <m:ctrlPr>
                          <a:rPr lang="es-ES" sz="1200" i="1"/>
                        </m:ctrlPr>
                      </m:sSubPr>
                      <m:e>
                        <m:r>
                          <a:rPr lang="es-ES" sz="1200" i="1"/>
                          <m:t>𝑛</m:t>
                        </m:r>
                      </m:e>
                      <m:sub>
                        <m:r>
                          <m:rPr>
                            <m:sty m:val="p"/>
                          </m:rPr>
                          <a:rPr lang="es-ES" sz="1200"/>
                          <m:t>eff</m:t>
                        </m:r>
                      </m:sub>
                    </m:sSub>
                    <m:d>
                      <m:dPr>
                        <m:ctrlPr>
                          <a:rPr lang="es-ES" sz="1200" i="1"/>
                        </m:ctrlPr>
                      </m:dPr>
                      <m:e>
                        <m:r>
                          <a:rPr lang="es-ES" sz="1200" i="1"/>
                          <m:t>𝜆</m:t>
                        </m:r>
                      </m:e>
                    </m:d>
                    <m:r>
                      <a:rPr lang="es-ES" sz="1200"/>
                      <m:t>≠0</m:t>
                    </m:r>
                  </m:oMath>
                </a14:m>
                <a:r>
                  <a:rPr lang="es-ES" sz="1200" dirty="0"/>
                  <a:t>) </a:t>
                </a:r>
                <a:r>
                  <a:rPr lang="es-ES" sz="1200" dirty="0" err="1"/>
                  <a:t>between</a:t>
                </a:r>
                <a:r>
                  <a:rPr lang="es-ES" sz="1200" dirty="0"/>
                  <a:t> </a:t>
                </a:r>
                <a:r>
                  <a:rPr lang="es-ES" sz="1200" dirty="0" err="1"/>
                  <a:t>two</a:t>
                </a:r>
                <a:r>
                  <a:rPr lang="es-ES" sz="1200" dirty="0"/>
                  <a:t> </a:t>
                </a:r>
                <a:r>
                  <a:rPr lang="es-ES" sz="1200" dirty="0" err="1"/>
                  <a:t>arms</a:t>
                </a:r>
                <a:r>
                  <a:rPr lang="es-ES" sz="1200" dirty="0"/>
                  <a:t> </a:t>
                </a:r>
                <a:r>
                  <a:rPr lang="es-ES" sz="1200" dirty="0" err="1"/>
                  <a:t>of</a:t>
                </a:r>
                <a:r>
                  <a:rPr lang="es-ES" sz="1200" dirty="0"/>
                  <a:t> </a:t>
                </a:r>
                <a:r>
                  <a:rPr lang="es-ES" sz="1200" dirty="0" err="1"/>
                  <a:t>identical</a:t>
                </a:r>
                <a:r>
                  <a:rPr lang="es-ES" sz="1200" dirty="0"/>
                  <a:t> </a:t>
                </a:r>
                <a:r>
                  <a:rPr lang="es-ES" sz="1200" dirty="0" err="1"/>
                  <a:t>physical</a:t>
                </a:r>
                <a:r>
                  <a:rPr lang="es-ES" sz="1200" dirty="0"/>
                  <a:t> </a:t>
                </a:r>
                <a:r>
                  <a:rPr lang="es-ES" sz="1200" dirty="0" err="1"/>
                  <a:t>length</a:t>
                </a:r>
                <a:r>
                  <a:rPr lang="es-ES" sz="1200" dirty="0"/>
                  <a:t> (</a:t>
                </a:r>
                <a14:m>
                  <m:oMath xmlns:m="http://schemas.openxmlformats.org/officeDocument/2006/math">
                    <m:sSub>
                      <m:sSubPr>
                        <m:ctrlPr>
                          <a:rPr lang="es-ES" sz="1200" i="1"/>
                        </m:ctrlPr>
                      </m:sSubPr>
                      <m:e>
                        <m:r>
                          <a:rPr lang="es-ES" sz="1200" i="1"/>
                          <m:t>𝐿</m:t>
                        </m:r>
                      </m:e>
                      <m:sub>
                        <m:r>
                          <a:rPr lang="es-ES" sz="1200" i="1"/>
                          <m:t>𝑢</m:t>
                        </m:r>
                      </m:sub>
                    </m:sSub>
                    <m:r>
                      <a:rPr lang="es-ES" sz="1200"/>
                      <m:t>=</m:t>
                    </m:r>
                    <m:sSub>
                      <m:sSubPr>
                        <m:ctrlPr>
                          <a:rPr lang="es-ES" sz="1200" i="1"/>
                        </m:ctrlPr>
                      </m:sSubPr>
                      <m:e>
                        <m:r>
                          <a:rPr lang="es-ES" sz="1200" i="1"/>
                          <m:t>𝐿</m:t>
                        </m:r>
                      </m:e>
                      <m:sub>
                        <m:r>
                          <a:rPr lang="es-ES" sz="1200" i="1"/>
                          <m:t>𝑑</m:t>
                        </m:r>
                      </m:sub>
                    </m:sSub>
                    <m:r>
                      <a:rPr lang="es-ES" sz="1200"/>
                      <m:t>=25.0 </m:t>
                    </m:r>
                    <m:r>
                      <a:rPr lang="es-ES" sz="1200" i="1"/>
                      <m:t>𝜇</m:t>
                    </m:r>
                    <m:r>
                      <m:rPr>
                        <m:sty m:val="p"/>
                      </m:rPr>
                      <a:rPr lang="es-ES" sz="1200"/>
                      <m:t>m</m:t>
                    </m:r>
                  </m:oMath>
                </a14:m>
                <a:r>
                  <a:rPr lang="es-ES" sz="1200" dirty="0"/>
                  <a:t>). While </a:t>
                </a:r>
                <a:r>
                  <a:rPr lang="es-ES" sz="1200" dirty="0" err="1"/>
                  <a:t>the</a:t>
                </a:r>
                <a:r>
                  <a:rPr lang="es-ES" sz="1200" dirty="0"/>
                  <a:t> </a:t>
                </a:r>
                <a:r>
                  <a:rPr lang="es-ES" sz="1200" dirty="0" err="1"/>
                  <a:t>reference</a:t>
                </a:r>
                <a:r>
                  <a:rPr lang="es-ES" sz="1200" dirty="0"/>
                  <a:t> </a:t>
                </a:r>
                <a:r>
                  <a:rPr lang="es-ES" sz="1200" dirty="0" err="1"/>
                  <a:t>arm</a:t>
                </a:r>
                <a:r>
                  <a:rPr lang="es-ES" sz="1200" dirty="0"/>
                  <a:t> </a:t>
                </a:r>
                <a:r>
                  <a:rPr lang="es-ES" sz="1200" dirty="0" err="1"/>
                  <a:t>is</a:t>
                </a:r>
                <a:r>
                  <a:rPr lang="es-ES" sz="1200" dirty="0"/>
                  <a:t> </a:t>
                </a:r>
                <a:r>
                  <a:rPr lang="es-ES" sz="1200" dirty="0" err="1"/>
                  <a:t>passivated</a:t>
                </a:r>
                <a:r>
                  <a:rPr lang="es-ES" sz="1200" dirty="0"/>
                  <a:t> </a:t>
                </a:r>
                <a:r>
                  <a:rPr lang="es-ES" sz="1200" dirty="0" err="1"/>
                  <a:t>under</a:t>
                </a:r>
                <a:r>
                  <a:rPr lang="es-ES" sz="1200" dirty="0"/>
                  <a:t> </a:t>
                </a:r>
                <a:r>
                  <a:rPr lang="es-ES" sz="1200" dirty="0" err="1"/>
                  <a:t>the</a:t>
                </a:r>
                <a:r>
                  <a:rPr lang="es-ES" sz="1200" dirty="0"/>
                  <a:t> </a:t>
                </a:r>
                <a14:m>
                  <m:oMath xmlns:m="http://schemas.openxmlformats.org/officeDocument/2006/math">
                    <m:sSub>
                      <m:sSubPr>
                        <m:ctrlPr>
                          <a:rPr lang="es-ES" sz="1200"/>
                        </m:ctrlPr>
                      </m:sSubPr>
                      <m:e>
                        <m:r>
                          <m:rPr>
                            <m:nor/>
                          </m:rPr>
                          <a:rPr lang="es-ES" sz="1200"/>
                          <m:t>SiO</m:t>
                        </m:r>
                      </m:e>
                      <m:sub>
                        <m:r>
                          <a:rPr lang="es-ES" sz="1200"/>
                          <m:t>2</m:t>
                        </m:r>
                      </m:sub>
                    </m:sSub>
                  </m:oMath>
                </a14:m>
                <a:r>
                  <a:rPr lang="es-ES" sz="1200" dirty="0" err="1"/>
                  <a:t>cladding</a:t>
                </a:r>
                <a:r>
                  <a:rPr lang="es-ES" sz="1200" dirty="0"/>
                  <a:t>, </a:t>
                </a:r>
                <a:r>
                  <a:rPr lang="es-ES" sz="1200" dirty="0" err="1"/>
                  <a:t>the</a:t>
                </a:r>
                <a:r>
                  <a:rPr lang="es-ES" sz="1200" dirty="0"/>
                  <a:t> </a:t>
                </a:r>
                <a:r>
                  <a:rPr lang="es-ES" sz="1200" dirty="0" err="1"/>
                  <a:t>second</a:t>
                </a:r>
                <a:r>
                  <a:rPr lang="es-ES" sz="1200" dirty="0"/>
                  <a:t> </a:t>
                </a:r>
                <a:r>
                  <a:rPr lang="es-ES" sz="1200" dirty="0" err="1"/>
                  <a:t>arm</a:t>
                </a:r>
                <a:r>
                  <a:rPr lang="es-ES" sz="1200" dirty="0"/>
                  <a:t> </a:t>
                </a:r>
                <a:r>
                  <a:rPr lang="es-ES" sz="1200" dirty="0" err="1"/>
                  <a:t>is</a:t>
                </a:r>
                <a:r>
                  <a:rPr lang="es-ES" sz="1200" dirty="0"/>
                  <a:t> </a:t>
                </a:r>
                <a:r>
                  <a:rPr lang="es-ES" sz="1200" dirty="0" err="1"/>
                  <a:t>exposed</a:t>
                </a:r>
                <a:r>
                  <a:rPr lang="es-ES" sz="1200" dirty="0"/>
                  <a:t> </a:t>
                </a:r>
                <a:r>
                  <a:rPr lang="es-ES" sz="1200" dirty="0" err="1"/>
                  <a:t>to</a:t>
                </a:r>
                <a:r>
                  <a:rPr lang="es-ES" sz="1200" dirty="0"/>
                  <a:t> air (</a:t>
                </a:r>
                <a14:m>
                  <m:oMath xmlns:m="http://schemas.openxmlformats.org/officeDocument/2006/math">
                    <m:r>
                      <a:rPr lang="es-ES" sz="1200" i="1"/>
                      <m:t>𝑛</m:t>
                    </m:r>
                    <m:r>
                      <a:rPr lang="es-ES" sz="1200"/>
                      <m:t>=1.0</m:t>
                    </m:r>
                  </m:oMath>
                </a14:m>
                <a:r>
                  <a:rPr lang="es-ES" sz="1200" dirty="0"/>
                  <a:t>), </a:t>
                </a:r>
                <a:r>
                  <a:rPr lang="es-ES" sz="1200" dirty="0" err="1"/>
                  <a:t>forcing</a:t>
                </a:r>
                <a:r>
                  <a:rPr lang="es-ES" sz="1200" dirty="0"/>
                  <a:t> light </a:t>
                </a:r>
                <a:r>
                  <a:rPr lang="es-ES" sz="1200" dirty="0" err="1"/>
                  <a:t>to</a:t>
                </a:r>
                <a:r>
                  <a:rPr lang="es-ES" sz="1200" dirty="0"/>
                  <a:t> </a:t>
                </a:r>
                <a:r>
                  <a:rPr lang="es-ES" sz="1200" dirty="0" err="1"/>
                  <a:t>propagate</a:t>
                </a:r>
                <a:r>
                  <a:rPr lang="es-ES" sz="1200" dirty="0"/>
                  <a:t> at </a:t>
                </a:r>
                <a:r>
                  <a:rPr lang="es-ES" sz="1200" dirty="0" err="1"/>
                  <a:t>different</a:t>
                </a:r>
                <a:r>
                  <a:rPr lang="es-ES" sz="1200" dirty="0"/>
                  <a:t> </a:t>
                </a:r>
                <a:r>
                  <a:rPr lang="es-ES" sz="1200" dirty="0" err="1"/>
                  <a:t>phase</a:t>
                </a:r>
                <a:r>
                  <a:rPr lang="es-ES" sz="1200" dirty="0"/>
                  <a:t> </a:t>
                </a:r>
                <a:r>
                  <a:rPr lang="es-ES" sz="1200" dirty="0" err="1"/>
                  <a:t>velocities</a:t>
                </a:r>
                <a:r>
                  <a:rPr lang="es-ES" sz="1200" dirty="0"/>
                  <a:t> </a:t>
                </a:r>
                <a:r>
                  <a:rPr lang="es-ES" sz="1200" dirty="0" err="1"/>
                  <a:t>along</a:t>
                </a:r>
                <a:r>
                  <a:rPr lang="es-ES" sz="1200" dirty="0"/>
                  <a:t> </a:t>
                </a:r>
                <a:r>
                  <a:rPr lang="es-ES" sz="1200" dirty="0" err="1"/>
                  <a:t>identical</a:t>
                </a:r>
                <a:r>
                  <a:rPr lang="es-ES" sz="1200" dirty="0"/>
                  <a:t> </a:t>
                </a:r>
                <a:r>
                  <a:rPr lang="es-ES" sz="1200" dirty="0" err="1"/>
                  <a:t>physical</a:t>
                </a:r>
                <a:r>
                  <a:rPr lang="es-ES" sz="1200" dirty="0"/>
                  <a:t> </a:t>
                </a:r>
                <a:r>
                  <a:rPr lang="es-ES" sz="1200" dirty="0" err="1"/>
                  <a:t>lengths</a:t>
                </a:r>
                <a:r>
                  <a:rPr lang="es-ES" sz="1200" dirty="0"/>
                  <a:t>. </a:t>
                </a:r>
                <a:r>
                  <a:rPr lang="es-ES" sz="1200" dirty="0" err="1"/>
                  <a:t>This</a:t>
                </a:r>
                <a:r>
                  <a:rPr lang="es-ES" sz="1200" dirty="0"/>
                  <a:t> refractive </a:t>
                </a:r>
                <a:r>
                  <a:rPr lang="es-ES" sz="1200" dirty="0" err="1"/>
                  <a:t>index</a:t>
                </a:r>
                <a:r>
                  <a:rPr lang="es-ES" sz="1200" dirty="0"/>
                  <a:t> </a:t>
                </a:r>
                <a:r>
                  <a:rPr lang="es-ES" sz="1200" dirty="0" err="1"/>
                  <a:t>contrast</a:t>
                </a:r>
                <a:r>
                  <a:rPr lang="es-ES" sz="1200" dirty="0"/>
                  <a:t> induces </a:t>
                </a:r>
                <a:r>
                  <a:rPr lang="es-ES" sz="1200" dirty="0" err="1"/>
                  <a:t>an</a:t>
                </a:r>
                <a:r>
                  <a:rPr lang="es-ES" sz="1200" dirty="0"/>
                  <a:t> </a:t>
                </a:r>
                <a:r>
                  <a:rPr lang="es-ES" sz="1200" dirty="0" err="1"/>
                  <a:t>accumulated</a:t>
                </a:r>
                <a:r>
                  <a:rPr lang="es-ES" sz="1200" dirty="0"/>
                  <a:t> </a:t>
                </a:r>
                <a:r>
                  <a:rPr lang="es-ES" sz="1200" dirty="0" err="1"/>
                  <a:t>optical</a:t>
                </a:r>
                <a:r>
                  <a:rPr lang="es-ES" sz="1200" dirty="0"/>
                  <a:t> </a:t>
                </a:r>
                <a:r>
                  <a:rPr lang="es-ES" sz="1200" dirty="0" err="1"/>
                  <a:t>path</a:t>
                </a:r>
                <a:r>
                  <a:rPr lang="es-ES" sz="1200" dirty="0"/>
                  <a:t> </a:t>
                </a:r>
                <a:r>
                  <a:rPr lang="es-ES" sz="1200" dirty="0" err="1"/>
                  <a:t>difference</a:t>
                </a:r>
                <a:r>
                  <a:rPr lang="es-ES" sz="1200" dirty="0"/>
                  <a:t> </a:t>
                </a:r>
                <a14:m>
                  <m:oMath xmlns:m="http://schemas.openxmlformats.org/officeDocument/2006/math">
                    <m:r>
                      <m:rPr>
                        <m:sty m:val="p"/>
                      </m:rPr>
                      <a:rPr lang="es-ES" sz="1200"/>
                      <m:t>ΔOPD</m:t>
                    </m:r>
                    <m:d>
                      <m:dPr>
                        <m:ctrlPr>
                          <a:rPr lang="es-ES" sz="1200" i="1"/>
                        </m:ctrlPr>
                      </m:dPr>
                      <m:e>
                        <m:r>
                          <a:rPr lang="es-ES" sz="1200" i="1"/>
                          <m:t>𝜆</m:t>
                        </m:r>
                      </m:e>
                    </m:d>
                    <m:r>
                      <a:rPr lang="es-ES" sz="1200"/>
                      <m:t>=</m:t>
                    </m:r>
                    <m:r>
                      <m:rPr>
                        <m:sty m:val="p"/>
                      </m:rPr>
                      <a:rPr lang="es-ES" sz="1200"/>
                      <m:t>Δ</m:t>
                    </m:r>
                    <m:sSub>
                      <m:sSubPr>
                        <m:ctrlPr>
                          <a:rPr lang="es-ES" sz="1200" i="1"/>
                        </m:ctrlPr>
                      </m:sSubPr>
                      <m:e>
                        <m:r>
                          <a:rPr lang="es-ES" sz="1200" i="1"/>
                          <m:t>𝑛</m:t>
                        </m:r>
                      </m:e>
                      <m:sub>
                        <m:r>
                          <m:rPr>
                            <m:sty m:val="p"/>
                          </m:rPr>
                          <a:rPr lang="es-ES" sz="1200"/>
                          <m:t>eff</m:t>
                        </m:r>
                      </m:sub>
                    </m:sSub>
                    <m:d>
                      <m:dPr>
                        <m:ctrlPr>
                          <a:rPr lang="es-ES" sz="1200" i="1"/>
                        </m:ctrlPr>
                      </m:dPr>
                      <m:e>
                        <m:r>
                          <a:rPr lang="es-ES" sz="1200" i="1"/>
                          <m:t>𝜆</m:t>
                        </m:r>
                      </m:e>
                    </m:d>
                    <m:r>
                      <a:rPr lang="es-ES" sz="1200"/>
                      <m:t>⋅</m:t>
                    </m:r>
                    <m:r>
                      <a:rPr lang="es-ES" sz="1200" i="1"/>
                      <m:t>𝐿</m:t>
                    </m:r>
                  </m:oMath>
                </a14:m>
                <a:r>
                  <a:rPr lang="es-ES" sz="1200" dirty="0"/>
                  <a:t>, </a:t>
                </a:r>
                <a:r>
                  <a:rPr lang="es-ES" sz="1200" dirty="0" err="1"/>
                  <a:t>which</a:t>
                </a:r>
                <a:r>
                  <a:rPr lang="es-ES" sz="1200" dirty="0"/>
                  <a:t> </a:t>
                </a:r>
                <a:r>
                  <a:rPr lang="es-ES" sz="1200" dirty="0" err="1"/>
                  <a:t>dictates</a:t>
                </a:r>
                <a:r>
                  <a:rPr lang="es-ES" sz="1200" dirty="0"/>
                  <a:t> </a:t>
                </a:r>
                <a:r>
                  <a:rPr lang="es-ES" sz="1200" dirty="0" err="1"/>
                  <a:t>the</a:t>
                </a:r>
                <a:r>
                  <a:rPr lang="es-ES" sz="1200" dirty="0"/>
                  <a:t> </a:t>
                </a:r>
                <a:r>
                  <a:rPr lang="es-ES" sz="1200" dirty="0" err="1"/>
                  <a:t>wavelength-dependent</a:t>
                </a:r>
                <a:r>
                  <a:rPr lang="es-ES" sz="1200" dirty="0"/>
                  <a:t> </a:t>
                </a:r>
                <a:r>
                  <a:rPr lang="es-ES" sz="1200" dirty="0" err="1"/>
                  <a:t>phase</a:t>
                </a:r>
                <a:r>
                  <a:rPr lang="es-ES" sz="1200" dirty="0"/>
                  <a:t> shift: </a:t>
                </a:r>
              </a:p>
              <a:p>
                <a14:m>
                  <m:oMathPara xmlns:m="http://schemas.openxmlformats.org/officeDocument/2006/math">
                    <m:oMath>
                      <m:r>
                        <m:rPr>
                          <m:sty m:val="p"/>
                        </m:rPr>
                        <a:rPr lang="es-ES" sz="1200"/>
                        <m:t>Δ</m:t>
                      </m:r>
                      <m:r>
                        <a:rPr lang="es-ES" sz="1200" i="1"/>
                        <m:t>𝜙</m:t>
                      </m:r>
                      <m:d>
                        <m:dPr>
                          <m:ctrlPr>
                            <a:rPr lang="es-ES" sz="1200" i="1"/>
                          </m:ctrlPr>
                        </m:dPr>
                        <m:e>
                          <m:r>
                            <a:rPr lang="es-ES" sz="1200" i="1"/>
                            <m:t>𝜆</m:t>
                          </m:r>
                        </m:e>
                      </m:d>
                      <m:r>
                        <a:rPr lang="es-ES" sz="1200"/>
                        <m:t>=</m:t>
                      </m:r>
                      <m:f>
                        <m:fPr>
                          <m:ctrlPr>
                            <a:rPr lang="es-ES" sz="1200"/>
                          </m:ctrlPr>
                        </m:fPr>
                        <m:num>
                          <m:r>
                            <a:rPr lang="es-ES" sz="1200"/>
                            <m:t>2</m:t>
                          </m:r>
                          <m:r>
                            <a:rPr lang="es-ES" sz="1200" i="1"/>
                            <m:t>𝜋</m:t>
                          </m:r>
                        </m:num>
                        <m:den>
                          <m:r>
                            <a:rPr lang="es-ES" sz="1200" i="1"/>
                            <m:t>𝜆</m:t>
                          </m:r>
                        </m:den>
                      </m:f>
                      <m:d>
                        <m:dPr>
                          <m:begChr m:val="["/>
                          <m:endChr m:val="]"/>
                          <m:ctrlPr>
                            <a:rPr lang="es-ES" sz="1200" i="1"/>
                          </m:ctrlPr>
                        </m:dPr>
                        <m:e>
                          <m:sSub>
                            <m:sSubPr>
                              <m:ctrlPr>
                                <a:rPr lang="es-ES" sz="1200" i="1"/>
                              </m:ctrlPr>
                            </m:sSubPr>
                            <m:e>
                              <m:r>
                                <a:rPr lang="es-ES" sz="1200" i="1"/>
                                <m:t>𝑛</m:t>
                              </m:r>
                            </m:e>
                            <m:sub>
                              <m:r>
                                <m:rPr>
                                  <m:sty m:val="p"/>
                                </m:rPr>
                                <a:rPr lang="es-ES" sz="1200"/>
                                <m:t>eff</m:t>
                              </m:r>
                              <m:r>
                                <a:rPr lang="es-ES" sz="1200"/>
                                <m:t>,</m:t>
                              </m:r>
                              <m:r>
                                <m:rPr>
                                  <m:sty m:val="p"/>
                                </m:rPr>
                                <a:rPr lang="es-ES" sz="1200"/>
                                <m:t>clad</m:t>
                              </m:r>
                            </m:sub>
                          </m:sSub>
                          <m:d>
                            <m:dPr>
                              <m:ctrlPr>
                                <a:rPr lang="es-ES" sz="1200" i="1"/>
                              </m:ctrlPr>
                            </m:dPr>
                            <m:e>
                              <m:r>
                                <a:rPr lang="es-ES" sz="1200" i="1"/>
                                <m:t>𝜆</m:t>
                              </m:r>
                            </m:e>
                          </m:d>
                          <m:r>
                            <a:rPr lang="es-ES" sz="1200"/>
                            <m:t>−</m:t>
                          </m:r>
                          <m:sSub>
                            <m:sSubPr>
                              <m:ctrlPr>
                                <a:rPr lang="es-ES" sz="1200" i="1"/>
                              </m:ctrlPr>
                            </m:sSubPr>
                            <m:e>
                              <m:r>
                                <a:rPr lang="es-ES" sz="1200" i="1"/>
                                <m:t>𝑛</m:t>
                              </m:r>
                            </m:e>
                            <m:sub>
                              <m:r>
                                <m:rPr>
                                  <m:sty m:val="p"/>
                                </m:rPr>
                                <a:rPr lang="es-ES" sz="1200"/>
                                <m:t>eff</m:t>
                              </m:r>
                              <m:r>
                                <a:rPr lang="es-ES" sz="1200"/>
                                <m:t>,</m:t>
                              </m:r>
                              <m:r>
                                <m:rPr>
                                  <m:sty m:val="p"/>
                                </m:rPr>
                                <a:rPr lang="es-ES" sz="1200"/>
                                <m:t>air</m:t>
                              </m:r>
                            </m:sub>
                          </m:sSub>
                          <m:d>
                            <m:dPr>
                              <m:ctrlPr>
                                <a:rPr lang="es-ES" sz="1200" i="1"/>
                              </m:ctrlPr>
                            </m:dPr>
                            <m:e>
                              <m:r>
                                <a:rPr lang="es-ES" sz="1200" i="1"/>
                                <m:t>𝜆</m:t>
                              </m:r>
                            </m:e>
                          </m:d>
                        </m:e>
                      </m:d>
                      <m:r>
                        <a:rPr lang="es-ES" sz="1200" i="1"/>
                        <m:t>𝐿</m:t>
                      </m:r>
                    </m:oMath>
                  </m:oMathPara>
                </a14:m>
                <a:endParaRPr lang="es-ES" sz="1200" dirty="0"/>
              </a:p>
              <a:p>
                <a:r>
                  <a:rPr lang="es-ES" sz="1200" dirty="0" err="1"/>
                  <a:t>Under</a:t>
                </a:r>
                <a:r>
                  <a:rPr lang="es-ES" sz="1200" dirty="0"/>
                  <a:t> ideal 3-dB </a:t>
                </a:r>
                <a:r>
                  <a:rPr lang="es-ES" sz="1200" dirty="0" err="1"/>
                  <a:t>coupling</a:t>
                </a:r>
                <a:r>
                  <a:rPr lang="es-ES" sz="1200" dirty="0"/>
                  <a:t> (</a:t>
                </a:r>
                <a14:m>
                  <m:oMath xmlns:m="http://schemas.openxmlformats.org/officeDocument/2006/math">
                    <m:sSub>
                      <m:sSubPr>
                        <m:ctrlPr>
                          <a:rPr lang="es-ES" sz="1200" i="1"/>
                        </m:ctrlPr>
                      </m:sSubPr>
                      <m:e>
                        <m:r>
                          <a:rPr lang="es-ES" sz="1200" i="1"/>
                          <m:t>𝐾</m:t>
                        </m:r>
                      </m:e>
                      <m:sub>
                        <m:r>
                          <a:rPr lang="es-ES" sz="1200" i="1"/>
                          <m:t>𝑎</m:t>
                        </m:r>
                      </m:sub>
                    </m:sSub>
                    <m:r>
                      <a:rPr lang="es-ES" sz="1200"/>
                      <m:t>=</m:t>
                    </m:r>
                    <m:sSub>
                      <m:sSubPr>
                        <m:ctrlPr>
                          <a:rPr lang="es-ES" sz="1200" i="1"/>
                        </m:ctrlPr>
                      </m:sSubPr>
                      <m:e>
                        <m:r>
                          <a:rPr lang="es-ES" sz="1200" i="1"/>
                          <m:t>𝐾</m:t>
                        </m:r>
                      </m:e>
                      <m:sub>
                        <m:r>
                          <a:rPr lang="es-ES" sz="1200" i="1"/>
                          <m:t>𝑏</m:t>
                        </m:r>
                      </m:sub>
                    </m:sSub>
                    <m:r>
                      <a:rPr lang="es-ES" sz="1200"/>
                      <m:t>=0.5</m:t>
                    </m:r>
                  </m:oMath>
                </a14:m>
                <a:r>
                  <a:rPr lang="es-ES" sz="1200" dirty="0"/>
                  <a:t>) and </a:t>
                </a:r>
                <a:r>
                  <a:rPr lang="es-ES" sz="1200" dirty="0" err="1"/>
                  <a:t>lossless</a:t>
                </a:r>
                <a:r>
                  <a:rPr lang="es-ES" sz="1200" dirty="0"/>
                  <a:t> </a:t>
                </a:r>
                <a:r>
                  <a:rPr lang="es-ES" sz="1200" dirty="0" err="1"/>
                  <a:t>propagation</a:t>
                </a:r>
                <a:r>
                  <a:rPr lang="es-ES" sz="1200" dirty="0"/>
                  <a:t> (</a:t>
                </a:r>
                <a14:m>
                  <m:oMath xmlns:m="http://schemas.openxmlformats.org/officeDocument/2006/math">
                    <m:r>
                      <a:rPr lang="es-ES" sz="1200" i="1"/>
                      <m:t>𝛼</m:t>
                    </m:r>
                    <m:r>
                      <a:rPr lang="es-ES" sz="1200"/>
                      <m:t>=0,</m:t>
                    </m:r>
                    <m:r>
                      <a:rPr lang="es-ES" sz="1200" i="1"/>
                      <m:t>𝛾</m:t>
                    </m:r>
                    <m:r>
                      <a:rPr lang="es-ES" sz="1200"/>
                      <m:t>=0</m:t>
                    </m:r>
                  </m:oMath>
                </a14:m>
                <a:r>
                  <a:rPr lang="es-ES" sz="1200" dirty="0"/>
                  <a:t>), </a:t>
                </a:r>
                <a:r>
                  <a:rPr lang="es-ES" sz="1200" dirty="0" err="1"/>
                  <a:t>strict</a:t>
                </a:r>
                <a:r>
                  <a:rPr lang="es-ES" sz="1200" dirty="0"/>
                  <a:t> </a:t>
                </a:r>
                <a:r>
                  <a:rPr lang="es-ES" sz="1200" dirty="0" err="1"/>
                  <a:t>energy</a:t>
                </a:r>
                <a:r>
                  <a:rPr lang="es-ES" sz="1200" dirty="0"/>
                  <a:t> </a:t>
                </a:r>
                <a:r>
                  <a:rPr lang="es-ES" sz="1200" dirty="0" err="1"/>
                  <a:t>conservation</a:t>
                </a:r>
                <a:r>
                  <a:rPr lang="es-ES" sz="1200" dirty="0"/>
                  <a:t> </a:t>
                </a:r>
                <a:r>
                  <a:rPr lang="es-ES" sz="1200" dirty="0" err="1"/>
                  <a:t>dictates</a:t>
                </a:r>
                <a:r>
                  <a:rPr lang="es-ES" sz="1200" dirty="0"/>
                  <a:t> </a:t>
                </a:r>
                <a:r>
                  <a:rPr lang="es-ES" sz="1200" dirty="0" err="1"/>
                  <a:t>power</a:t>
                </a:r>
                <a:r>
                  <a:rPr lang="es-ES" sz="1200" dirty="0"/>
                  <a:t> </a:t>
                </a:r>
                <a:r>
                  <a:rPr lang="es-ES" sz="1200" dirty="0" err="1"/>
                  <a:t>complementarity</a:t>
                </a:r>
                <a:r>
                  <a:rPr lang="es-ES" sz="1200" dirty="0"/>
                  <a:t> </a:t>
                </a:r>
                <a:r>
                  <a:rPr lang="es-ES" sz="1200" dirty="0" err="1"/>
                  <a:t>between</a:t>
                </a:r>
                <a:r>
                  <a:rPr lang="es-ES" sz="1200" dirty="0"/>
                  <a:t> </a:t>
                </a:r>
                <a:r>
                  <a:rPr lang="es-ES" sz="1200" dirty="0" err="1"/>
                  <a:t>the</a:t>
                </a:r>
                <a:r>
                  <a:rPr lang="es-ES" sz="1200" dirty="0"/>
                  <a:t> output </a:t>
                </a:r>
                <a:r>
                  <a:rPr lang="es-ES" sz="1200" dirty="0" err="1"/>
                  <a:t>channels</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21</m:t>
                        </m:r>
                      </m:sub>
                    </m:sSub>
                    <m:r>
                      <a:rPr lang="es-ES" sz="1200"/>
                      <m:t>|</m:t>
                    </m:r>
                    <m:sSup>
                      <m:sSupPr>
                        <m:ctrlPr>
                          <a:rPr lang="es-ES" sz="1200"/>
                        </m:ctrlPr>
                      </m:sSupPr>
                      <m:e>
                        <m:r>
                          <a:rPr lang="es-ES" sz="1200"/>
                          <m:t>​</m:t>
                        </m:r>
                      </m:e>
                      <m:sup>
                        <m:r>
                          <a:rPr lang="es-ES" sz="1200"/>
                          <m:t>2</m:t>
                        </m:r>
                      </m:sup>
                    </m:sSup>
                    <m:r>
                      <a:rPr lang="es-ES" sz="1200"/>
                      <m:t>+|</m:t>
                    </m:r>
                    <m:sSub>
                      <m:sSubPr>
                        <m:ctrlPr>
                          <a:rPr lang="es-ES" sz="1200" i="1"/>
                        </m:ctrlPr>
                      </m:sSubPr>
                      <m:e>
                        <m:r>
                          <a:rPr lang="es-ES" sz="1200" i="1"/>
                          <m:t>𝐻</m:t>
                        </m:r>
                      </m:e>
                      <m:sub>
                        <m:r>
                          <a:rPr lang="es-ES" sz="1200"/>
                          <m:t>22</m:t>
                        </m:r>
                      </m:sub>
                    </m:sSub>
                    <m:r>
                      <a:rPr lang="es-ES" sz="1200"/>
                      <m:t>|</m:t>
                    </m:r>
                    <m:sSup>
                      <m:sSupPr>
                        <m:ctrlPr>
                          <a:rPr lang="es-ES" sz="1200"/>
                        </m:ctrlPr>
                      </m:sSupPr>
                      <m:e>
                        <m:r>
                          <a:rPr lang="es-ES" sz="1200"/>
                          <m:t>​</m:t>
                        </m:r>
                      </m:e>
                      <m:sup>
                        <m:r>
                          <a:rPr lang="es-ES" sz="1200"/>
                          <m:t>2</m:t>
                        </m:r>
                      </m:sup>
                    </m:sSup>
                    <m:r>
                      <a:rPr lang="es-ES" sz="1200"/>
                      <m:t>=1</m:t>
                    </m:r>
                  </m:oMath>
                </a14:m>
                <a:r>
                  <a:rPr lang="es-ES" sz="1200" dirty="0"/>
                  <a:t>). </a:t>
                </a:r>
                <a:r>
                  <a:rPr lang="es-ES" sz="1200" dirty="0" err="1"/>
                  <a:t>Because</a:t>
                </a:r>
                <a:r>
                  <a:rPr lang="es-ES" sz="1200" dirty="0"/>
                  <a:t> </a:t>
                </a:r>
                <a:r>
                  <a:rPr lang="es-ES" sz="1200" dirty="0" err="1"/>
                  <a:t>the</a:t>
                </a:r>
                <a:r>
                  <a:rPr lang="es-ES" sz="1200" dirty="0"/>
                  <a:t> short </a:t>
                </a:r>
                <a:r>
                  <a:rPr lang="es-ES" sz="1200" dirty="0" err="1"/>
                  <a:t>physical</a:t>
                </a:r>
                <a:r>
                  <a:rPr lang="es-ES" sz="1200" dirty="0"/>
                  <a:t> </a:t>
                </a:r>
                <a:r>
                  <a:rPr lang="es-ES" sz="1200" dirty="0" err="1"/>
                  <a:t>interaction</a:t>
                </a:r>
                <a:r>
                  <a:rPr lang="es-ES" sz="1200" dirty="0"/>
                  <a:t> </a:t>
                </a:r>
                <a:r>
                  <a:rPr lang="es-ES" sz="1200" dirty="0" err="1"/>
                  <a:t>length</a:t>
                </a:r>
                <a:r>
                  <a:rPr lang="es-ES" sz="1200" dirty="0"/>
                  <a:t> (</a:t>
                </a:r>
                <a14:m>
                  <m:oMath xmlns:m="http://schemas.openxmlformats.org/officeDocument/2006/math">
                    <m:r>
                      <a:rPr lang="es-ES" sz="1200" i="1"/>
                      <m:t>𝐿</m:t>
                    </m:r>
                    <m:r>
                      <a:rPr lang="es-ES" sz="1200"/>
                      <m:t>=25.0 </m:t>
                    </m:r>
                    <m:r>
                      <a:rPr lang="es-ES" sz="1200" i="1"/>
                      <m:t>𝜇</m:t>
                    </m:r>
                    <m:r>
                      <m:rPr>
                        <m:sty m:val="p"/>
                      </m:rPr>
                      <a:rPr lang="es-ES" sz="1200"/>
                      <m:t>m</m:t>
                    </m:r>
                  </m:oMath>
                </a14:m>
                <a:r>
                  <a:rPr lang="es-ES" sz="1200" dirty="0"/>
                  <a:t>) </a:t>
                </a:r>
                <a:r>
                  <a:rPr lang="es-ES" sz="1200" dirty="0" err="1"/>
                  <a:t>restricts</a:t>
                </a:r>
                <a:r>
                  <a:rPr lang="es-ES" sz="1200" dirty="0"/>
                  <a:t> </a:t>
                </a:r>
                <a:r>
                  <a:rPr lang="es-ES" sz="1200" dirty="0" err="1"/>
                  <a:t>the</a:t>
                </a:r>
                <a:r>
                  <a:rPr lang="es-ES" sz="1200" dirty="0"/>
                  <a:t> </a:t>
                </a:r>
                <a:r>
                  <a:rPr lang="es-ES" sz="1200" dirty="0" err="1"/>
                  <a:t>phase</a:t>
                </a:r>
                <a:r>
                  <a:rPr lang="es-ES" sz="1200" dirty="0"/>
                  <a:t> </a:t>
                </a:r>
                <a:r>
                  <a:rPr lang="es-ES" sz="1200" dirty="0" err="1"/>
                  <a:t>accumulation</a:t>
                </a:r>
                <a:r>
                  <a:rPr lang="es-ES" sz="1200" dirty="0"/>
                  <a:t> </a:t>
                </a:r>
                <a:r>
                  <a:rPr lang="es-ES" sz="1200" dirty="0" err="1"/>
                  <a:t>to</a:t>
                </a:r>
                <a:r>
                  <a:rPr lang="es-ES" sz="1200" dirty="0"/>
                  <a:t> a </a:t>
                </a:r>
                <a:r>
                  <a:rPr lang="es-ES" sz="1200" dirty="0" err="1"/>
                  <a:t>fraction</a:t>
                </a:r>
                <a:r>
                  <a:rPr lang="es-ES" sz="1200" dirty="0"/>
                  <a:t> </a:t>
                </a:r>
                <a:r>
                  <a:rPr lang="es-ES" sz="1200" dirty="0" err="1"/>
                  <a:t>of</a:t>
                </a:r>
                <a:r>
                  <a:rPr lang="es-ES" sz="1200" dirty="0"/>
                  <a:t> </a:t>
                </a:r>
                <a:r>
                  <a:rPr lang="es-ES" sz="1200" dirty="0" err="1"/>
                  <a:t>an</a:t>
                </a:r>
                <a:r>
                  <a:rPr lang="es-ES" sz="1200" dirty="0"/>
                  <a:t> </a:t>
                </a:r>
                <a:r>
                  <a:rPr lang="es-ES" sz="1200" dirty="0" err="1"/>
                  <a:t>interference</a:t>
                </a:r>
                <a:r>
                  <a:rPr lang="es-ES" sz="1200" dirty="0"/>
                  <a:t> </a:t>
                </a:r>
                <a:r>
                  <a:rPr lang="es-ES" sz="1200" dirty="0" err="1"/>
                  <a:t>cycle</a:t>
                </a:r>
                <a:r>
                  <a:rPr lang="es-ES" sz="1200" dirty="0"/>
                  <a:t> (</a:t>
                </a:r>
                <a14:m>
                  <m:oMath xmlns:m="http://schemas.openxmlformats.org/officeDocument/2006/math">
                    <m:r>
                      <m:rPr>
                        <m:sty m:val="p"/>
                      </m:rPr>
                      <a:rPr lang="es-ES" sz="1200"/>
                      <m:t>Δ</m:t>
                    </m:r>
                    <m:r>
                      <a:rPr lang="es-ES" sz="1200" i="1"/>
                      <m:t>𝜙</m:t>
                    </m:r>
                    <m:r>
                      <a:rPr lang="es-ES" sz="1200"/>
                      <m:t>&lt;</m:t>
                    </m:r>
                    <m:r>
                      <a:rPr lang="es-ES" sz="1200" i="1"/>
                      <m:t>𝜋</m:t>
                    </m:r>
                  </m:oMath>
                </a14:m>
                <a:r>
                  <a:rPr lang="es-ES" sz="1200" dirty="0"/>
                  <a:t>), </a:t>
                </a:r>
                <a:r>
                  <a:rPr lang="es-ES" sz="1200" dirty="0" err="1"/>
                  <a:t>the</a:t>
                </a:r>
                <a:r>
                  <a:rPr lang="es-ES" sz="1200" dirty="0"/>
                  <a:t> </a:t>
                </a:r>
                <a:r>
                  <a:rPr lang="es-ES" sz="1200" dirty="0" err="1"/>
                  <a:t>spectral</a:t>
                </a:r>
                <a:r>
                  <a:rPr lang="es-ES" sz="1200" dirty="0"/>
                  <a:t> response </a:t>
                </a:r>
                <a:r>
                  <a:rPr lang="es-ES" sz="1200" dirty="0" err="1"/>
                  <a:t>exhibits</a:t>
                </a:r>
                <a:r>
                  <a:rPr lang="es-ES" sz="1200" dirty="0"/>
                  <a:t> a </a:t>
                </a:r>
                <a:r>
                  <a:rPr lang="es-ES" sz="1200" dirty="0" err="1"/>
                  <a:t>continuous</a:t>
                </a:r>
                <a:r>
                  <a:rPr lang="es-ES" sz="1200" dirty="0"/>
                  <a:t> </a:t>
                </a:r>
                <a:r>
                  <a:rPr lang="es-ES" sz="1200" dirty="0" err="1"/>
                  <a:t>power</a:t>
                </a:r>
                <a:r>
                  <a:rPr lang="es-ES" sz="1200" dirty="0"/>
                  <a:t> transfer </a:t>
                </a:r>
                <a:r>
                  <a:rPr lang="es-ES" sz="1200" dirty="0" err="1"/>
                  <a:t>between</a:t>
                </a:r>
                <a:r>
                  <a:rPr lang="es-ES" sz="1200" dirty="0"/>
                  <a:t> </a:t>
                </a:r>
                <a:r>
                  <a:rPr lang="es-ES" sz="1200" dirty="0" err="1"/>
                  <a:t>ports</a:t>
                </a:r>
                <a:r>
                  <a:rPr lang="es-ES" sz="1200" dirty="0"/>
                  <a:t>—</a:t>
                </a:r>
                <a:r>
                  <a:rPr lang="es-ES" sz="1200" dirty="0" err="1"/>
                  <a:t>where</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22</m:t>
                        </m:r>
                      </m:sub>
                    </m:sSub>
                    <m:r>
                      <a:rPr lang="es-ES" sz="1200"/>
                      <m:t>|</m:t>
                    </m:r>
                    <m:sSup>
                      <m:sSupPr>
                        <m:ctrlPr>
                          <a:rPr lang="es-ES" sz="1200"/>
                        </m:ctrlPr>
                      </m:sSupPr>
                      <m:e>
                        <m:r>
                          <a:rPr lang="es-ES" sz="1200"/>
                          <m:t>​</m:t>
                        </m:r>
                      </m:e>
                      <m:sup>
                        <m:r>
                          <a:rPr lang="es-ES" sz="1200"/>
                          <m:t>2</m:t>
                        </m:r>
                      </m:sup>
                    </m:sSup>
                  </m:oMath>
                </a14:m>
                <a:r>
                  <a:rPr lang="es-ES" sz="1200" dirty="0" err="1"/>
                  <a:t>increases</a:t>
                </a:r>
                <a:r>
                  <a:rPr lang="es-ES" sz="1200" dirty="0"/>
                  <a:t> </a:t>
                </a:r>
                <a:r>
                  <a:rPr lang="es-ES" sz="1200" dirty="0" err="1"/>
                  <a:t>from</a:t>
                </a:r>
                <a:r>
                  <a:rPr lang="es-ES" sz="1200" dirty="0"/>
                  <a:t> </a:t>
                </a:r>
                <a14:m>
                  <m:oMath xmlns:m="http://schemas.openxmlformats.org/officeDocument/2006/math">
                    <m:r>
                      <a:rPr lang="es-ES" sz="1200"/>
                      <m:t>0.55</m:t>
                    </m:r>
                  </m:oMath>
                </a14:m>
                <a:r>
                  <a:rPr lang="es-ES" sz="1200" dirty="0" err="1"/>
                  <a:t>to</a:t>
                </a:r>
                <a:r>
                  <a:rPr lang="es-ES" sz="1200" dirty="0"/>
                  <a:t> </a:t>
                </a:r>
                <a14:m>
                  <m:oMath xmlns:m="http://schemas.openxmlformats.org/officeDocument/2006/math">
                    <m:r>
                      <a:rPr lang="es-ES" sz="1200"/>
                      <m:t>0.62</m:t>
                    </m:r>
                  </m:oMath>
                </a14:m>
                <a:r>
                  <a:rPr lang="es-ES" sz="1200" dirty="0" err="1"/>
                  <a:t>while</a:t>
                </a:r>
                <a:r>
                  <a:rPr lang="es-ES" sz="1200" dirty="0"/>
                  <a:t> </a:t>
                </a:r>
                <a14:m>
                  <m:oMath xmlns:m="http://schemas.openxmlformats.org/officeDocument/2006/math">
                    <m:r>
                      <a:rPr lang="es-ES" sz="1200"/>
                      <m:t>|</m:t>
                    </m:r>
                    <m:sSub>
                      <m:sSubPr>
                        <m:ctrlPr>
                          <a:rPr lang="es-ES" sz="1200" i="1"/>
                        </m:ctrlPr>
                      </m:sSubPr>
                      <m:e>
                        <m:r>
                          <a:rPr lang="es-ES" sz="1200" i="1"/>
                          <m:t>𝐻</m:t>
                        </m:r>
                      </m:e>
                      <m:sub>
                        <m:r>
                          <a:rPr lang="es-ES" sz="1200"/>
                          <m:t>21</m:t>
                        </m:r>
                      </m:sub>
                    </m:sSub>
                    <m:r>
                      <a:rPr lang="es-ES" sz="1200"/>
                      <m:t>|</m:t>
                    </m:r>
                    <m:sSup>
                      <m:sSupPr>
                        <m:ctrlPr>
                          <a:rPr lang="es-ES" sz="1200"/>
                        </m:ctrlPr>
                      </m:sSupPr>
                      <m:e>
                        <m:r>
                          <a:rPr lang="es-ES" sz="1200"/>
                          <m:t>​</m:t>
                        </m:r>
                      </m:e>
                      <m:sup>
                        <m:r>
                          <a:rPr lang="es-ES" sz="1200"/>
                          <m:t>2</m:t>
                        </m:r>
                      </m:sup>
                    </m:sSup>
                  </m:oMath>
                </a14:m>
                <a:r>
                  <a:rPr lang="es-ES" sz="1200" dirty="0" err="1"/>
                  <a:t>complementarily</a:t>
                </a:r>
                <a:r>
                  <a:rPr lang="es-ES" sz="1200" dirty="0"/>
                  <a:t> </a:t>
                </a:r>
                <a:r>
                  <a:rPr lang="es-ES" sz="1200" dirty="0" err="1"/>
                  <a:t>decreases</a:t>
                </a:r>
                <a:r>
                  <a:rPr lang="es-ES" sz="1200" dirty="0"/>
                  <a:t> </a:t>
                </a:r>
                <a:r>
                  <a:rPr lang="es-ES" sz="1200" dirty="0" err="1"/>
                  <a:t>from</a:t>
                </a:r>
                <a:r>
                  <a:rPr lang="es-ES" sz="1200" dirty="0"/>
                  <a:t> </a:t>
                </a:r>
                <a14:m>
                  <m:oMath xmlns:m="http://schemas.openxmlformats.org/officeDocument/2006/math">
                    <m:r>
                      <a:rPr lang="es-ES" sz="1200"/>
                      <m:t>0.45</m:t>
                    </m:r>
                  </m:oMath>
                </a14:m>
                <a:r>
                  <a:rPr lang="es-ES" sz="1200" dirty="0" err="1"/>
                  <a:t>to</a:t>
                </a:r>
                <a:r>
                  <a:rPr lang="es-ES" sz="1200" dirty="0"/>
                  <a:t> </a:t>
                </a:r>
                <a14:m>
                  <m:oMath xmlns:m="http://schemas.openxmlformats.org/officeDocument/2006/math">
                    <m:r>
                      <a:rPr lang="es-ES" sz="1200"/>
                      <m:t>0.38</m:t>
                    </m:r>
                  </m:oMath>
                </a14:m>
                <a:r>
                  <a:rPr lang="es-ES" sz="1200" dirty="0" err="1"/>
                  <a:t>across</a:t>
                </a:r>
                <a:r>
                  <a:rPr lang="es-ES" sz="1200" dirty="0"/>
                  <a:t> </a:t>
                </a:r>
                <a:r>
                  <a:rPr lang="es-ES" sz="1200" dirty="0" err="1"/>
                  <a:t>the</a:t>
                </a:r>
                <a:r>
                  <a:rPr lang="es-ES" sz="1200" dirty="0"/>
                  <a:t> band. </a:t>
                </a:r>
                <a:r>
                  <a:rPr lang="es-ES" sz="1200" dirty="0" err="1"/>
                  <a:t>This</a:t>
                </a:r>
                <a:r>
                  <a:rPr lang="es-ES" sz="1200" dirty="0"/>
                  <a:t> </a:t>
                </a:r>
                <a:r>
                  <a:rPr lang="es-ES" sz="1200" dirty="0" err="1"/>
                  <a:t>behavior</a:t>
                </a:r>
                <a:r>
                  <a:rPr lang="es-ES" sz="1200" dirty="0"/>
                  <a:t> </a:t>
                </a:r>
                <a:r>
                  <a:rPr lang="es-ES" sz="1200" dirty="0" err="1"/>
                  <a:t>demonstrates</a:t>
                </a:r>
                <a:r>
                  <a:rPr lang="es-ES" sz="1200" dirty="0"/>
                  <a:t> </a:t>
                </a:r>
                <a:r>
                  <a:rPr lang="es-ES" sz="1200" dirty="0" err="1"/>
                  <a:t>the</a:t>
                </a:r>
                <a:r>
                  <a:rPr lang="es-ES" sz="1200" dirty="0"/>
                  <a:t> </a:t>
                </a:r>
                <a:r>
                  <a:rPr lang="es-ES" sz="1200" dirty="0" err="1"/>
                  <a:t>operating</a:t>
                </a:r>
                <a:r>
                  <a:rPr lang="es-ES" sz="1200" dirty="0"/>
                  <a:t> </a:t>
                </a:r>
                <a:r>
                  <a:rPr lang="es-ES" sz="1200" dirty="0" err="1"/>
                  <a:t>mechanism</a:t>
                </a:r>
                <a:r>
                  <a:rPr lang="es-ES" sz="1200" dirty="0"/>
                  <a:t> </a:t>
                </a:r>
                <a:r>
                  <a:rPr lang="es-ES" sz="1200" dirty="0" err="1"/>
                  <a:t>of</a:t>
                </a:r>
                <a:r>
                  <a:rPr lang="es-ES" sz="1200" dirty="0"/>
                  <a:t> </a:t>
                </a:r>
                <a:r>
                  <a:rPr lang="es-ES" sz="1200" dirty="0" err="1"/>
                  <a:t>index-modulated</a:t>
                </a:r>
                <a:r>
                  <a:rPr lang="es-ES" sz="1200" dirty="0"/>
                  <a:t> MZIs </a:t>
                </a:r>
                <a:r>
                  <a:rPr lang="es-ES" sz="1200" dirty="0" err="1"/>
                  <a:t>utilized</a:t>
                </a:r>
                <a:r>
                  <a:rPr lang="es-ES" sz="1200" dirty="0"/>
                  <a:t> in </a:t>
                </a:r>
                <a:r>
                  <a:rPr lang="es-ES" sz="1200" dirty="0" err="1"/>
                  <a:t>tunable</a:t>
                </a:r>
                <a:r>
                  <a:rPr lang="es-ES" sz="1200" dirty="0"/>
                  <a:t> </a:t>
                </a:r>
                <a:r>
                  <a:rPr lang="es-ES" sz="1200" dirty="0" err="1"/>
                  <a:t>optical</a:t>
                </a:r>
                <a:r>
                  <a:rPr lang="es-ES" sz="1200" dirty="0"/>
                  <a:t> </a:t>
                </a:r>
                <a:r>
                  <a:rPr lang="es-ES" sz="1200" dirty="0" err="1"/>
                  <a:t>power</a:t>
                </a:r>
                <a:r>
                  <a:rPr lang="es-ES" sz="1200" dirty="0"/>
                  <a:t> </a:t>
                </a:r>
                <a:r>
                  <a:rPr lang="es-ES" sz="1200" dirty="0" err="1"/>
                  <a:t>splitters</a:t>
                </a:r>
                <a:r>
                  <a:rPr lang="es-ES" sz="1200" dirty="0"/>
                  <a:t>, </a:t>
                </a:r>
                <a:r>
                  <a:rPr lang="es-ES" sz="1200" dirty="0" err="1"/>
                  <a:t>phase</a:t>
                </a:r>
                <a:r>
                  <a:rPr lang="es-ES" sz="1200" dirty="0"/>
                  <a:t> </a:t>
                </a:r>
                <a:r>
                  <a:rPr lang="es-ES" sz="1200" dirty="0" err="1"/>
                  <a:t>modulators</a:t>
                </a:r>
                <a:r>
                  <a:rPr lang="es-ES" sz="1200" dirty="0"/>
                  <a:t>, and </a:t>
                </a:r>
                <a:r>
                  <a:rPr lang="es-ES" sz="1200" dirty="0" err="1"/>
                  <a:t>evanescent</a:t>
                </a:r>
                <a:r>
                  <a:rPr lang="es-ES" sz="1200" dirty="0"/>
                  <a:t> wave </a:t>
                </a:r>
                <a:r>
                  <a:rPr lang="es-ES" sz="1200" dirty="0" err="1"/>
                  <a:t>refractometric</a:t>
                </a:r>
                <a:r>
                  <a:rPr lang="es-ES" sz="1200" dirty="0"/>
                  <a:t> </a:t>
                </a:r>
                <a:r>
                  <a:rPr lang="es-ES" sz="1200" dirty="0" err="1"/>
                  <a:t>sensors</a:t>
                </a:r>
                <a:r>
                  <a:rPr lang="es-ES" sz="1200" dirty="0"/>
                  <a:t>.</a:t>
                </a:r>
              </a:p>
              <a:p>
                <a:pPr algn="just"/>
                <a:endParaRPr lang="en-US" sz="10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E4CA8118-8859-CDBB-B57C-29540F723B77}"/>
                  </a:ext>
                </a:extLst>
              </p:cNvPr>
              <p:cNvSpPr txBox="1">
                <a:spLocks noRot="1" noChangeAspect="1" noMove="1" noResize="1" noEditPoints="1" noAdjustHandles="1" noChangeArrowheads="1" noChangeShapeType="1" noTextEdit="1"/>
              </p:cNvSpPr>
              <p:nvPr/>
            </p:nvSpPr>
            <p:spPr>
              <a:xfrm>
                <a:off x="685800" y="1692984"/>
                <a:ext cx="7010400" cy="3009798"/>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906B8244-956F-A036-6D9D-4078E63C38D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4" name="Imagen 3">
            <a:extLst>
              <a:ext uri="{FF2B5EF4-FFF2-40B4-BE49-F238E27FC236}">
                <a16:creationId xmlns:a16="http://schemas.microsoft.com/office/drawing/2014/main" id="{553B85E9-F7E9-A28C-CCDF-53753749DD26}"/>
              </a:ext>
            </a:extLst>
          </p:cNvPr>
          <p:cNvPicPr>
            <a:picLocks noChangeAspect="1"/>
          </p:cNvPicPr>
          <p:nvPr/>
        </p:nvPicPr>
        <p:blipFill>
          <a:blip r:embed="rId5"/>
          <a:stretch>
            <a:fillRect/>
          </a:stretch>
        </p:blipFill>
        <p:spPr>
          <a:xfrm>
            <a:off x="7724913" y="1686065"/>
            <a:ext cx="4057650" cy="3016717"/>
          </a:xfrm>
          <a:prstGeom prst="rect">
            <a:avLst/>
          </a:prstGeom>
        </p:spPr>
      </p:pic>
    </p:spTree>
    <p:extLst>
      <p:ext uri="{BB962C8B-B14F-4D97-AF65-F5344CB8AC3E}">
        <p14:creationId xmlns:p14="http://schemas.microsoft.com/office/powerpoint/2010/main" val="3819656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0C547-697A-65F1-1D50-F868A66F7C9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15A28D2-67A7-6821-BA35-82E9CFF48E32}"/>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Unbalanced: Delay imbalance–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6ED8FF10-B01B-BAC0-1A9E-AB9964CB22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3602EE2-4013-967E-2220-6802230F8709}"/>
              </a:ext>
            </a:extLst>
          </p:cNvPr>
          <p:cNvSpPr>
            <a:spLocks noGrp="1"/>
          </p:cNvSpPr>
          <p:nvPr>
            <p:ph type="sldNum" sz="quarter" idx="7"/>
          </p:nvPr>
        </p:nvSpPr>
        <p:spPr/>
        <p:txBody>
          <a:bodyPr/>
          <a:lstStyle/>
          <a:p>
            <a:fld id="{B6F15528-21DE-4FAA-801E-634DDDAF4B2B}" type="slidenum">
              <a:rPr lang="es-ES" smtClean="0"/>
              <a:t>6</a:t>
            </a:fld>
            <a:endParaRPr lang="es-ES"/>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E738490F-37FA-22B4-5960-7BD75C19C0A7}"/>
                  </a:ext>
                </a:extLst>
              </p:cNvPr>
              <p:cNvSpPr txBox="1"/>
              <p:nvPr/>
            </p:nvSpPr>
            <p:spPr>
              <a:xfrm>
                <a:off x="810905" y="3886200"/>
                <a:ext cx="10744200" cy="1992981"/>
              </a:xfrm>
              <a:prstGeom prst="rect">
                <a:avLst/>
              </a:prstGeom>
              <a:solidFill>
                <a:schemeClr val="bg1">
                  <a:lumMod val="95000"/>
                </a:schemeClr>
              </a:solidFill>
              <a:ln w="28575">
                <a:solidFill>
                  <a:srgbClr val="E0700D"/>
                </a:solidFill>
              </a:ln>
            </p:spPr>
            <p:txBody>
              <a:bodyPr wrap="square" rtlCol="0">
                <a:spAutoFit/>
              </a:bodyPr>
              <a:lstStyle/>
              <a:p>
                <a:pPr lvl="0"/>
                <a:r>
                  <a:rPr lang="es-ES" sz="1200" dirty="0"/>
                  <a:t>Smaller </a:t>
                </a:r>
                <a14:m>
                  <m:oMath xmlns:m="http://schemas.openxmlformats.org/officeDocument/2006/math">
                    <m:r>
                      <m:rPr>
                        <m:sty m:val="p"/>
                      </m:rPr>
                      <a:rPr lang="es-ES" sz="1200" b="0"/>
                      <m:t>Δ</m:t>
                    </m:r>
                    <m:r>
                      <a:rPr lang="es-ES" sz="1200" b="0" i="1"/>
                      <m:t>𝐿</m:t>
                    </m:r>
                  </m:oMath>
                </a14:m>
                <a:r>
                  <a:rPr lang="es-ES" sz="1200" dirty="0"/>
                  <a:t>: With a </a:t>
                </a:r>
                <a:r>
                  <a:rPr lang="es-ES" sz="1200" dirty="0" err="1"/>
                  <a:t>minimized</a:t>
                </a:r>
                <a:r>
                  <a:rPr lang="es-ES" sz="1200" dirty="0"/>
                  <a:t> </a:t>
                </a:r>
                <a:r>
                  <a:rPr lang="es-ES" sz="1200" dirty="0" err="1"/>
                  <a:t>path</a:t>
                </a:r>
                <a:r>
                  <a:rPr lang="es-ES" sz="1200" dirty="0"/>
                  <a:t> </a:t>
                </a:r>
                <a:r>
                  <a:rPr lang="es-ES" sz="1200" dirty="0" err="1"/>
                  <a:t>difference</a:t>
                </a:r>
                <a:r>
                  <a:rPr lang="es-ES" sz="1200" dirty="0"/>
                  <a:t>, </a:t>
                </a:r>
                <a:r>
                  <a:rPr lang="es-ES" sz="1200" dirty="0" err="1"/>
                  <a:t>the</a:t>
                </a:r>
                <a:r>
                  <a:rPr lang="es-ES" sz="1200" dirty="0"/>
                  <a:t> </a:t>
                </a:r>
                <a:r>
                  <a:rPr lang="es-ES" sz="1200" dirty="0" err="1"/>
                  <a:t>chromatic</a:t>
                </a:r>
                <a:r>
                  <a:rPr lang="es-ES" sz="1200" dirty="0"/>
                  <a:t> </a:t>
                </a:r>
                <a:r>
                  <a:rPr lang="es-ES" sz="1200" dirty="0" err="1"/>
                  <a:t>phase</a:t>
                </a:r>
                <a:r>
                  <a:rPr lang="es-ES" sz="1200" dirty="0"/>
                  <a:t> </a:t>
                </a:r>
                <a:r>
                  <a:rPr lang="es-ES" sz="1200" dirty="0" err="1"/>
                  <a:t>accumulation</a:t>
                </a:r>
                <a:r>
                  <a:rPr lang="es-ES" sz="1200" dirty="0"/>
                  <a:t> </a:t>
                </a:r>
                <a:r>
                  <a:rPr lang="es-ES" sz="1200" dirty="0" err="1"/>
                  <a:t>rate</a:t>
                </a:r>
                <a:r>
                  <a:rPr lang="es-ES" sz="1200" dirty="0"/>
                  <a:t> (</a:t>
                </a:r>
                <a14:m>
                  <m:oMath xmlns:m="http://schemas.openxmlformats.org/officeDocument/2006/math">
                    <m:f>
                      <m:fPr>
                        <m:ctrlPr>
                          <a:rPr lang="es-ES" sz="1200" b="0" i="1"/>
                        </m:ctrlPr>
                      </m:fPr>
                      <m:num>
                        <m:r>
                          <a:rPr lang="es-ES" sz="1200" b="0" i="1"/>
                          <m:t>𝑑</m:t>
                        </m:r>
                        <m:r>
                          <m:rPr>
                            <m:sty m:val="p"/>
                          </m:rPr>
                          <a:rPr lang="es-ES" sz="1200" b="0"/>
                          <m:t>Δ</m:t>
                        </m:r>
                        <m:r>
                          <a:rPr lang="es-ES" sz="1200" b="0" i="1"/>
                          <m:t>𝜙</m:t>
                        </m:r>
                      </m:num>
                      <m:den>
                        <m:r>
                          <a:rPr lang="es-ES" sz="1200" b="0" i="1"/>
                          <m:t>𝑑</m:t>
                        </m:r>
                        <m:r>
                          <a:rPr lang="es-ES" sz="1200" b="0" i="1"/>
                          <m:t>𝜆</m:t>
                        </m:r>
                      </m:den>
                    </m:f>
                    <m:r>
                      <a:rPr lang="es-ES" sz="1200" b="0"/>
                      <m:t>∝</m:t>
                    </m:r>
                    <m:r>
                      <m:rPr>
                        <m:sty m:val="p"/>
                      </m:rPr>
                      <a:rPr lang="es-ES" sz="1200" b="0"/>
                      <m:t>Δ</m:t>
                    </m:r>
                    <m:r>
                      <a:rPr lang="es-ES" sz="1200" b="0" i="1"/>
                      <m:t>𝐿</m:t>
                    </m:r>
                  </m:oMath>
                </a14:m>
                <a:r>
                  <a:rPr lang="es-ES" sz="1200" dirty="0"/>
                  <a:t>) </a:t>
                </a:r>
                <a:r>
                  <a:rPr lang="es-ES" sz="1200" dirty="0" err="1"/>
                  <a:t>is</a:t>
                </a:r>
                <a:r>
                  <a:rPr lang="es-ES" sz="1200" dirty="0"/>
                  <a:t> </a:t>
                </a:r>
                <a:r>
                  <a:rPr lang="es-ES" sz="1200" dirty="0" err="1"/>
                  <a:t>exceedingly</a:t>
                </a:r>
                <a:r>
                  <a:rPr lang="es-ES" sz="1200" dirty="0"/>
                  <a:t> </a:t>
                </a:r>
                <a:r>
                  <a:rPr lang="es-ES" sz="1200" dirty="0" err="1"/>
                  <a:t>low</a:t>
                </a:r>
                <a:r>
                  <a:rPr lang="es-ES" sz="1200" dirty="0"/>
                  <a:t>, </a:t>
                </a:r>
                <a:r>
                  <a:rPr lang="es-ES" sz="1200" dirty="0" err="1"/>
                  <a:t>expanding</a:t>
                </a:r>
                <a:r>
                  <a:rPr lang="es-ES" sz="1200" dirty="0"/>
                  <a:t> </a:t>
                </a:r>
                <a:r>
                  <a:rPr lang="es-ES" sz="1200" dirty="0" err="1"/>
                  <a:t>the</a:t>
                </a:r>
                <a:r>
                  <a:rPr lang="es-ES" sz="1200" dirty="0"/>
                  <a:t> </a:t>
                </a:r>
                <a14:m>
                  <m:oMath xmlns:m="http://schemas.openxmlformats.org/officeDocument/2006/math">
                    <m:r>
                      <m:rPr>
                        <m:sty m:val="p"/>
                      </m:rPr>
                      <a:rPr lang="es-ES" sz="1200" b="0"/>
                      <m:t>FSR</m:t>
                    </m:r>
                  </m:oMath>
                </a14:m>
                <a:r>
                  <a:rPr lang="es-ES" sz="1200" dirty="0"/>
                  <a:t> </a:t>
                </a:r>
                <a:r>
                  <a:rPr lang="es-ES" sz="1200" dirty="0" err="1"/>
                  <a:t>well</a:t>
                </a:r>
                <a:r>
                  <a:rPr lang="es-ES" sz="1200" dirty="0"/>
                  <a:t> </a:t>
                </a:r>
                <a:r>
                  <a:rPr lang="es-ES" sz="1200" dirty="0" err="1"/>
                  <a:t>beyond</a:t>
                </a:r>
                <a:r>
                  <a:rPr lang="es-ES" sz="1200" dirty="0"/>
                  <a:t> </a:t>
                </a:r>
                <a:r>
                  <a:rPr lang="es-ES" sz="1200" dirty="0" err="1"/>
                  <a:t>the</a:t>
                </a:r>
                <a:r>
                  <a:rPr lang="es-ES" sz="1200" dirty="0"/>
                  <a:t> 40 nm </a:t>
                </a:r>
                <a:r>
                  <a:rPr lang="es-ES" sz="1200" dirty="0" err="1"/>
                  <a:t>simulation</a:t>
                </a:r>
                <a:r>
                  <a:rPr lang="es-ES" sz="1200" dirty="0"/>
                  <a:t> </a:t>
                </a:r>
                <a:r>
                  <a:rPr lang="es-ES" sz="1200" dirty="0" err="1"/>
                  <a:t>window</a:t>
                </a:r>
                <a:r>
                  <a:rPr lang="es-ES" sz="1200" dirty="0"/>
                  <a:t>. </a:t>
                </a:r>
                <a:r>
                  <a:rPr lang="es-ES" sz="1200" dirty="0" err="1"/>
                  <a:t>Consequently</a:t>
                </a:r>
                <a:r>
                  <a:rPr lang="es-ES" sz="1200" dirty="0"/>
                  <a:t>, </a:t>
                </a:r>
                <a:r>
                  <a:rPr lang="es-ES" sz="1200" dirty="0" err="1"/>
                  <a:t>the</a:t>
                </a:r>
                <a:r>
                  <a:rPr lang="es-ES" sz="1200" dirty="0"/>
                  <a:t> </a:t>
                </a:r>
                <a:r>
                  <a:rPr lang="es-ES" sz="1200" dirty="0" err="1"/>
                  <a:t>spectrum</a:t>
                </a:r>
                <a:r>
                  <a:rPr lang="es-ES" sz="1200" dirty="0"/>
                  <a:t> </a:t>
                </a:r>
                <a:r>
                  <a:rPr lang="es-ES" sz="1200" dirty="0" err="1"/>
                  <a:t>exhibits</a:t>
                </a:r>
                <a:r>
                  <a:rPr lang="es-ES" sz="1200" dirty="0"/>
                  <a:t> </a:t>
                </a:r>
                <a:r>
                  <a:rPr lang="es-ES" sz="1200" dirty="0" err="1"/>
                  <a:t>only</a:t>
                </a:r>
                <a:r>
                  <a:rPr lang="es-ES" sz="1200" dirty="0"/>
                  <a:t> a </a:t>
                </a:r>
                <a:r>
                  <a:rPr lang="es-ES" sz="1200" dirty="0" err="1"/>
                  <a:t>slow</a:t>
                </a:r>
                <a:r>
                  <a:rPr lang="es-ES" sz="1200" dirty="0"/>
                  <a:t>, </a:t>
                </a:r>
                <a:r>
                  <a:rPr lang="es-ES" sz="1200" dirty="0" err="1"/>
                  <a:t>fractional</a:t>
                </a:r>
                <a:r>
                  <a:rPr lang="es-ES" sz="1200" dirty="0"/>
                  <a:t> </a:t>
                </a:r>
                <a:r>
                  <a:rPr lang="es-ES" sz="1200" dirty="0" err="1"/>
                  <a:t>power</a:t>
                </a:r>
                <a:r>
                  <a:rPr lang="es-ES" sz="1200" dirty="0"/>
                  <a:t> transfer </a:t>
                </a:r>
                <a:r>
                  <a:rPr lang="es-ES" sz="1200" dirty="0" err="1"/>
                  <a:t>across</a:t>
                </a:r>
                <a:r>
                  <a:rPr lang="es-ES" sz="1200" dirty="0"/>
                  <a:t> </a:t>
                </a:r>
                <a:r>
                  <a:rPr lang="es-ES" sz="1200" dirty="0" err="1"/>
                  <a:t>the</a:t>
                </a:r>
                <a:r>
                  <a:rPr lang="es-ES" sz="1200" dirty="0"/>
                  <a:t> band, </a:t>
                </a:r>
                <a:r>
                  <a:rPr lang="es-ES" sz="1200" dirty="0" err="1"/>
                  <a:t>which</a:t>
                </a:r>
                <a:r>
                  <a:rPr lang="es-ES" sz="1200" dirty="0"/>
                  <a:t> </a:t>
                </a:r>
                <a:r>
                  <a:rPr lang="es-ES" sz="1200" dirty="0" err="1"/>
                  <a:t>is</a:t>
                </a:r>
                <a:r>
                  <a:rPr lang="es-ES" sz="1200" dirty="0"/>
                  <a:t> </a:t>
                </a:r>
                <a:r>
                  <a:rPr lang="es-ES" sz="1200" dirty="0" err="1"/>
                  <a:t>characteristic</a:t>
                </a:r>
                <a:r>
                  <a:rPr lang="es-ES" sz="1200" dirty="0"/>
                  <a:t> </a:t>
                </a:r>
                <a:r>
                  <a:rPr lang="es-ES" sz="1200" dirty="0" err="1"/>
                  <a:t>of</a:t>
                </a:r>
                <a:r>
                  <a:rPr lang="es-ES" sz="1200" dirty="0"/>
                  <a:t> </a:t>
                </a:r>
                <a:r>
                  <a:rPr lang="es-ES" sz="1200" dirty="0" err="1"/>
                  <a:t>broadband</a:t>
                </a:r>
                <a:r>
                  <a:rPr lang="es-ES" sz="1200" dirty="0"/>
                  <a:t> </a:t>
                </a:r>
                <a:r>
                  <a:rPr lang="es-ES" sz="1200" dirty="0" err="1"/>
                  <a:t>coarse</a:t>
                </a:r>
                <a:r>
                  <a:rPr lang="es-ES" sz="1200" dirty="0"/>
                  <a:t> </a:t>
                </a:r>
                <a:r>
                  <a:rPr lang="es-ES" sz="1200" dirty="0" err="1"/>
                  <a:t>splitters</a:t>
                </a:r>
                <a:r>
                  <a:rPr lang="es-ES" sz="1200" dirty="0"/>
                  <a:t>.</a:t>
                </a:r>
              </a:p>
              <a:p>
                <a:pPr lvl="0"/>
                <a:endParaRPr lang="es-ES" sz="1200" dirty="0"/>
              </a:p>
              <a:p>
                <a:pPr lvl="0"/>
                <a:r>
                  <a:rPr lang="es-ES" sz="1200" dirty="0" err="1"/>
                  <a:t>Intermediate</a:t>
                </a:r>
                <a:r>
                  <a:rPr lang="es-ES" sz="1200" dirty="0"/>
                  <a:t> </a:t>
                </a:r>
                <a14:m>
                  <m:oMath xmlns:m="http://schemas.openxmlformats.org/officeDocument/2006/math">
                    <m:r>
                      <m:rPr>
                        <m:sty m:val="p"/>
                      </m:rPr>
                      <a:rPr lang="es-ES" sz="1200" b="0"/>
                      <m:t>Δ</m:t>
                    </m:r>
                    <m:r>
                      <a:rPr lang="es-ES" sz="1200" b="0" i="1"/>
                      <m:t>𝐿</m:t>
                    </m:r>
                  </m:oMath>
                </a14:m>
                <a:r>
                  <a:rPr lang="es-ES" sz="1200" dirty="0"/>
                  <a:t>: </a:t>
                </a:r>
                <a:r>
                  <a:rPr lang="es-ES" sz="1200" dirty="0" err="1"/>
                  <a:t>Operating</a:t>
                </a:r>
                <a:r>
                  <a:rPr lang="es-ES" sz="1200" dirty="0"/>
                  <a:t> at a </a:t>
                </a:r>
                <a:r>
                  <a:rPr lang="es-ES" sz="1200" dirty="0" err="1"/>
                  <a:t>moderate</a:t>
                </a:r>
                <a:r>
                  <a:rPr lang="es-ES" sz="1200" dirty="0"/>
                  <a:t> </a:t>
                </a:r>
                <a:r>
                  <a:rPr lang="es-ES" sz="1200" dirty="0" err="1"/>
                  <a:t>delay</a:t>
                </a:r>
                <a:r>
                  <a:rPr lang="es-ES" sz="1200" dirty="0"/>
                  <a:t> </a:t>
                </a:r>
                <a:r>
                  <a:rPr lang="es-ES" sz="1200" dirty="0" err="1"/>
                  <a:t>provides</a:t>
                </a:r>
                <a:r>
                  <a:rPr lang="es-ES" sz="1200" dirty="0"/>
                  <a:t> a </a:t>
                </a:r>
                <a:r>
                  <a:rPr lang="es-ES" sz="1200" dirty="0" err="1"/>
                  <a:t>balanced</a:t>
                </a:r>
                <a:r>
                  <a:rPr lang="es-ES" sz="1200" dirty="0"/>
                  <a:t> </a:t>
                </a:r>
                <a:r>
                  <a:rPr lang="es-ES" sz="1200" dirty="0" err="1"/>
                  <a:t>spectral</a:t>
                </a:r>
                <a:r>
                  <a:rPr lang="es-ES" sz="1200" dirty="0"/>
                  <a:t> </a:t>
                </a:r>
                <a:r>
                  <a:rPr lang="es-ES" sz="1200" dirty="0" err="1"/>
                  <a:t>periodicity</a:t>
                </a:r>
                <a:r>
                  <a:rPr lang="es-ES" sz="1200" dirty="0"/>
                  <a:t>, </a:t>
                </a:r>
                <a:r>
                  <a:rPr lang="es-ES" sz="1200" dirty="0" err="1"/>
                  <a:t>resolving</a:t>
                </a:r>
                <a:r>
                  <a:rPr lang="es-ES" sz="1200" dirty="0"/>
                  <a:t> </a:t>
                </a:r>
                <a:r>
                  <a:rPr lang="es-ES" sz="1200" dirty="0" err="1"/>
                  <a:t>approximately</a:t>
                </a:r>
                <a:r>
                  <a:rPr lang="es-ES" sz="1200" dirty="0"/>
                  <a:t> </a:t>
                </a:r>
                <a:r>
                  <a:rPr lang="es-ES" sz="1200" dirty="0" err="1"/>
                  <a:t>two</a:t>
                </a:r>
                <a:r>
                  <a:rPr lang="es-ES" sz="1200" dirty="0"/>
                  <a:t> complete </a:t>
                </a:r>
                <a:r>
                  <a:rPr lang="es-ES" sz="1200" dirty="0" err="1"/>
                  <a:t>interference</a:t>
                </a:r>
                <a:r>
                  <a:rPr lang="es-ES" sz="1200" dirty="0"/>
                  <a:t> </a:t>
                </a:r>
                <a:r>
                  <a:rPr lang="es-ES" sz="1200" dirty="0" err="1"/>
                  <a:t>cycles</a:t>
                </a:r>
                <a:r>
                  <a:rPr lang="es-ES" sz="1200" dirty="0"/>
                  <a:t> </a:t>
                </a:r>
                <a:r>
                  <a:rPr lang="es-ES" sz="1200" dirty="0" err="1"/>
                  <a:t>within</a:t>
                </a:r>
                <a:r>
                  <a:rPr lang="es-ES" sz="1200" dirty="0"/>
                  <a:t> </a:t>
                </a:r>
                <a:r>
                  <a:rPr lang="es-ES" sz="1200" dirty="0" err="1"/>
                  <a:t>the</a:t>
                </a:r>
                <a:r>
                  <a:rPr lang="es-ES" sz="1200" dirty="0"/>
                  <a:t> C-band </a:t>
                </a:r>
                <a:r>
                  <a:rPr lang="es-ES" sz="1200" dirty="0" err="1"/>
                  <a:t>window</a:t>
                </a:r>
                <a:r>
                  <a:rPr lang="es-ES" sz="1200" dirty="0"/>
                  <a:t>.</a:t>
                </a:r>
              </a:p>
              <a:p>
                <a:pPr lvl="0"/>
                <a:endParaRPr lang="es-ES" sz="1200" dirty="0"/>
              </a:p>
              <a:p>
                <a:pPr lvl="0"/>
                <a:r>
                  <a:rPr lang="es-ES" sz="1200" dirty="0"/>
                  <a:t>Bigger </a:t>
                </a:r>
                <a14:m>
                  <m:oMath xmlns:m="http://schemas.openxmlformats.org/officeDocument/2006/math">
                    <m:r>
                      <m:rPr>
                        <m:sty m:val="p"/>
                      </m:rPr>
                      <a:rPr lang="es-ES" sz="1200" b="0"/>
                      <m:t>Δ</m:t>
                    </m:r>
                    <m:r>
                      <a:rPr lang="es-ES" sz="1200" b="0" i="1"/>
                      <m:t>𝐿</m:t>
                    </m:r>
                  </m:oMath>
                </a14:m>
                <a:r>
                  <a:rPr lang="es-ES" sz="1200" dirty="0"/>
                  <a:t>: </a:t>
                </a:r>
                <a:r>
                  <a:rPr lang="es-ES" sz="1200" dirty="0" err="1"/>
                  <a:t>Substantially</a:t>
                </a:r>
                <a:r>
                  <a:rPr lang="es-ES" sz="1200" dirty="0"/>
                  <a:t> </a:t>
                </a:r>
                <a:r>
                  <a:rPr lang="es-ES" sz="1200" dirty="0" err="1"/>
                  <a:t>increasing</a:t>
                </a:r>
                <a:r>
                  <a:rPr lang="es-ES" sz="1200" dirty="0"/>
                  <a:t> </a:t>
                </a:r>
                <a:r>
                  <a:rPr lang="es-ES" sz="1200" dirty="0" err="1"/>
                  <a:t>the</a:t>
                </a:r>
                <a:r>
                  <a:rPr lang="es-ES" sz="1200" dirty="0"/>
                  <a:t> </a:t>
                </a:r>
                <a:r>
                  <a:rPr lang="es-ES" sz="1200" dirty="0" err="1"/>
                  <a:t>arm</a:t>
                </a:r>
                <a:r>
                  <a:rPr lang="es-ES" sz="1200" dirty="0"/>
                  <a:t> </a:t>
                </a:r>
                <a:r>
                  <a:rPr lang="es-ES" sz="1200" dirty="0" err="1"/>
                  <a:t>difference</a:t>
                </a:r>
                <a:r>
                  <a:rPr lang="es-ES" sz="1200" dirty="0"/>
                  <a:t> </a:t>
                </a:r>
                <a:r>
                  <a:rPr lang="es-ES" sz="1200" dirty="0" err="1"/>
                  <a:t>accelerates</a:t>
                </a:r>
                <a:r>
                  <a:rPr lang="es-ES" sz="1200" dirty="0"/>
                  <a:t> </a:t>
                </a:r>
                <a:r>
                  <a:rPr lang="es-ES" sz="1200" dirty="0" err="1"/>
                  <a:t>the</a:t>
                </a:r>
                <a:r>
                  <a:rPr lang="es-ES" sz="1200" dirty="0"/>
                  <a:t> </a:t>
                </a:r>
                <a:r>
                  <a:rPr lang="es-ES" sz="1200" dirty="0" err="1"/>
                  <a:t>phase</a:t>
                </a:r>
                <a:r>
                  <a:rPr lang="es-ES" sz="1200" dirty="0"/>
                  <a:t> </a:t>
                </a:r>
                <a:r>
                  <a:rPr lang="es-ES" sz="1200" dirty="0" err="1"/>
                  <a:t>cycling</a:t>
                </a:r>
                <a:r>
                  <a:rPr lang="es-ES" sz="1200" dirty="0"/>
                  <a:t>, </a:t>
                </a:r>
                <a:r>
                  <a:rPr lang="es-ES" sz="1200" dirty="0" err="1"/>
                  <a:t>compressing</a:t>
                </a:r>
                <a:r>
                  <a:rPr lang="es-ES" sz="1200" dirty="0"/>
                  <a:t> </a:t>
                </a:r>
                <a:r>
                  <a:rPr lang="es-ES" sz="1200" dirty="0" err="1"/>
                  <a:t>the</a:t>
                </a:r>
                <a:r>
                  <a:rPr lang="es-ES" sz="1200" dirty="0"/>
                  <a:t> </a:t>
                </a:r>
                <a14:m>
                  <m:oMath xmlns:m="http://schemas.openxmlformats.org/officeDocument/2006/math">
                    <m:r>
                      <m:rPr>
                        <m:sty m:val="p"/>
                      </m:rPr>
                      <a:rPr lang="es-ES" sz="1200" b="0"/>
                      <m:t>FSR</m:t>
                    </m:r>
                  </m:oMath>
                </a14:m>
                <a:r>
                  <a:rPr lang="es-ES" sz="1200" dirty="0" err="1"/>
                  <a:t>down</a:t>
                </a:r>
                <a:r>
                  <a:rPr lang="es-ES" sz="1200" dirty="0"/>
                  <a:t> </a:t>
                </a:r>
                <a:r>
                  <a:rPr lang="es-ES" sz="1200" dirty="0" err="1"/>
                  <a:t>to</a:t>
                </a:r>
                <a:r>
                  <a:rPr lang="es-ES" sz="1200" dirty="0"/>
                  <a:t> dense </a:t>
                </a:r>
                <a:r>
                  <a:rPr lang="es-ES" sz="1200" dirty="0" err="1"/>
                  <a:t>interference</a:t>
                </a:r>
                <a:r>
                  <a:rPr lang="es-ES" sz="1200" dirty="0"/>
                  <a:t> </a:t>
                </a:r>
                <a:r>
                  <a:rPr lang="es-ES" sz="1200" dirty="0" err="1"/>
                  <a:t>fringes</a:t>
                </a:r>
                <a:r>
                  <a:rPr lang="es-ES" sz="1200" dirty="0"/>
                  <a:t> </a:t>
                </a:r>
                <a:r>
                  <a:rPr lang="es-ES" sz="1200" dirty="0" err="1"/>
                  <a:t>with</a:t>
                </a:r>
                <a:r>
                  <a:rPr lang="es-ES" sz="1200" dirty="0"/>
                  <a:t> </a:t>
                </a:r>
                <a:r>
                  <a:rPr lang="es-ES" sz="1200" dirty="0" err="1"/>
                  <a:t>steep</a:t>
                </a:r>
                <a:r>
                  <a:rPr lang="es-ES" sz="1200" dirty="0"/>
                  <a:t> </a:t>
                </a:r>
                <a:r>
                  <a:rPr lang="es-ES" sz="1200" dirty="0" err="1"/>
                  <a:t>transmission</a:t>
                </a:r>
                <a:r>
                  <a:rPr lang="es-ES" sz="1200" dirty="0"/>
                  <a:t> roll-</a:t>
                </a:r>
                <a:r>
                  <a:rPr lang="es-ES" sz="1200" dirty="0" err="1"/>
                  <a:t>offs</a:t>
                </a:r>
                <a:r>
                  <a:rPr lang="es-ES" sz="1200" dirty="0"/>
                  <a:t>. </a:t>
                </a:r>
                <a:r>
                  <a:rPr lang="es-ES" sz="1200" dirty="0" err="1"/>
                  <a:t>This</a:t>
                </a:r>
                <a:r>
                  <a:rPr lang="es-ES" sz="1200" dirty="0"/>
                  <a:t> </a:t>
                </a:r>
                <a:r>
                  <a:rPr lang="es-ES" sz="1200" dirty="0" err="1"/>
                  <a:t>high</a:t>
                </a:r>
                <a:r>
                  <a:rPr lang="es-ES" sz="1200" dirty="0"/>
                  <a:t> </a:t>
                </a:r>
                <a:r>
                  <a:rPr lang="es-ES" sz="1200" dirty="0" err="1"/>
                  <a:t>fringe</a:t>
                </a:r>
                <a:r>
                  <a:rPr lang="es-ES" sz="1200" dirty="0"/>
                  <a:t> </a:t>
                </a:r>
                <a:r>
                  <a:rPr lang="es-ES" sz="1200" dirty="0" err="1"/>
                  <a:t>density</a:t>
                </a:r>
                <a:r>
                  <a:rPr lang="es-ES" sz="1200" dirty="0"/>
                  <a:t> </a:t>
                </a:r>
                <a:r>
                  <a:rPr lang="es-ES" sz="1200" dirty="0" err="1"/>
                  <a:t>provides</a:t>
                </a:r>
                <a:r>
                  <a:rPr lang="es-ES" sz="1200" dirty="0"/>
                  <a:t> </a:t>
                </a:r>
                <a:r>
                  <a:rPr lang="es-ES" sz="1200" dirty="0" err="1"/>
                  <a:t>the</a:t>
                </a:r>
                <a:r>
                  <a:rPr lang="es-ES" sz="1200" dirty="0"/>
                  <a:t> </a:t>
                </a:r>
                <a:r>
                  <a:rPr lang="es-ES" sz="1200" dirty="0" err="1"/>
                  <a:t>narrow</a:t>
                </a:r>
                <a:r>
                  <a:rPr lang="es-ES" sz="1200" dirty="0"/>
                  <a:t> </a:t>
                </a:r>
                <a:r>
                  <a:rPr lang="es-ES" sz="1200" dirty="0" err="1"/>
                  <a:t>passbands</a:t>
                </a:r>
                <a:r>
                  <a:rPr lang="es-ES" sz="1200" dirty="0"/>
                  <a:t> and </a:t>
                </a:r>
                <a:r>
                  <a:rPr lang="es-ES" sz="1200" dirty="0" err="1"/>
                  <a:t>sharp</a:t>
                </a:r>
                <a:r>
                  <a:rPr lang="es-ES" sz="1200" dirty="0"/>
                  <a:t> </a:t>
                </a:r>
                <a:r>
                  <a:rPr lang="es-ES" sz="1200" dirty="0" err="1"/>
                  <a:t>out</a:t>
                </a:r>
                <a:r>
                  <a:rPr lang="es-ES" sz="1200" dirty="0"/>
                  <a:t>-</a:t>
                </a:r>
                <a:r>
                  <a:rPr lang="es-ES" sz="1200" dirty="0" err="1"/>
                  <a:t>of</a:t>
                </a:r>
                <a:r>
                  <a:rPr lang="es-ES" sz="1200" dirty="0"/>
                  <a:t>-band </a:t>
                </a:r>
                <a:r>
                  <a:rPr lang="es-ES" sz="1200" dirty="0" err="1"/>
                  <a:t>rejection</a:t>
                </a:r>
                <a:r>
                  <a:rPr lang="es-ES" sz="1200" dirty="0"/>
                  <a:t> </a:t>
                </a:r>
                <a:r>
                  <a:rPr lang="es-ES" sz="1200" dirty="0" err="1"/>
                  <a:t>required</a:t>
                </a:r>
                <a:r>
                  <a:rPr lang="es-ES" sz="1200" dirty="0"/>
                  <a:t> </a:t>
                </a:r>
                <a:r>
                  <a:rPr lang="es-ES" sz="1200" dirty="0" err="1"/>
                  <a:t>for</a:t>
                </a:r>
                <a:r>
                  <a:rPr lang="es-ES" sz="1200" dirty="0"/>
                  <a:t> </a:t>
                </a:r>
                <a:r>
                  <a:rPr lang="es-ES" sz="1200" dirty="0" err="1"/>
                  <a:t>wavelength-division</a:t>
                </a:r>
                <a:r>
                  <a:rPr lang="es-ES" sz="1200" dirty="0"/>
                  <a:t> </a:t>
                </a:r>
                <a:r>
                  <a:rPr lang="es-ES" sz="1200" dirty="0" err="1"/>
                  <a:t>multiplexing</a:t>
                </a:r>
                <a:r>
                  <a:rPr lang="es-ES" sz="1200" dirty="0"/>
                  <a:t> (WDM) and </a:t>
                </a:r>
                <a:r>
                  <a:rPr lang="es-ES" sz="1200" dirty="0" err="1"/>
                  <a:t>optical</a:t>
                </a:r>
                <a:r>
                  <a:rPr lang="es-ES" sz="1200" dirty="0"/>
                  <a:t> </a:t>
                </a:r>
                <a:r>
                  <a:rPr lang="es-ES" sz="1200" dirty="0" err="1"/>
                  <a:t>channel</a:t>
                </a:r>
                <a:r>
                  <a:rPr lang="es-ES" sz="1200" dirty="0"/>
                  <a:t> </a:t>
                </a:r>
                <a:r>
                  <a:rPr lang="es-ES" sz="1200" dirty="0" err="1"/>
                  <a:t>filtering</a:t>
                </a:r>
                <a:endParaRPr lang="es-ES" sz="1200" dirty="0"/>
              </a:p>
              <a:p>
                <a:pPr algn="just"/>
                <a:endParaRPr lang="en-US" sz="10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E738490F-37FA-22B4-5960-7BD75C19C0A7}"/>
                  </a:ext>
                </a:extLst>
              </p:cNvPr>
              <p:cNvSpPr txBox="1">
                <a:spLocks noRot="1" noChangeAspect="1" noMove="1" noResize="1" noEditPoints="1" noAdjustHandles="1" noChangeArrowheads="1" noChangeShapeType="1" noTextEdit="1"/>
              </p:cNvSpPr>
              <p:nvPr/>
            </p:nvSpPr>
            <p:spPr>
              <a:xfrm>
                <a:off x="810905" y="3886200"/>
                <a:ext cx="10744200" cy="1992981"/>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DA1B3C6E-1D02-7CF6-F979-8ADBFE96AA16}"/>
              </a:ext>
            </a:extLst>
          </p:cNvPr>
          <p:cNvSpPr>
            <a:spLocks noGrp="1"/>
          </p:cNvSpPr>
          <p:nvPr>
            <p:ph type="ftr" sz="quarter" idx="5"/>
          </p:nvPr>
        </p:nvSpPr>
        <p:spPr>
          <a:xfrm>
            <a:off x="609600" y="6457057"/>
            <a:ext cx="2743200" cy="184666"/>
          </a:xfrm>
        </p:spPr>
        <p:txBody>
          <a:bodyPr/>
          <a:lstStyle/>
          <a:p>
            <a:pPr marL="12700">
              <a:spcBef>
                <a:spcPts val="15"/>
              </a:spcBef>
            </a:pPr>
            <a:r>
              <a:rPr lang="es-ES" spc="-5" dirty="0"/>
              <a:t>LAB 3. INTERFEROMETERS I</a:t>
            </a:r>
          </a:p>
        </p:txBody>
      </p:sp>
      <p:pic>
        <p:nvPicPr>
          <p:cNvPr id="6" name="Imagen 5">
            <a:extLst>
              <a:ext uri="{FF2B5EF4-FFF2-40B4-BE49-F238E27FC236}">
                <a16:creationId xmlns:a16="http://schemas.microsoft.com/office/drawing/2014/main" id="{5A739789-9BCC-B8E9-268F-1C7F31407F4F}"/>
              </a:ext>
            </a:extLst>
          </p:cNvPr>
          <p:cNvPicPr>
            <a:picLocks noChangeAspect="1"/>
          </p:cNvPicPr>
          <p:nvPr/>
        </p:nvPicPr>
        <p:blipFill>
          <a:blip r:embed="rId5"/>
          <a:stretch>
            <a:fillRect/>
          </a:stretch>
        </p:blipFill>
        <p:spPr>
          <a:xfrm>
            <a:off x="816171" y="1167218"/>
            <a:ext cx="3451029" cy="2656884"/>
          </a:xfrm>
          <a:prstGeom prst="rect">
            <a:avLst/>
          </a:prstGeom>
        </p:spPr>
      </p:pic>
      <p:pic>
        <p:nvPicPr>
          <p:cNvPr id="8" name="Imagen 7">
            <a:extLst>
              <a:ext uri="{FF2B5EF4-FFF2-40B4-BE49-F238E27FC236}">
                <a16:creationId xmlns:a16="http://schemas.microsoft.com/office/drawing/2014/main" id="{43DDFA21-1FA6-79A9-E551-FABB059761E2}"/>
              </a:ext>
            </a:extLst>
          </p:cNvPr>
          <p:cNvPicPr>
            <a:picLocks noChangeAspect="1"/>
          </p:cNvPicPr>
          <p:nvPr/>
        </p:nvPicPr>
        <p:blipFill>
          <a:blip r:embed="rId6"/>
          <a:stretch>
            <a:fillRect/>
          </a:stretch>
        </p:blipFill>
        <p:spPr>
          <a:xfrm>
            <a:off x="8305800" y="1232315"/>
            <a:ext cx="3352800" cy="2598848"/>
          </a:xfrm>
          <a:prstGeom prst="rect">
            <a:avLst/>
          </a:prstGeom>
        </p:spPr>
      </p:pic>
      <p:pic>
        <p:nvPicPr>
          <p:cNvPr id="10" name="Imagen 9">
            <a:extLst>
              <a:ext uri="{FF2B5EF4-FFF2-40B4-BE49-F238E27FC236}">
                <a16:creationId xmlns:a16="http://schemas.microsoft.com/office/drawing/2014/main" id="{5CFA4D0D-E1E3-116A-830A-6D360D0B8A30}"/>
              </a:ext>
            </a:extLst>
          </p:cNvPr>
          <p:cNvPicPr>
            <a:picLocks noChangeAspect="1"/>
          </p:cNvPicPr>
          <p:nvPr/>
        </p:nvPicPr>
        <p:blipFill>
          <a:blip r:embed="rId7"/>
          <a:stretch>
            <a:fillRect/>
          </a:stretch>
        </p:blipFill>
        <p:spPr>
          <a:xfrm>
            <a:off x="4572000" y="1191148"/>
            <a:ext cx="3289865" cy="2640015"/>
          </a:xfrm>
          <a:prstGeom prst="rect">
            <a:avLst/>
          </a:prstGeom>
        </p:spPr>
      </p:pic>
    </p:spTree>
    <p:extLst>
      <p:ext uri="{BB962C8B-B14F-4D97-AF65-F5344CB8AC3E}">
        <p14:creationId xmlns:p14="http://schemas.microsoft.com/office/powerpoint/2010/main" val="1519056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60EA3-C926-1DC2-4E1F-445F9BBBD17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E314632-D283-B19B-0532-53B9B892D0CF}"/>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Unbalanced: Amplitude imbalance–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DBB92B70-9AF4-DD0A-C587-940152F3A0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973F9AE-3584-4CC9-9041-18D75199D937}"/>
              </a:ext>
            </a:extLst>
          </p:cNvPr>
          <p:cNvSpPr>
            <a:spLocks noGrp="1"/>
          </p:cNvSpPr>
          <p:nvPr>
            <p:ph type="sldNum" sz="quarter" idx="7"/>
          </p:nvPr>
        </p:nvSpPr>
        <p:spPr/>
        <p:txBody>
          <a:bodyPr/>
          <a:lstStyle/>
          <a:p>
            <a:fld id="{B6F15528-21DE-4FAA-801E-634DDDAF4B2B}" type="slidenum">
              <a:rPr lang="es-ES" smtClean="0"/>
              <a:t>7</a:t>
            </a:fld>
            <a:endParaRPr lang="es-ES"/>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7CFE096-A0A0-9DC9-3E23-9864CC7A02F6}"/>
                  </a:ext>
                </a:extLst>
              </p:cNvPr>
              <p:cNvSpPr txBox="1"/>
              <p:nvPr/>
            </p:nvSpPr>
            <p:spPr>
              <a:xfrm>
                <a:off x="768285" y="4040528"/>
                <a:ext cx="10543572" cy="1938992"/>
              </a:xfrm>
              <a:prstGeom prst="rect">
                <a:avLst/>
              </a:prstGeom>
              <a:solidFill>
                <a:schemeClr val="bg1">
                  <a:lumMod val="95000"/>
                </a:schemeClr>
              </a:solidFill>
              <a:ln w="28575">
                <a:solidFill>
                  <a:srgbClr val="E0700D"/>
                </a:solidFill>
              </a:ln>
            </p:spPr>
            <p:txBody>
              <a:bodyPr wrap="square" rtlCol="0">
                <a:spAutoFit/>
              </a:bodyPr>
              <a:lstStyle/>
              <a:p>
                <a:pPr lvl="0"/>
                <a:r>
                  <a:rPr lang="es-ES" sz="1200" dirty="0"/>
                  <a:t>In </a:t>
                </a:r>
                <a:r>
                  <a:rPr lang="es-ES" sz="1200" dirty="0" err="1"/>
                  <a:t>an</a:t>
                </a:r>
                <a:r>
                  <a:rPr lang="es-ES" sz="1200" dirty="0"/>
                  <a:t> </a:t>
                </a:r>
                <a:r>
                  <a:rPr lang="es-ES" sz="1200" dirty="0" err="1"/>
                  <a:t>unbalanced</a:t>
                </a:r>
                <a:r>
                  <a:rPr lang="es-ES" sz="1200" dirty="0"/>
                  <a:t> Mach-Zehnder </a:t>
                </a:r>
                <a:r>
                  <a:rPr lang="es-ES" sz="1200" dirty="0" err="1"/>
                  <a:t>Interferometer</a:t>
                </a:r>
                <a:r>
                  <a:rPr lang="es-ES" sz="1200" dirty="0"/>
                  <a:t> (MZI), </a:t>
                </a:r>
                <a:r>
                  <a:rPr lang="es-ES" sz="1200" dirty="0" err="1"/>
                  <a:t>achieving</a:t>
                </a:r>
                <a:r>
                  <a:rPr lang="es-ES" sz="1200" dirty="0"/>
                  <a:t> complete destructive </a:t>
                </a:r>
                <a:r>
                  <a:rPr lang="es-ES" sz="1200" dirty="0" err="1"/>
                  <a:t>interference</a:t>
                </a:r>
                <a:r>
                  <a:rPr lang="es-ES" sz="1200" dirty="0"/>
                  <a:t> (</a:t>
                </a:r>
                <a14:m>
                  <m:oMath xmlns:m="http://schemas.openxmlformats.org/officeDocument/2006/math">
                    <m:sSub>
                      <m:sSubPr>
                        <m:ctrlPr>
                          <a:rPr lang="es-ES" sz="1200" i="1"/>
                        </m:ctrlPr>
                      </m:sSubPr>
                      <m:e>
                        <m:r>
                          <a:rPr lang="es-ES" sz="1200" i="1"/>
                          <m:t>𝑇</m:t>
                        </m:r>
                      </m:e>
                      <m:sub>
                        <m:r>
                          <m:rPr>
                            <m:sty m:val="p"/>
                          </m:rPr>
                          <a:rPr lang="es-ES" sz="1200"/>
                          <m:t>min</m:t>
                        </m:r>
                      </m:sub>
                    </m:sSub>
                    <m:r>
                      <a:rPr lang="es-ES" sz="1200"/>
                      <m:t>=0</m:t>
                    </m:r>
                  </m:oMath>
                </a14:m>
                <a:r>
                  <a:rPr lang="es-ES" sz="1200" dirty="0"/>
                  <a:t>) </a:t>
                </a:r>
                <a:r>
                  <a:rPr lang="es-ES" sz="1200" dirty="0" err="1"/>
                  <a:t>requires</a:t>
                </a:r>
                <a:r>
                  <a:rPr lang="es-ES" sz="1200" dirty="0"/>
                  <a:t> </a:t>
                </a:r>
                <a:r>
                  <a:rPr lang="es-ES" sz="1200" dirty="0" err="1"/>
                  <a:t>not</a:t>
                </a:r>
                <a:r>
                  <a:rPr lang="es-ES" sz="1200" dirty="0"/>
                  <a:t> </a:t>
                </a:r>
                <a:r>
                  <a:rPr lang="es-ES" sz="1200" dirty="0" err="1"/>
                  <a:t>only</a:t>
                </a:r>
                <a:r>
                  <a:rPr lang="es-ES" sz="1200" dirty="0"/>
                  <a:t> </a:t>
                </a:r>
                <a:r>
                  <a:rPr lang="es-ES" sz="1200" dirty="0" err="1"/>
                  <a:t>an</a:t>
                </a:r>
                <a:r>
                  <a:rPr lang="es-ES" sz="1200" dirty="0"/>
                  <a:t> </a:t>
                </a:r>
                <a:r>
                  <a:rPr lang="es-ES" sz="1200" dirty="0" err="1"/>
                  <a:t>exact</a:t>
                </a:r>
                <a:r>
                  <a:rPr lang="es-ES" sz="1200" dirty="0"/>
                  <a:t> </a:t>
                </a:r>
                <a:r>
                  <a:rPr lang="es-ES" sz="1200" dirty="0" err="1"/>
                  <a:t>out-of-phase</a:t>
                </a:r>
                <a:r>
                  <a:rPr lang="es-ES" sz="1200" dirty="0"/>
                  <a:t> </a:t>
                </a:r>
                <a:r>
                  <a:rPr lang="es-ES" sz="1200" dirty="0" err="1"/>
                  <a:t>condition</a:t>
                </a:r>
                <a:r>
                  <a:rPr lang="es-ES" sz="1200" dirty="0"/>
                  <a:t> (</a:t>
                </a:r>
                <a14:m>
                  <m:oMath xmlns:m="http://schemas.openxmlformats.org/officeDocument/2006/math">
                    <m:r>
                      <m:rPr>
                        <m:sty m:val="p"/>
                      </m:rPr>
                      <a:rPr lang="es-ES" sz="1200"/>
                      <m:t>Δ</m:t>
                    </m:r>
                    <m:r>
                      <a:rPr lang="es-ES" sz="1200" i="1"/>
                      <m:t>𝜙</m:t>
                    </m:r>
                    <m:r>
                      <a:rPr lang="es-ES" sz="1200"/>
                      <m:t>=</m:t>
                    </m:r>
                    <m:r>
                      <a:rPr lang="es-ES" sz="1200" i="1"/>
                      <m:t>𝜋</m:t>
                    </m:r>
                  </m:oMath>
                </a14:m>
                <a:r>
                  <a:rPr lang="es-ES" sz="1200" dirty="0"/>
                  <a:t>), </a:t>
                </a:r>
                <a:r>
                  <a:rPr lang="es-ES" sz="1200" dirty="0" err="1"/>
                  <a:t>but</a:t>
                </a:r>
                <a:r>
                  <a:rPr lang="es-ES" sz="1200" dirty="0"/>
                  <a:t> </a:t>
                </a:r>
                <a:r>
                  <a:rPr lang="es-ES" sz="1200" dirty="0" err="1"/>
                  <a:t>also</a:t>
                </a:r>
                <a:r>
                  <a:rPr lang="es-ES" sz="1200" dirty="0"/>
                  <a:t> </a:t>
                </a:r>
                <a:r>
                  <a:rPr lang="es-ES" sz="1200" dirty="0" err="1"/>
                  <a:t>strict</a:t>
                </a:r>
                <a:r>
                  <a:rPr lang="es-ES" sz="1200" dirty="0"/>
                  <a:t> </a:t>
                </a:r>
                <a:r>
                  <a:rPr lang="es-ES" sz="1200" dirty="0" err="1"/>
                  <a:t>equality</a:t>
                </a:r>
                <a:r>
                  <a:rPr lang="es-ES" sz="1200" dirty="0"/>
                  <a:t> </a:t>
                </a:r>
                <a:r>
                  <a:rPr lang="es-ES" sz="1200" dirty="0" err="1"/>
                  <a:t>between</a:t>
                </a:r>
                <a:r>
                  <a:rPr lang="es-ES" sz="1200" dirty="0"/>
                  <a:t> </a:t>
                </a:r>
                <a:r>
                  <a:rPr lang="es-ES" sz="1200" dirty="0" err="1"/>
                  <a:t>the</a:t>
                </a:r>
                <a:r>
                  <a:rPr lang="es-ES" sz="1200" dirty="0"/>
                  <a:t> </a:t>
                </a:r>
                <a:r>
                  <a:rPr lang="es-ES" sz="1200" dirty="0" err="1"/>
                  <a:t>interfering</a:t>
                </a:r>
                <a:r>
                  <a:rPr lang="es-ES" sz="1200" dirty="0"/>
                  <a:t> </a:t>
                </a:r>
                <a:r>
                  <a:rPr lang="es-ES" sz="1200" dirty="0" err="1"/>
                  <a:t>electric</a:t>
                </a:r>
                <a:r>
                  <a:rPr lang="es-ES" sz="1200" dirty="0"/>
                  <a:t> </a:t>
                </a:r>
                <a:r>
                  <a:rPr lang="es-ES" sz="1200" dirty="0" err="1"/>
                  <a:t>field</a:t>
                </a:r>
                <a:r>
                  <a:rPr lang="es-ES" sz="1200" dirty="0"/>
                  <a:t> amplitudes (</a:t>
                </a:r>
                <a14:m>
                  <m:oMath xmlns:m="http://schemas.openxmlformats.org/officeDocument/2006/math">
                    <m:r>
                      <a:rPr lang="es-ES" sz="1200"/>
                      <m:t>|</m:t>
                    </m:r>
                    <m:sSub>
                      <m:sSubPr>
                        <m:ctrlPr>
                          <a:rPr lang="es-ES" sz="1200" i="1"/>
                        </m:ctrlPr>
                      </m:sSubPr>
                      <m:e>
                        <m:r>
                          <a:rPr lang="es-ES" sz="1200" i="1"/>
                          <m:t>𝐸</m:t>
                        </m:r>
                      </m:e>
                      <m:sub>
                        <m:r>
                          <a:rPr lang="es-ES" sz="1200"/>
                          <m:t>1</m:t>
                        </m:r>
                      </m:sub>
                    </m:sSub>
                    <m:r>
                      <a:rPr lang="es-ES" sz="1200"/>
                      <m:t>|=|</m:t>
                    </m:r>
                    <m:sSub>
                      <m:sSubPr>
                        <m:ctrlPr>
                          <a:rPr lang="es-ES" sz="1200" i="1"/>
                        </m:ctrlPr>
                      </m:sSubPr>
                      <m:e>
                        <m:r>
                          <a:rPr lang="es-ES" sz="1200" i="1"/>
                          <m:t>𝐸</m:t>
                        </m:r>
                      </m:e>
                      <m:sub>
                        <m:r>
                          <a:rPr lang="es-ES" sz="1200"/>
                          <m:t>2</m:t>
                        </m:r>
                      </m:sub>
                    </m:sSub>
                    <m:r>
                      <a:rPr lang="es-ES" sz="1200"/>
                      <m:t>|</m:t>
                    </m:r>
                  </m:oMath>
                </a14:m>
                <a:r>
                  <a:rPr lang="es-ES" sz="1200" dirty="0"/>
                  <a:t>). As </a:t>
                </a:r>
                <a:r>
                  <a:rPr lang="es-ES" sz="1200" dirty="0" err="1"/>
                  <a:t>demonstrated</a:t>
                </a:r>
                <a:r>
                  <a:rPr lang="es-ES" sz="1200" dirty="0"/>
                  <a:t> in </a:t>
                </a:r>
                <a:r>
                  <a:rPr lang="es-ES" sz="1200" dirty="0" err="1"/>
                  <a:t>the</a:t>
                </a:r>
                <a:r>
                  <a:rPr lang="es-ES" sz="1200" dirty="0"/>
                  <a:t> </a:t>
                </a:r>
                <a:r>
                  <a:rPr lang="es-ES" sz="1200" dirty="0" err="1"/>
                  <a:t>amplitude-balanced</a:t>
                </a:r>
                <a:r>
                  <a:rPr lang="es-ES" sz="1200" dirty="0"/>
                  <a:t> </a:t>
                </a:r>
                <a:r>
                  <a:rPr lang="es-ES" sz="1200" dirty="0" err="1"/>
                  <a:t>baseline</a:t>
                </a:r>
                <a:r>
                  <a:rPr lang="es-ES" sz="1200" dirty="0"/>
                  <a:t> (</a:t>
                </a:r>
                <a14:m>
                  <m:oMath xmlns:m="http://schemas.openxmlformats.org/officeDocument/2006/math">
                    <m:sSub>
                      <m:sSubPr>
                        <m:ctrlPr>
                          <a:rPr lang="es-ES" sz="1200" i="1"/>
                        </m:ctrlPr>
                      </m:sSubPr>
                      <m:e>
                        <m:r>
                          <a:rPr lang="es-ES" sz="1200" i="1"/>
                          <m:t>𝐾</m:t>
                        </m:r>
                      </m:e>
                      <m:sub>
                        <m:r>
                          <a:rPr lang="es-ES" sz="1200" i="1"/>
                          <m:t>𝑎</m:t>
                        </m:r>
                      </m:sub>
                    </m:sSub>
                    <m:r>
                      <a:rPr lang="es-ES" sz="1200"/>
                      <m:t>=</m:t>
                    </m:r>
                    <m:sSub>
                      <m:sSubPr>
                        <m:ctrlPr>
                          <a:rPr lang="es-ES" sz="1200" i="1"/>
                        </m:ctrlPr>
                      </m:sSubPr>
                      <m:e>
                        <m:r>
                          <a:rPr lang="es-ES" sz="1200" i="1"/>
                          <m:t>𝐾</m:t>
                        </m:r>
                      </m:e>
                      <m:sub>
                        <m:r>
                          <a:rPr lang="es-ES" sz="1200" i="1"/>
                          <m:t>𝑏</m:t>
                        </m:r>
                      </m:sub>
                    </m:sSub>
                    <m:r>
                      <a:rPr lang="es-ES" sz="1200"/>
                      <m:t>=0.5</m:t>
                    </m:r>
                  </m:oMath>
                </a14:m>
                <a:r>
                  <a:rPr lang="es-ES" sz="1200" dirty="0"/>
                  <a:t> </a:t>
                </a:r>
                <a:r>
                  <a:rPr lang="es-ES" sz="1200" dirty="0" err="1"/>
                  <a:t>under</a:t>
                </a:r>
                <a:r>
                  <a:rPr lang="es-ES" sz="1200" dirty="0"/>
                  <a:t> </a:t>
                </a:r>
                <a:r>
                  <a:rPr lang="es-ES" sz="1200" dirty="0" err="1"/>
                  <a:t>equal</a:t>
                </a:r>
                <a:r>
                  <a:rPr lang="es-ES" sz="1200" dirty="0"/>
                  <a:t> </a:t>
                </a:r>
                <a:r>
                  <a:rPr lang="es-ES" sz="1200" dirty="0" err="1"/>
                  <a:t>branch</a:t>
                </a:r>
                <a:r>
                  <a:rPr lang="es-ES" sz="1200" dirty="0"/>
                  <a:t> </a:t>
                </a:r>
                <a:r>
                  <a:rPr lang="es-ES" sz="1200" dirty="0" err="1"/>
                  <a:t>losses</a:t>
                </a:r>
                <a:r>
                  <a:rPr lang="es-ES" sz="1200" dirty="0"/>
                  <a:t>), </a:t>
                </a:r>
                <a:r>
                  <a:rPr lang="es-ES" sz="1200" dirty="0" err="1"/>
                  <a:t>identical</a:t>
                </a:r>
                <a:r>
                  <a:rPr lang="es-ES" sz="1200" dirty="0"/>
                  <a:t> </a:t>
                </a:r>
                <a:r>
                  <a:rPr lang="es-ES" sz="1200" dirty="0" err="1"/>
                  <a:t>field</a:t>
                </a:r>
                <a:r>
                  <a:rPr lang="es-ES" sz="1200" dirty="0"/>
                  <a:t> amplitudes </a:t>
                </a:r>
                <a:r>
                  <a:rPr lang="es-ES" sz="1200" dirty="0" err="1"/>
                  <a:t>enable</a:t>
                </a:r>
                <a:r>
                  <a:rPr lang="es-ES" sz="1200" dirty="0"/>
                  <a:t> total destructive </a:t>
                </a:r>
                <a:r>
                  <a:rPr lang="es-ES" sz="1200" dirty="0" err="1"/>
                  <a:t>cancellation</a:t>
                </a:r>
                <a:r>
                  <a:rPr lang="es-ES" sz="1200" dirty="0"/>
                  <a:t> (</a:t>
                </a:r>
                <a14:m>
                  <m:oMath xmlns:m="http://schemas.openxmlformats.org/officeDocument/2006/math">
                    <m:sSub>
                      <m:sSubPr>
                        <m:ctrlPr>
                          <a:rPr lang="es-ES" sz="1200" i="1"/>
                        </m:ctrlPr>
                      </m:sSubPr>
                      <m:e>
                        <m:r>
                          <a:rPr lang="es-ES" sz="1200" i="1"/>
                          <m:t>𝑇</m:t>
                        </m:r>
                      </m:e>
                      <m:sub>
                        <m:r>
                          <m:rPr>
                            <m:sty m:val="p"/>
                          </m:rPr>
                          <a:rPr lang="es-ES" sz="1200"/>
                          <m:t>min</m:t>
                        </m:r>
                      </m:sub>
                    </m:sSub>
                    <m:r>
                      <a:rPr lang="es-ES" sz="1200"/>
                      <m:t>=0.0</m:t>
                    </m:r>
                  </m:oMath>
                </a14:m>
                <a:r>
                  <a:rPr lang="es-ES" sz="1200" dirty="0"/>
                  <a:t>) and </a:t>
                </a:r>
                <a:r>
                  <a:rPr lang="es-ES" sz="1200" dirty="0" err="1"/>
                  <a:t>unitary</a:t>
                </a:r>
                <a:r>
                  <a:rPr lang="es-ES" sz="1200" dirty="0"/>
                  <a:t> </a:t>
                </a:r>
                <a:r>
                  <a:rPr lang="es-ES" sz="1200" dirty="0" err="1"/>
                  <a:t>peak</a:t>
                </a:r>
                <a:r>
                  <a:rPr lang="es-ES" sz="1200" dirty="0"/>
                  <a:t> </a:t>
                </a:r>
                <a:r>
                  <a:rPr lang="es-ES" sz="1200" dirty="0" err="1"/>
                  <a:t>transmission</a:t>
                </a:r>
                <a:r>
                  <a:rPr lang="es-ES" sz="1200" dirty="0"/>
                  <a:t> (</a:t>
                </a:r>
                <a14:m>
                  <m:oMath xmlns:m="http://schemas.openxmlformats.org/officeDocument/2006/math">
                    <m:sSub>
                      <m:sSubPr>
                        <m:ctrlPr>
                          <a:rPr lang="es-ES" sz="1200" i="1"/>
                        </m:ctrlPr>
                      </m:sSubPr>
                      <m:e>
                        <m:r>
                          <a:rPr lang="es-ES" sz="1200" i="1"/>
                          <m:t>𝑇</m:t>
                        </m:r>
                      </m:e>
                      <m:sub>
                        <m:r>
                          <m:rPr>
                            <m:sty m:val="p"/>
                          </m:rPr>
                          <a:rPr lang="es-ES" sz="1200"/>
                          <m:t>max</m:t>
                        </m:r>
                      </m:sub>
                    </m:sSub>
                    <m:r>
                      <a:rPr lang="es-ES" sz="1200"/>
                      <m:t>=1.0</m:t>
                    </m:r>
                  </m:oMath>
                </a14:m>
                <a:r>
                  <a:rPr lang="es-ES" sz="1200" dirty="0"/>
                  <a:t>), </a:t>
                </a:r>
                <a:r>
                  <a:rPr lang="es-ES" sz="1200" dirty="0" err="1"/>
                  <a:t>providing</a:t>
                </a:r>
                <a:r>
                  <a:rPr lang="es-ES" sz="1200" dirty="0"/>
                  <a:t> </a:t>
                </a:r>
                <a:r>
                  <a:rPr lang="es-ES" sz="1200" dirty="0" err="1"/>
                  <a:t>an</a:t>
                </a:r>
                <a:r>
                  <a:rPr lang="es-ES" sz="1200" dirty="0"/>
                  <a:t> ideal, </a:t>
                </a:r>
                <a:r>
                  <a:rPr lang="es-ES" sz="1200" dirty="0" err="1"/>
                  <a:t>theoretically</a:t>
                </a:r>
                <a:r>
                  <a:rPr lang="es-ES" sz="1200" dirty="0"/>
                  <a:t> infinite </a:t>
                </a:r>
                <a:r>
                  <a:rPr lang="es-ES" sz="1200" dirty="0" err="1"/>
                  <a:t>extinction</a:t>
                </a:r>
                <a:r>
                  <a:rPr lang="es-ES" sz="1200" dirty="0"/>
                  <a:t> ratio. </a:t>
                </a:r>
              </a:p>
              <a:p>
                <a:pPr lvl="0"/>
                <a:endParaRPr lang="es-ES" sz="1200" dirty="0"/>
              </a:p>
              <a:p>
                <a:pPr lvl="0"/>
                <a:r>
                  <a:rPr lang="es-ES" sz="1200" dirty="0" err="1"/>
                  <a:t>Conversely</a:t>
                </a:r>
                <a:r>
                  <a:rPr lang="es-ES" sz="1200" dirty="0"/>
                  <a:t>, </a:t>
                </a:r>
                <a:r>
                  <a:rPr lang="es-ES" sz="1200" dirty="0" err="1"/>
                  <a:t>when</a:t>
                </a:r>
                <a:r>
                  <a:rPr lang="es-ES" sz="1200" dirty="0"/>
                  <a:t> </a:t>
                </a:r>
                <a:r>
                  <a:rPr lang="es-ES" sz="1200" dirty="0" err="1"/>
                  <a:t>an</a:t>
                </a:r>
                <a:r>
                  <a:rPr lang="es-ES" sz="1200" dirty="0"/>
                  <a:t> </a:t>
                </a:r>
                <a:r>
                  <a:rPr lang="es-ES" sz="1200" dirty="0" err="1"/>
                  <a:t>amplitude</a:t>
                </a:r>
                <a:r>
                  <a:rPr lang="es-ES" sz="1200" dirty="0"/>
                  <a:t> </a:t>
                </a:r>
                <a:r>
                  <a:rPr lang="es-ES" sz="1200" dirty="0" err="1"/>
                  <a:t>imbalance</a:t>
                </a:r>
                <a:r>
                  <a:rPr lang="es-ES" sz="1200" dirty="0"/>
                  <a:t> </a:t>
                </a:r>
                <a:r>
                  <a:rPr lang="es-ES" sz="1200" dirty="0" err="1"/>
                  <a:t>is</a:t>
                </a:r>
                <a:r>
                  <a:rPr lang="es-ES" sz="1200" dirty="0"/>
                  <a:t> </a:t>
                </a:r>
                <a:r>
                  <a:rPr lang="es-ES" sz="1200" dirty="0" err="1"/>
                  <a:t>introduced</a:t>
                </a:r>
                <a:r>
                  <a:rPr lang="es-ES" sz="1200" dirty="0"/>
                  <a:t>—</a:t>
                </a:r>
                <a:r>
                  <a:rPr lang="es-ES" sz="1200" dirty="0" err="1"/>
                  <a:t>arising</a:t>
                </a:r>
                <a:r>
                  <a:rPr lang="es-ES" sz="1200" dirty="0"/>
                  <a:t> </a:t>
                </a:r>
                <a:r>
                  <a:rPr lang="es-ES" sz="1200" dirty="0" err="1"/>
                  <a:t>from</a:t>
                </a:r>
                <a:r>
                  <a:rPr lang="es-ES" sz="1200" dirty="0"/>
                  <a:t> </a:t>
                </a:r>
                <a:r>
                  <a:rPr lang="es-ES" sz="1200" dirty="0" err="1"/>
                  <a:t>asymmetric</a:t>
                </a:r>
                <a:r>
                  <a:rPr lang="es-ES" sz="1200" dirty="0"/>
                  <a:t> </a:t>
                </a:r>
                <a:r>
                  <a:rPr lang="es-ES" sz="1200" dirty="0" err="1"/>
                  <a:t>power-splitting</a:t>
                </a:r>
                <a:r>
                  <a:rPr lang="es-ES" sz="1200" dirty="0"/>
                  <a:t> ratios in </a:t>
                </a:r>
                <a:r>
                  <a:rPr lang="es-ES" sz="1200" dirty="0" err="1"/>
                  <a:t>the</a:t>
                </a:r>
                <a:r>
                  <a:rPr lang="es-ES" sz="1200" dirty="0"/>
                  <a:t> </a:t>
                </a:r>
                <a:r>
                  <a:rPr lang="es-ES" sz="1200" dirty="0" err="1"/>
                  <a:t>directional</a:t>
                </a:r>
                <a:r>
                  <a:rPr lang="es-ES" sz="1200" dirty="0"/>
                  <a:t> </a:t>
                </a:r>
                <a:r>
                  <a:rPr lang="es-ES" sz="1200" dirty="0" err="1"/>
                  <a:t>couplers</a:t>
                </a:r>
                <a:r>
                  <a:rPr lang="es-ES" sz="1200" dirty="0"/>
                  <a:t> </a:t>
                </a:r>
                <a:r>
                  <a:rPr lang="es-ES" sz="1200" dirty="0" err="1"/>
                  <a:t>or</a:t>
                </a:r>
                <a:r>
                  <a:rPr lang="es-ES" sz="1200" dirty="0"/>
                  <a:t> </a:t>
                </a:r>
                <a:r>
                  <a:rPr lang="es-ES" sz="1200" dirty="0" err="1"/>
                  <a:t>differential</a:t>
                </a:r>
                <a:r>
                  <a:rPr lang="es-ES" sz="1200" dirty="0"/>
                  <a:t> </a:t>
                </a:r>
                <a:r>
                  <a:rPr lang="es-ES" sz="1200" dirty="0" err="1"/>
                  <a:t>propagation</a:t>
                </a:r>
                <a:r>
                  <a:rPr lang="es-ES" sz="1200" dirty="0"/>
                  <a:t> </a:t>
                </a:r>
                <a:r>
                  <a:rPr lang="es-ES" sz="1200" dirty="0" err="1"/>
                  <a:t>losses</a:t>
                </a:r>
                <a:r>
                  <a:rPr lang="es-ES" sz="1200" dirty="0"/>
                  <a:t> </a:t>
                </a:r>
                <a:r>
                  <a:rPr lang="es-ES" sz="1200" dirty="0" err="1"/>
                  <a:t>between</a:t>
                </a:r>
                <a:r>
                  <a:rPr lang="es-ES" sz="1200" dirty="0"/>
                  <a:t> </a:t>
                </a:r>
                <a:r>
                  <a:rPr lang="es-ES" sz="1200" dirty="0" err="1"/>
                  <a:t>the</a:t>
                </a:r>
                <a:r>
                  <a:rPr lang="es-ES" sz="1200" dirty="0"/>
                  <a:t> </a:t>
                </a:r>
                <a:r>
                  <a:rPr lang="es-ES" sz="1200" dirty="0" err="1"/>
                  <a:t>arms</a:t>
                </a:r>
                <a:r>
                  <a:rPr lang="es-ES" sz="1200" dirty="0"/>
                  <a:t>—destructive </a:t>
                </a:r>
                <a:r>
                  <a:rPr lang="es-ES" sz="1200" dirty="0" err="1"/>
                  <a:t>interference</a:t>
                </a:r>
                <a:r>
                  <a:rPr lang="es-ES" sz="1200" dirty="0"/>
                  <a:t> </a:t>
                </a:r>
                <a:r>
                  <a:rPr lang="es-ES" sz="1200" dirty="0" err="1"/>
                  <a:t>remains</a:t>
                </a:r>
                <a:r>
                  <a:rPr lang="es-ES" sz="1200" dirty="0"/>
                  <a:t> incomplete. As a </a:t>
                </a:r>
                <a:r>
                  <a:rPr lang="es-ES" sz="1200" dirty="0" err="1"/>
                  <a:t>result</a:t>
                </a:r>
                <a:r>
                  <a:rPr lang="es-ES" sz="1200" dirty="0"/>
                  <a:t>, residual </a:t>
                </a:r>
                <a:r>
                  <a:rPr lang="es-ES" sz="1200" dirty="0" err="1"/>
                  <a:t>optical</a:t>
                </a:r>
                <a:r>
                  <a:rPr lang="es-ES" sz="1200" dirty="0"/>
                  <a:t> </a:t>
                </a:r>
                <a:r>
                  <a:rPr lang="es-ES" sz="1200" dirty="0" err="1"/>
                  <a:t>power</a:t>
                </a:r>
                <a:r>
                  <a:rPr lang="es-ES" sz="1200" dirty="0"/>
                  <a:t> </a:t>
                </a:r>
                <a:r>
                  <a:rPr lang="es-ES" sz="1200" dirty="0" err="1"/>
                  <a:t>leaks</a:t>
                </a:r>
                <a:r>
                  <a:rPr lang="es-ES" sz="1200" dirty="0"/>
                  <a:t> </a:t>
                </a:r>
                <a:r>
                  <a:rPr lang="es-ES" sz="1200" dirty="0" err="1"/>
                  <a:t>into</a:t>
                </a:r>
                <a:r>
                  <a:rPr lang="es-ES" sz="1200" dirty="0"/>
                  <a:t> </a:t>
                </a:r>
                <a:r>
                  <a:rPr lang="es-ES" sz="1200" dirty="0" err="1"/>
                  <a:t>the</a:t>
                </a:r>
                <a:r>
                  <a:rPr lang="es-ES" sz="1200" dirty="0"/>
                  <a:t> destructive </a:t>
                </a:r>
                <a:r>
                  <a:rPr lang="es-ES" sz="1200" dirty="0" err="1"/>
                  <a:t>state</a:t>
                </a:r>
                <a:r>
                  <a:rPr lang="es-ES" sz="1200" dirty="0"/>
                  <a:t> (</a:t>
                </a:r>
                <a14:m>
                  <m:oMath xmlns:m="http://schemas.openxmlformats.org/officeDocument/2006/math">
                    <m:sSub>
                      <m:sSubPr>
                        <m:ctrlPr>
                          <a:rPr lang="es-ES" sz="1200" i="1"/>
                        </m:ctrlPr>
                      </m:sSubPr>
                      <m:e>
                        <m:r>
                          <a:rPr lang="es-ES" sz="1200" i="1"/>
                          <m:t>𝑇</m:t>
                        </m:r>
                      </m:e>
                      <m:sub>
                        <m:r>
                          <m:rPr>
                            <m:sty m:val="p"/>
                          </m:rPr>
                          <a:rPr lang="es-ES" sz="1200"/>
                          <m:t>min</m:t>
                        </m:r>
                      </m:sub>
                    </m:sSub>
                    <m:r>
                      <a:rPr lang="es-ES" sz="1200"/>
                      <m:t>≈0.16</m:t>
                    </m:r>
                  </m:oMath>
                </a14:m>
                <a:r>
                  <a:rPr lang="es-ES" sz="1200" dirty="0"/>
                  <a:t>), </a:t>
                </a:r>
                <a:r>
                  <a:rPr lang="es-ES" sz="1200" dirty="0" err="1"/>
                  <a:t>while</a:t>
                </a:r>
                <a:r>
                  <a:rPr lang="es-ES" sz="1200" dirty="0"/>
                  <a:t> </a:t>
                </a:r>
                <a:r>
                  <a:rPr lang="es-ES" sz="1200" dirty="0" err="1"/>
                  <a:t>the</a:t>
                </a:r>
                <a:r>
                  <a:rPr lang="es-ES" sz="1200" dirty="0"/>
                  <a:t> </a:t>
                </a:r>
                <a:r>
                  <a:rPr lang="es-ES" sz="1200" dirty="0" err="1"/>
                  <a:t>complementary</a:t>
                </a:r>
                <a:r>
                  <a:rPr lang="es-ES" sz="1200" dirty="0"/>
                  <a:t> </a:t>
                </a:r>
                <a:r>
                  <a:rPr lang="es-ES" sz="1200" dirty="0" err="1"/>
                  <a:t>peak</a:t>
                </a:r>
                <a:r>
                  <a:rPr lang="es-ES" sz="1200" dirty="0"/>
                  <a:t> </a:t>
                </a:r>
                <a:r>
                  <a:rPr lang="es-ES" sz="1200" dirty="0" err="1"/>
                  <a:t>transmission</a:t>
                </a:r>
                <a:r>
                  <a:rPr lang="es-ES" sz="1200" dirty="0"/>
                  <a:t> </a:t>
                </a:r>
                <a:r>
                  <a:rPr lang="es-ES" sz="1200" dirty="0" err="1"/>
                  <a:t>is</a:t>
                </a:r>
                <a:r>
                  <a:rPr lang="es-ES" sz="1200" dirty="0"/>
                  <a:t> </a:t>
                </a:r>
                <a:r>
                  <a:rPr lang="es-ES" sz="1200" dirty="0" err="1"/>
                  <a:t>suppressed</a:t>
                </a:r>
                <a:r>
                  <a:rPr lang="es-ES" sz="1200" dirty="0"/>
                  <a:t> (</a:t>
                </a:r>
                <a14:m>
                  <m:oMath xmlns:m="http://schemas.openxmlformats.org/officeDocument/2006/math">
                    <m:sSub>
                      <m:sSubPr>
                        <m:ctrlPr>
                          <a:rPr lang="es-ES" sz="1200" i="1"/>
                        </m:ctrlPr>
                      </m:sSubPr>
                      <m:e>
                        <m:r>
                          <a:rPr lang="es-ES" sz="1200" i="1"/>
                          <m:t>𝑇</m:t>
                        </m:r>
                      </m:e>
                      <m:sub>
                        <m:r>
                          <m:rPr>
                            <m:sty m:val="p"/>
                          </m:rPr>
                          <a:rPr lang="es-ES" sz="1200"/>
                          <m:t>max</m:t>
                        </m:r>
                      </m:sub>
                    </m:sSub>
                    <m:r>
                      <a:rPr lang="es-ES" sz="1200"/>
                      <m:t>≈0.84</m:t>
                    </m:r>
                  </m:oMath>
                </a14:m>
                <a:r>
                  <a:rPr lang="es-ES" sz="1200" dirty="0"/>
                  <a:t>), </a:t>
                </a:r>
                <a:r>
                  <a:rPr lang="es-ES" sz="1200" dirty="0" err="1"/>
                  <a:t>severely</a:t>
                </a:r>
                <a:r>
                  <a:rPr lang="es-ES" sz="1200" dirty="0"/>
                  <a:t> </a:t>
                </a:r>
                <a:r>
                  <a:rPr lang="es-ES" sz="1200" dirty="0" err="1"/>
                  <a:t>degrading</a:t>
                </a:r>
                <a:r>
                  <a:rPr lang="es-ES" sz="1200" dirty="0"/>
                  <a:t> </a:t>
                </a:r>
                <a:r>
                  <a:rPr lang="es-ES" sz="1200" dirty="0" err="1"/>
                  <a:t>the</a:t>
                </a:r>
                <a:r>
                  <a:rPr lang="es-ES" sz="1200" dirty="0"/>
                  <a:t> </a:t>
                </a:r>
                <a:r>
                  <a:rPr lang="es-ES" sz="1200" dirty="0" err="1"/>
                  <a:t>fringe</a:t>
                </a:r>
                <a:r>
                  <a:rPr lang="es-ES" sz="1200" dirty="0"/>
                  <a:t> </a:t>
                </a:r>
                <a:r>
                  <a:rPr lang="es-ES" sz="1200" dirty="0" err="1"/>
                  <a:t>visibility</a:t>
                </a:r>
                <a:r>
                  <a:rPr lang="es-ES" sz="1200" dirty="0"/>
                  <a:t> and </a:t>
                </a:r>
                <a:r>
                  <a:rPr lang="es-ES" sz="1200" dirty="0" err="1"/>
                  <a:t>lowering</a:t>
                </a:r>
                <a:r>
                  <a:rPr lang="es-ES" sz="1200" dirty="0"/>
                  <a:t> </a:t>
                </a:r>
                <a:r>
                  <a:rPr lang="es-ES" sz="1200" dirty="0" err="1"/>
                  <a:t>the</a:t>
                </a:r>
                <a:r>
                  <a:rPr lang="es-ES" sz="1200" dirty="0"/>
                  <a:t> </a:t>
                </a:r>
                <a:r>
                  <a:rPr lang="es-ES" sz="1200" dirty="0" err="1"/>
                  <a:t>extinction</a:t>
                </a:r>
                <a:r>
                  <a:rPr lang="es-ES" sz="1200" dirty="0"/>
                  <a:t> ratio (ER) </a:t>
                </a:r>
                <a:r>
                  <a:rPr lang="es-ES" sz="1200" dirty="0" err="1"/>
                  <a:t>of</a:t>
                </a:r>
                <a:r>
                  <a:rPr lang="es-ES" sz="1200" dirty="0"/>
                  <a:t> </a:t>
                </a:r>
                <a:r>
                  <a:rPr lang="es-ES" sz="1200" dirty="0" err="1"/>
                  <a:t>the</a:t>
                </a:r>
                <a:r>
                  <a:rPr lang="es-ES" sz="1200" dirty="0"/>
                  <a:t> </a:t>
                </a:r>
                <a:r>
                  <a:rPr lang="es-ES" sz="1200" dirty="0" err="1"/>
                  <a:t>filter</a:t>
                </a:r>
                <a:r>
                  <a:rPr lang="es-ES" sz="1200" dirty="0"/>
                  <a:t>. </a:t>
                </a:r>
                <a:r>
                  <a:rPr lang="es-ES" sz="1200" dirty="0" err="1"/>
                  <a:t>To</a:t>
                </a:r>
                <a:r>
                  <a:rPr lang="es-ES" sz="1200" dirty="0"/>
                  <a:t> </a:t>
                </a:r>
                <a:r>
                  <a:rPr lang="es-ES" sz="1200" dirty="0" err="1"/>
                  <a:t>restore</a:t>
                </a:r>
                <a:r>
                  <a:rPr lang="es-ES" sz="1200" dirty="0"/>
                  <a:t> </a:t>
                </a:r>
                <a:r>
                  <a:rPr lang="es-ES" sz="1200" dirty="0" err="1"/>
                  <a:t>maximum</a:t>
                </a:r>
                <a:r>
                  <a:rPr lang="es-ES" sz="1200" dirty="0"/>
                  <a:t> </a:t>
                </a:r>
                <a:r>
                  <a:rPr lang="es-ES" sz="1200" dirty="0" err="1"/>
                  <a:t>extinction</a:t>
                </a:r>
                <a:r>
                  <a:rPr lang="es-ES" sz="1200" dirty="0"/>
                  <a:t> and </a:t>
                </a:r>
                <a:r>
                  <a:rPr lang="es-ES" sz="1200" dirty="0" err="1"/>
                  <a:t>suppress</a:t>
                </a:r>
                <a:r>
                  <a:rPr lang="es-ES" sz="1200" dirty="0"/>
                  <a:t> </a:t>
                </a:r>
                <a:r>
                  <a:rPr lang="es-ES" sz="1200" dirty="0" err="1"/>
                  <a:t>inter-channel</a:t>
                </a:r>
                <a:r>
                  <a:rPr lang="es-ES" sz="1200" dirty="0"/>
                  <a:t> </a:t>
                </a:r>
                <a:r>
                  <a:rPr lang="es-ES" sz="1200" dirty="0" err="1"/>
                  <a:t>cross-talk</a:t>
                </a:r>
                <a:r>
                  <a:rPr lang="es-ES" sz="1200" dirty="0"/>
                  <a:t> in </a:t>
                </a:r>
                <a:r>
                  <a:rPr lang="es-ES" sz="1200" dirty="0" err="1"/>
                  <a:t>lossy</a:t>
                </a:r>
                <a:r>
                  <a:rPr lang="es-ES" sz="1200" dirty="0"/>
                  <a:t> </a:t>
                </a:r>
                <a:r>
                  <a:rPr lang="es-ES" sz="1200" dirty="0" err="1"/>
                  <a:t>asymmetric</a:t>
                </a:r>
                <a:r>
                  <a:rPr lang="es-ES" sz="1200" dirty="0"/>
                  <a:t> </a:t>
                </a:r>
                <a:r>
                  <a:rPr lang="es-ES" sz="1200" dirty="0" err="1"/>
                  <a:t>circuits</a:t>
                </a:r>
                <a:r>
                  <a:rPr lang="es-ES" sz="1200" dirty="0"/>
                  <a:t>, </a:t>
                </a:r>
                <a:r>
                  <a:rPr lang="es-ES" sz="1200" dirty="0" err="1"/>
                  <a:t>the</a:t>
                </a:r>
                <a:r>
                  <a:rPr lang="es-ES" sz="1200" dirty="0"/>
                  <a:t> input </a:t>
                </a:r>
                <a:r>
                  <a:rPr lang="es-ES" sz="1200" dirty="0" err="1"/>
                  <a:t>coupler</a:t>
                </a:r>
                <a:r>
                  <a:rPr lang="es-ES" sz="1200" dirty="0"/>
                  <a:t> </a:t>
                </a:r>
                <a:r>
                  <a:rPr lang="es-ES" sz="1200" dirty="0" err="1"/>
                  <a:t>splitting</a:t>
                </a:r>
                <a:r>
                  <a:rPr lang="es-ES" sz="1200" dirty="0"/>
                  <a:t> ratio </a:t>
                </a:r>
                <a:r>
                  <a:rPr lang="es-ES" sz="1200" dirty="0" err="1"/>
                  <a:t>must</a:t>
                </a:r>
                <a:r>
                  <a:rPr lang="es-ES" sz="1200" dirty="0"/>
                  <a:t> be </a:t>
                </a:r>
                <a:r>
                  <a:rPr lang="es-ES" sz="1200" dirty="0" err="1"/>
                  <a:t>tailored</a:t>
                </a:r>
                <a:r>
                  <a:rPr lang="es-ES" sz="1200" dirty="0"/>
                  <a:t> </a:t>
                </a:r>
                <a:r>
                  <a:rPr lang="es-ES" sz="1200" dirty="0" err="1"/>
                  <a:t>to</a:t>
                </a:r>
                <a:r>
                  <a:rPr lang="es-ES" sz="1200" dirty="0"/>
                  <a:t> </a:t>
                </a:r>
                <a:r>
                  <a:rPr lang="es-ES" sz="1200" dirty="0" err="1"/>
                  <a:t>compensate</a:t>
                </a:r>
                <a:r>
                  <a:rPr lang="es-ES" sz="1200" dirty="0"/>
                  <a:t> </a:t>
                </a:r>
                <a:r>
                  <a:rPr lang="es-ES" sz="1200" dirty="0" err="1"/>
                  <a:t>for</a:t>
                </a:r>
                <a:r>
                  <a:rPr lang="es-ES" sz="1200" dirty="0"/>
                  <a:t> </a:t>
                </a:r>
                <a:r>
                  <a:rPr lang="es-ES" sz="1200" dirty="0" err="1"/>
                  <a:t>the</a:t>
                </a:r>
                <a:r>
                  <a:rPr lang="es-ES" sz="1200" dirty="0"/>
                  <a:t> </a:t>
                </a:r>
                <a:r>
                  <a:rPr lang="es-ES" sz="1200" dirty="0" err="1"/>
                  <a:t>differential</a:t>
                </a:r>
                <a:r>
                  <a:rPr lang="es-ES" sz="1200" dirty="0"/>
                  <a:t> </a:t>
                </a:r>
                <a:r>
                  <a:rPr lang="es-ES" sz="1200" dirty="0" err="1"/>
                  <a:t>attenuation</a:t>
                </a:r>
                <a:r>
                  <a:rPr lang="es-ES" sz="1200" dirty="0"/>
                  <a:t> prior </a:t>
                </a:r>
                <a:r>
                  <a:rPr lang="es-ES" sz="1200" dirty="0" err="1"/>
                  <a:t>to</a:t>
                </a:r>
                <a:r>
                  <a:rPr lang="es-ES" sz="1200" dirty="0"/>
                  <a:t> </a:t>
                </a:r>
                <a:r>
                  <a:rPr lang="es-ES" sz="1200" dirty="0" err="1"/>
                  <a:t>field</a:t>
                </a:r>
                <a:r>
                  <a:rPr lang="es-ES" sz="1200" dirty="0"/>
                  <a:t> </a:t>
                </a:r>
                <a:r>
                  <a:rPr lang="es-ES" sz="1200" dirty="0" err="1"/>
                  <a:t>recombination</a:t>
                </a:r>
                <a:r>
                  <a:rPr lang="es-ES" sz="1200" dirty="0"/>
                  <a:t>.</a:t>
                </a:r>
                <a:endParaRPr lang="en-US" sz="7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A7CFE096-A0A0-9DC9-3E23-9864CC7A02F6}"/>
                  </a:ext>
                </a:extLst>
              </p:cNvPr>
              <p:cNvSpPr txBox="1">
                <a:spLocks noRot="1" noChangeAspect="1" noMove="1" noResize="1" noEditPoints="1" noAdjustHandles="1" noChangeArrowheads="1" noChangeShapeType="1" noTextEdit="1"/>
              </p:cNvSpPr>
              <p:nvPr/>
            </p:nvSpPr>
            <p:spPr>
              <a:xfrm>
                <a:off x="768285" y="4040528"/>
                <a:ext cx="10543572" cy="1938992"/>
              </a:xfrm>
              <a:prstGeom prst="rect">
                <a:avLst/>
              </a:prstGeom>
              <a:blipFill>
                <a:blip r:embed="rId4"/>
                <a:stretch>
                  <a:fillRect b="-929"/>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4E7D48F8-3AEA-7AD1-F23D-754BB2988A69}"/>
              </a:ext>
            </a:extLst>
          </p:cNvPr>
          <p:cNvSpPr>
            <a:spLocks noGrp="1"/>
          </p:cNvSpPr>
          <p:nvPr>
            <p:ph type="ftr" sz="quarter" idx="5"/>
          </p:nvPr>
        </p:nvSpPr>
        <p:spPr>
          <a:xfrm>
            <a:off x="609600" y="6457057"/>
            <a:ext cx="2743200" cy="184666"/>
          </a:xfrm>
        </p:spPr>
        <p:txBody>
          <a:bodyPr/>
          <a:lstStyle/>
          <a:p>
            <a:pPr marL="12700">
              <a:spcBef>
                <a:spcPts val="15"/>
              </a:spcBef>
            </a:pPr>
            <a:r>
              <a:rPr lang="es-ES" spc="-5" dirty="0"/>
              <a:t>LAB 3. INTERFEROMETERS I</a:t>
            </a:r>
          </a:p>
        </p:txBody>
      </p:sp>
      <p:pic>
        <p:nvPicPr>
          <p:cNvPr id="4" name="Imagen 3">
            <a:extLst>
              <a:ext uri="{FF2B5EF4-FFF2-40B4-BE49-F238E27FC236}">
                <a16:creationId xmlns:a16="http://schemas.microsoft.com/office/drawing/2014/main" id="{BCFB9A68-FC7B-49BA-A80F-9428DA1876D1}"/>
              </a:ext>
            </a:extLst>
          </p:cNvPr>
          <p:cNvPicPr>
            <a:picLocks noChangeAspect="1"/>
          </p:cNvPicPr>
          <p:nvPr/>
        </p:nvPicPr>
        <p:blipFill>
          <a:blip r:embed="rId5"/>
          <a:stretch>
            <a:fillRect/>
          </a:stretch>
        </p:blipFill>
        <p:spPr>
          <a:xfrm>
            <a:off x="6324600" y="925488"/>
            <a:ext cx="3962400" cy="2926772"/>
          </a:xfrm>
          <a:prstGeom prst="rect">
            <a:avLst/>
          </a:prstGeom>
        </p:spPr>
      </p:pic>
      <p:pic>
        <p:nvPicPr>
          <p:cNvPr id="9" name="Imagen 8">
            <a:extLst>
              <a:ext uri="{FF2B5EF4-FFF2-40B4-BE49-F238E27FC236}">
                <a16:creationId xmlns:a16="http://schemas.microsoft.com/office/drawing/2014/main" id="{8722F402-823A-1BE7-A5F2-1D9FA622A663}"/>
              </a:ext>
            </a:extLst>
          </p:cNvPr>
          <p:cNvPicPr>
            <a:picLocks noChangeAspect="1"/>
          </p:cNvPicPr>
          <p:nvPr/>
        </p:nvPicPr>
        <p:blipFill>
          <a:blip r:embed="rId6"/>
          <a:stretch>
            <a:fillRect/>
          </a:stretch>
        </p:blipFill>
        <p:spPr>
          <a:xfrm>
            <a:off x="1529196" y="925488"/>
            <a:ext cx="3647208" cy="2926772"/>
          </a:xfrm>
          <a:prstGeom prst="rect">
            <a:avLst/>
          </a:prstGeom>
        </p:spPr>
      </p:pic>
    </p:spTree>
    <p:extLst>
      <p:ext uri="{BB962C8B-B14F-4D97-AF65-F5344CB8AC3E}">
        <p14:creationId xmlns:p14="http://schemas.microsoft.com/office/powerpoint/2010/main" val="3704271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8</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b="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FDBBA6B-3646-055F-7A9C-EE01830137BE}"/>
                  </a:ext>
                </a:extLst>
              </p:cNvPr>
              <p:cNvSpPr txBox="1"/>
              <p:nvPr/>
            </p:nvSpPr>
            <p:spPr>
              <a:xfrm>
                <a:off x="457201" y="3048000"/>
                <a:ext cx="6096000" cy="312527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corresponding value)</a:t>
                </a:r>
              </a:p>
              <a:p>
                <a:pPr algn="just"/>
                <a:endParaRPr lang="en-US" sz="1200" dirty="0">
                  <a:latin typeface="Arial" panose="020B0604020202020204" pitchFamily="34" charset="0"/>
                  <a:cs typeface="Arial" panose="020B0604020202020204" pitchFamily="34" charset="0"/>
                </a:endParaRPr>
              </a:p>
              <a:p>
                <a:r>
                  <a:rPr lang="es-ES" sz="1200" dirty="0"/>
                  <a:t>In </a:t>
                </a:r>
                <a:r>
                  <a:rPr lang="es-ES" sz="1200" dirty="0" err="1"/>
                  <a:t>an</a:t>
                </a:r>
                <a:r>
                  <a:rPr lang="es-ES" sz="1200" dirty="0"/>
                  <a:t> </a:t>
                </a:r>
                <a:r>
                  <a:rPr lang="es-ES" sz="1200" dirty="0" err="1"/>
                  <a:t>unbalanced</a:t>
                </a:r>
                <a:r>
                  <a:rPr lang="es-ES" sz="1200" dirty="0"/>
                  <a:t> Mach-Zehnder </a:t>
                </a:r>
                <a:r>
                  <a:rPr lang="es-ES" sz="1200" dirty="0" err="1"/>
                  <a:t>Interferometer</a:t>
                </a:r>
                <a:r>
                  <a:rPr lang="es-ES" sz="1200" dirty="0"/>
                  <a:t> (MZI), </a:t>
                </a:r>
                <a:r>
                  <a:rPr lang="es-ES" sz="1200" dirty="0" err="1"/>
                  <a:t>the</a:t>
                </a:r>
                <a:r>
                  <a:rPr lang="es-ES" sz="1200" dirty="0"/>
                  <a:t> Free </a:t>
                </a:r>
                <a:r>
                  <a:rPr lang="es-ES" sz="1200" dirty="0" err="1"/>
                  <a:t>Spectral</a:t>
                </a:r>
                <a:r>
                  <a:rPr lang="es-ES" sz="1200" dirty="0"/>
                  <a:t> Range </a:t>
                </a:r>
                <a:r>
                  <a:rPr lang="es-ES" sz="1200" dirty="0" err="1"/>
                  <a:t>is</a:t>
                </a:r>
                <a:r>
                  <a:rPr lang="es-ES" sz="1200" dirty="0"/>
                  <a:t> </a:t>
                </a:r>
                <a:r>
                  <a:rPr lang="es-ES" sz="1200" dirty="0" err="1"/>
                  <a:t>governed</a:t>
                </a:r>
                <a:r>
                  <a:rPr lang="es-ES" sz="1200" dirty="0"/>
                  <a:t> </a:t>
                </a:r>
                <a:r>
                  <a:rPr lang="es-ES" sz="1200" dirty="0" err="1"/>
                  <a:t>by</a:t>
                </a:r>
                <a:r>
                  <a:rPr lang="es-ES" sz="1200" dirty="0"/>
                  <a:t> </a:t>
                </a:r>
                <a:r>
                  <a:rPr lang="es-ES" sz="1200" dirty="0" err="1"/>
                  <a:t>the</a:t>
                </a:r>
                <a:r>
                  <a:rPr lang="es-ES" sz="1200" dirty="0"/>
                  <a:t> </a:t>
                </a:r>
                <a:r>
                  <a:rPr lang="es-ES" sz="1200" dirty="0" err="1"/>
                  <a:t>optical</a:t>
                </a:r>
                <a:r>
                  <a:rPr lang="es-ES" sz="1200" dirty="0"/>
                  <a:t> </a:t>
                </a:r>
                <a:r>
                  <a:rPr lang="es-ES" sz="1200" dirty="0" err="1"/>
                  <a:t>group</a:t>
                </a:r>
                <a:r>
                  <a:rPr lang="es-ES" sz="1200" dirty="0"/>
                  <a:t> </a:t>
                </a:r>
                <a:r>
                  <a:rPr lang="es-ES" sz="1200" dirty="0" err="1"/>
                  <a:t>index</a:t>
                </a:r>
                <a:r>
                  <a:rPr lang="es-ES" sz="1200" dirty="0"/>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𝑔</m:t>
                        </m:r>
                      </m:sub>
                    </m:sSub>
                  </m:oMath>
                </a14:m>
                <a:r>
                  <a:rPr lang="es-ES" sz="1200" dirty="0"/>
                  <a:t>) </a:t>
                </a:r>
                <a:r>
                  <a:rPr lang="es-ES" sz="1200" dirty="0" err="1"/>
                  <a:t>rather</a:t>
                </a:r>
                <a:r>
                  <a:rPr lang="es-ES" sz="1200" dirty="0"/>
                  <a:t> </a:t>
                </a:r>
                <a:r>
                  <a:rPr lang="es-ES" sz="1200" dirty="0" err="1"/>
                  <a:t>than</a:t>
                </a:r>
                <a:r>
                  <a:rPr lang="es-ES" sz="1200" dirty="0"/>
                  <a:t> </a:t>
                </a:r>
                <a:r>
                  <a:rPr lang="es-ES" sz="1200" dirty="0" err="1"/>
                  <a:t>the</a:t>
                </a:r>
                <a:r>
                  <a:rPr lang="es-ES" sz="1200" dirty="0"/>
                  <a:t> modal </a:t>
                </a:r>
                <a:r>
                  <a:rPr lang="es-ES" sz="1200" dirty="0" err="1"/>
                  <a:t>effective</a:t>
                </a:r>
                <a:r>
                  <a:rPr lang="es-ES" sz="1200" dirty="0"/>
                  <a:t> </a:t>
                </a:r>
                <a:r>
                  <a:rPr lang="es-ES" sz="1200" dirty="0" err="1"/>
                  <a:t>index</a:t>
                </a:r>
                <a:r>
                  <a:rPr lang="es-ES" sz="1200" dirty="0"/>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m:rPr>
                            <m:nor/>
                          </m:rPr>
                          <a:rPr lang="es-ES" sz="1200" i="0"/>
                          <m:t>eff</m:t>
                        </m:r>
                      </m:sub>
                    </m:sSub>
                  </m:oMath>
                </a14:m>
                <a:r>
                  <a:rPr lang="es-ES" sz="1200" dirty="0"/>
                  <a:t>) </a:t>
                </a:r>
                <a:r>
                  <a:rPr lang="es-ES" sz="1200" dirty="0" err="1"/>
                  <a:t>due</a:t>
                </a:r>
                <a:r>
                  <a:rPr lang="es-ES" sz="1200" dirty="0"/>
                  <a:t> </a:t>
                </a:r>
                <a:r>
                  <a:rPr lang="es-ES" sz="1200" dirty="0" err="1"/>
                  <a:t>to</a:t>
                </a:r>
                <a:r>
                  <a:rPr lang="es-ES" sz="1200" dirty="0"/>
                  <a:t> </a:t>
                </a:r>
                <a:r>
                  <a:rPr lang="es-ES" sz="1200" dirty="0" err="1"/>
                  <a:t>strong</a:t>
                </a:r>
                <a:r>
                  <a:rPr lang="es-ES" sz="1200" dirty="0"/>
                  <a:t> </a:t>
                </a:r>
                <a:r>
                  <a:rPr lang="es-ES" sz="1200" dirty="0" err="1"/>
                  <a:t>chromatic</a:t>
                </a:r>
                <a:r>
                  <a:rPr lang="es-ES" sz="1200" dirty="0"/>
                  <a:t> </a:t>
                </a:r>
                <a:r>
                  <a:rPr lang="es-ES" sz="1200" dirty="0" err="1"/>
                  <a:t>waveguide</a:t>
                </a:r>
                <a:r>
                  <a:rPr lang="es-ES" sz="1200" dirty="0"/>
                  <a:t> </a:t>
                </a:r>
                <a:r>
                  <a:rPr lang="es-ES" sz="1200" dirty="0" err="1"/>
                  <a:t>dispersion</a:t>
                </a:r>
                <a:r>
                  <a:rPr lang="es-ES" sz="1200" dirty="0"/>
                  <a:t> in </a:t>
                </a:r>
                <a:r>
                  <a:rPr lang="es-ES" sz="1200" dirty="0" err="1"/>
                  <a:t>high-contrast</a:t>
                </a:r>
                <a:r>
                  <a:rPr lang="es-ES" sz="1200" dirty="0"/>
                  <a:t> SOI </a:t>
                </a:r>
                <a:r>
                  <a:rPr lang="es-ES" sz="1200" dirty="0" err="1"/>
                  <a:t>waveguides</a:t>
                </a:r>
                <a:r>
                  <a:rPr lang="es-ES" sz="1200" dirty="0"/>
                  <a:t>:</a:t>
                </a:r>
              </a:p>
              <a:p>
                <a:pPr/>
                <a14:m>
                  <m:oMathPara xmlns:m="http://schemas.openxmlformats.org/officeDocument/2006/math">
                    <m:oMath>
                      <m:r>
                        <m:rPr>
                          <m:nor/>
                        </m:rPr>
                        <a:rPr lang="es-ES" sz="1200" i="0"/>
                        <m:t>FSR</m:t>
                      </m:r>
                      <m:r>
                        <a:rPr lang="es-ES" sz="1200">
                          <a:latin typeface="Cambria Math" panose="02040503050406030204" pitchFamily="18" charset="0"/>
                        </a:rPr>
                        <m:t>=</m:t>
                      </m:r>
                      <m:f>
                        <m:fPr>
                          <m:ctrlPr>
                            <a:rPr lang="es-ES" sz="1200" i="1">
                              <a:latin typeface="Cambria Math" panose="02040503050406030204" pitchFamily="18" charset="0"/>
                            </a:rPr>
                          </m:ctrlPr>
                        </m:fPr>
                        <m:num>
                          <m:sSubSup>
                            <m:sSubSupPr>
                              <m:ctrlPr>
                                <a:rPr lang="es-ES" sz="1200" i="1">
                                  <a:latin typeface="Cambria Math" panose="02040503050406030204" pitchFamily="18" charset="0"/>
                                </a:rPr>
                              </m:ctrlPr>
                            </m:sSubSupPr>
                            <m:e>
                              <m:r>
                                <a:rPr lang="es-ES" sz="1200" i="1">
                                  <a:latin typeface="Cambria Math" panose="02040503050406030204" pitchFamily="18" charset="0"/>
                                </a:rPr>
                                <m:t>𝜆</m:t>
                              </m:r>
                            </m:e>
                            <m:sub>
                              <m:r>
                                <a:rPr lang="es-ES" sz="1200">
                                  <a:latin typeface="Cambria Math" panose="02040503050406030204" pitchFamily="18" charset="0"/>
                                </a:rPr>
                                <m:t>0</m:t>
                              </m:r>
                            </m:sub>
                            <m:sup>
                              <m:r>
                                <a:rPr lang="es-ES" sz="1200">
                                  <a:latin typeface="Cambria Math" panose="02040503050406030204" pitchFamily="18" charset="0"/>
                                </a:rPr>
                                <m:t>2</m:t>
                              </m:r>
                            </m:sup>
                          </m:sSubSup>
                        </m:num>
                        <m:den>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𝑔</m:t>
                              </m:r>
                            </m:sub>
                          </m:sSub>
                          <m:r>
                            <a:rPr lang="es-ES" sz="1200">
                              <a:latin typeface="Cambria Math" panose="02040503050406030204" pitchFamily="18" charset="0"/>
                            </a:rPr>
                            <m:t>⋅</m:t>
                          </m:r>
                          <m:r>
                            <m:rPr>
                              <m:sty m:val="p"/>
                            </m:rPr>
                            <a:rPr lang="es-ES" sz="1200">
                              <a:latin typeface="Cambria Math" panose="02040503050406030204" pitchFamily="18" charset="0"/>
                            </a:rPr>
                            <m:t>Δ</m:t>
                          </m:r>
                          <m:r>
                            <a:rPr lang="es-ES" sz="1200" i="1">
                              <a:latin typeface="Cambria Math" panose="02040503050406030204" pitchFamily="18" charset="0"/>
                            </a:rPr>
                            <m:t>𝐿</m:t>
                          </m:r>
                        </m:den>
                      </m:f>
                      <m:r>
                        <a:rPr lang="es-ES" sz="1200">
                          <a:latin typeface="Cambria Math" panose="02040503050406030204" pitchFamily="18" charset="0"/>
                        </a:rPr>
                        <m:t>⟹</m:t>
                      </m:r>
                      <m:r>
                        <m:rPr>
                          <m:sty m:val="p"/>
                        </m:rPr>
                        <a:rPr lang="es-ES" sz="1200">
                          <a:latin typeface="Cambria Math" panose="02040503050406030204" pitchFamily="18" charset="0"/>
                        </a:rPr>
                        <m:t>Δ</m:t>
                      </m:r>
                      <m:r>
                        <a:rPr lang="es-ES" sz="1200" i="1">
                          <a:latin typeface="Cambria Math" panose="02040503050406030204" pitchFamily="18" charset="0"/>
                        </a:rPr>
                        <m:t>𝐿</m:t>
                      </m:r>
                      <m:r>
                        <a:rPr lang="es-ES" sz="1200">
                          <a:latin typeface="Cambria Math" panose="02040503050406030204" pitchFamily="18" charset="0"/>
                        </a:rPr>
                        <m:t>=</m:t>
                      </m:r>
                      <m:f>
                        <m:fPr>
                          <m:ctrlPr>
                            <a:rPr lang="es-ES" sz="1200" i="1">
                              <a:latin typeface="Cambria Math" panose="02040503050406030204" pitchFamily="18" charset="0"/>
                            </a:rPr>
                          </m:ctrlPr>
                        </m:fPr>
                        <m:num>
                          <m:sSubSup>
                            <m:sSubSupPr>
                              <m:ctrlPr>
                                <a:rPr lang="es-ES" sz="1200" i="1">
                                  <a:latin typeface="Cambria Math" panose="02040503050406030204" pitchFamily="18" charset="0"/>
                                </a:rPr>
                              </m:ctrlPr>
                            </m:sSubSupPr>
                            <m:e>
                              <m:r>
                                <a:rPr lang="es-ES" sz="1200" i="1">
                                  <a:latin typeface="Cambria Math" panose="02040503050406030204" pitchFamily="18" charset="0"/>
                                </a:rPr>
                                <m:t>𝜆</m:t>
                              </m:r>
                            </m:e>
                            <m:sub>
                              <m:r>
                                <a:rPr lang="es-ES" sz="1200">
                                  <a:latin typeface="Cambria Math" panose="02040503050406030204" pitchFamily="18" charset="0"/>
                                </a:rPr>
                                <m:t>0</m:t>
                              </m:r>
                            </m:sub>
                            <m:sup>
                              <m:r>
                                <a:rPr lang="es-ES" sz="1200">
                                  <a:latin typeface="Cambria Math" panose="02040503050406030204" pitchFamily="18" charset="0"/>
                                </a:rPr>
                                <m:t>2</m:t>
                              </m:r>
                            </m:sup>
                          </m:sSubSup>
                        </m:num>
                        <m:den>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𝑔</m:t>
                              </m:r>
                            </m:sub>
                          </m:sSub>
                          <m:r>
                            <a:rPr lang="es-ES" sz="1200">
                              <a:latin typeface="Cambria Math" panose="02040503050406030204" pitchFamily="18" charset="0"/>
                            </a:rPr>
                            <m:t>⋅</m:t>
                          </m:r>
                          <m:r>
                            <m:rPr>
                              <m:nor/>
                            </m:rPr>
                            <a:rPr lang="es-ES" sz="1200" i="0"/>
                            <m:t>FSR</m:t>
                          </m:r>
                        </m:den>
                      </m:f>
                    </m:oMath>
                  </m:oMathPara>
                </a14:m>
                <a:endParaRPr lang="es-ES" sz="1200" dirty="0"/>
              </a:p>
              <a:p>
                <a:r>
                  <a:rPr lang="es-ES" sz="1200" dirty="0"/>
                  <a:t>For a central </a:t>
                </a:r>
                <a:r>
                  <a:rPr lang="es-ES" sz="1200" dirty="0" err="1"/>
                  <a:t>design</a:t>
                </a:r>
                <a:r>
                  <a:rPr lang="es-ES" sz="1200" dirty="0"/>
                  <a:t> </a:t>
                </a:r>
                <a:r>
                  <a:rPr lang="es-ES" sz="1200" dirty="0" err="1"/>
                  <a:t>wavelength</a:t>
                </a:r>
                <a:r>
                  <a:rPr lang="es-ES" sz="1200" dirty="0"/>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a:latin typeface="Cambria Math" panose="02040503050406030204" pitchFamily="18" charset="0"/>
                          </a:rPr>
                          <m:t>0</m:t>
                        </m:r>
                      </m:sub>
                    </m:sSub>
                    <m:r>
                      <a:rPr lang="es-ES" sz="1200">
                        <a:latin typeface="Cambria Math" panose="02040503050406030204" pitchFamily="18" charset="0"/>
                      </a:rPr>
                      <m:t>=1.55 </m:t>
                    </m:r>
                    <m:r>
                      <a:rPr lang="es-ES" sz="1200" i="1">
                        <a:latin typeface="Cambria Math" panose="02040503050406030204" pitchFamily="18" charset="0"/>
                      </a:rPr>
                      <m:t>𝜇</m:t>
                    </m:r>
                    <m:r>
                      <m:rPr>
                        <m:sty m:val="p"/>
                      </m:rPr>
                      <a:rPr lang="es-ES" sz="1200">
                        <a:latin typeface="Cambria Math" panose="02040503050406030204" pitchFamily="18" charset="0"/>
                      </a:rPr>
                      <m:t>m</m:t>
                    </m:r>
                  </m:oMath>
                </a14:m>
                <a:r>
                  <a:rPr lang="es-ES" sz="1200" dirty="0"/>
                  <a:t>, a target </a:t>
                </a:r>
                <a14:m>
                  <m:oMath xmlns:m="http://schemas.openxmlformats.org/officeDocument/2006/math">
                    <m:r>
                      <m:rPr>
                        <m:nor/>
                      </m:rPr>
                      <a:rPr lang="es-ES" sz="1200" i="0"/>
                      <m:t>FSR</m:t>
                    </m:r>
                    <m:r>
                      <a:rPr lang="es-ES" sz="1200">
                        <a:latin typeface="Cambria Math" panose="02040503050406030204" pitchFamily="18" charset="0"/>
                      </a:rPr>
                      <m:t>=40 </m:t>
                    </m:r>
                    <m:r>
                      <m:rPr>
                        <m:sty m:val="p"/>
                      </m:rPr>
                      <a:rPr lang="es-ES" sz="1200">
                        <a:latin typeface="Cambria Math" panose="02040503050406030204" pitchFamily="18" charset="0"/>
                      </a:rPr>
                      <m:t>nm</m:t>
                    </m:r>
                  </m:oMath>
                </a14:m>
                <a:r>
                  <a:rPr lang="es-ES" sz="1200" dirty="0"/>
                  <a:t>(</a:t>
                </a:r>
                <a14:m>
                  <m:oMath xmlns:m="http://schemas.openxmlformats.org/officeDocument/2006/math">
                    <m:r>
                      <a:rPr lang="es-ES" sz="1200">
                        <a:latin typeface="Cambria Math" panose="02040503050406030204" pitchFamily="18" charset="0"/>
                      </a:rPr>
                      <m:t>0.040 </m:t>
                    </m:r>
                    <m:r>
                      <a:rPr lang="es-ES" sz="1200" i="1">
                        <a:latin typeface="Cambria Math" panose="02040503050406030204" pitchFamily="18" charset="0"/>
                      </a:rPr>
                      <m:t>𝜇</m:t>
                    </m:r>
                    <m:r>
                      <m:rPr>
                        <m:sty m:val="p"/>
                      </m:rPr>
                      <a:rPr lang="es-ES" sz="1200">
                        <a:latin typeface="Cambria Math" panose="02040503050406030204" pitchFamily="18" charset="0"/>
                      </a:rPr>
                      <m:t>m</m:t>
                    </m:r>
                  </m:oMath>
                </a14:m>
                <a:r>
                  <a:rPr lang="es-ES" sz="1200" dirty="0"/>
                  <a:t>), and </a:t>
                </a:r>
                <a:r>
                  <a:rPr lang="es-ES" sz="1200" dirty="0" err="1"/>
                  <a:t>evaluating</a:t>
                </a:r>
                <a:r>
                  <a:rPr lang="es-ES" sz="1200" dirty="0"/>
                  <a:t> </a:t>
                </a:r>
                <a:r>
                  <a:rPr lang="es-ES" sz="1200" dirty="0" err="1"/>
                  <a:t>the</a:t>
                </a:r>
                <a:r>
                  <a:rPr lang="es-ES" sz="1200" dirty="0"/>
                  <a:t> fundamental </a:t>
                </a:r>
                <a:r>
                  <a:rPr lang="es-ES" sz="1200" dirty="0" err="1"/>
                  <a:t>quasi</a:t>
                </a:r>
                <a:r>
                  <a:rPr lang="es-ES" sz="1200" dirty="0"/>
                  <a:t>-TE </a:t>
                </a:r>
                <a:r>
                  <a:rPr lang="es-ES" sz="1200" dirty="0" err="1"/>
                  <a:t>mode</a:t>
                </a:r>
                <a:r>
                  <a:rPr lang="es-ES" sz="1200" dirty="0"/>
                  <a:t> </a:t>
                </a:r>
                <a:r>
                  <a:rPr lang="es-ES" sz="1200" dirty="0" err="1"/>
                  <a:t>group</a:t>
                </a:r>
                <a:r>
                  <a:rPr lang="es-ES" sz="1200" dirty="0"/>
                  <a:t> </a:t>
                </a:r>
                <a:r>
                  <a:rPr lang="es-ES" sz="1200" dirty="0" err="1"/>
                  <a:t>index</a:t>
                </a:r>
                <a:r>
                  <a:rPr lang="es-ES" sz="1200" dirty="0"/>
                  <a:t> </a:t>
                </a:r>
                <a:r>
                  <a:rPr lang="es-ES" sz="1200" dirty="0" err="1"/>
                  <a:t>of</a:t>
                </a:r>
                <a:r>
                  <a:rPr lang="es-ES" sz="1200" dirty="0"/>
                  <a:t> </a:t>
                </a:r>
                <a:r>
                  <a:rPr lang="es-ES" sz="1200" dirty="0" err="1"/>
                  <a:t>the</a:t>
                </a:r>
                <a:r>
                  <a:rPr lang="es-ES" sz="1200" dirty="0"/>
                  <a:t> standard SOI </a:t>
                </a:r>
                <a:r>
                  <a:rPr lang="es-ES" sz="1200" dirty="0" err="1"/>
                  <a:t>strip</a:t>
                </a:r>
                <a:r>
                  <a:rPr lang="es-ES" sz="1200" dirty="0"/>
                  <a:t> </a:t>
                </a:r>
                <a:r>
                  <a:rPr lang="es-ES" sz="1200" dirty="0" err="1"/>
                  <a:t>waveguide</a:t>
                </a:r>
                <a:r>
                  <a:rPr lang="es-ES" sz="1200" dirty="0"/>
                  <a:t> (</a:t>
                </a:r>
                <a14:m>
                  <m:oMath xmlns:m="http://schemas.openxmlformats.org/officeDocument/2006/math">
                    <m:r>
                      <a:rPr lang="es-ES" sz="1200">
                        <a:latin typeface="Cambria Math" panose="02040503050406030204" pitchFamily="18" charset="0"/>
                      </a:rPr>
                      <m:t>450×220 </m:t>
                    </m:r>
                    <m:r>
                      <m:rPr>
                        <m:sty m:val="p"/>
                      </m:rPr>
                      <a:rPr lang="es-ES" sz="1200">
                        <a:latin typeface="Cambria Math" panose="02040503050406030204" pitchFamily="18" charset="0"/>
                      </a:rPr>
                      <m:t>nm</m:t>
                    </m:r>
                  </m:oMath>
                </a14:m>
                <a:r>
                  <a:rPr lang="es-ES" sz="1200" dirty="0"/>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𝑔</m:t>
                        </m:r>
                      </m:sub>
                    </m:sSub>
                    <m:r>
                      <a:rPr lang="es-ES" sz="1200">
                        <a:latin typeface="Cambria Math" panose="02040503050406030204" pitchFamily="18" charset="0"/>
                      </a:rPr>
                      <m:t>≈4.2933</m:t>
                    </m:r>
                  </m:oMath>
                </a14:m>
                <a:r>
                  <a:rPr lang="es-ES" sz="1200" dirty="0"/>
                  <a:t>):</a:t>
                </a:r>
              </a:p>
              <a:p>
                <a:pPr/>
                <a14:m>
                  <m:oMathPara xmlns:m="http://schemas.openxmlformats.org/officeDocument/2006/math">
                    <m:oMath>
                      <m:r>
                        <m:rPr>
                          <m:sty m:val="p"/>
                        </m:rPr>
                        <a:rPr lang="es-ES" sz="1200">
                          <a:latin typeface="Cambria Math" panose="02040503050406030204" pitchFamily="18" charset="0"/>
                        </a:rPr>
                        <m:t>Δ</m:t>
                      </m:r>
                      <m:r>
                        <a:rPr lang="es-ES" sz="1200" i="1">
                          <a:latin typeface="Cambria Math" panose="02040503050406030204" pitchFamily="18" charset="0"/>
                        </a:rPr>
                        <m:t>𝐿</m:t>
                      </m:r>
                      <m:r>
                        <a:rPr lang="es-ES" sz="1200">
                          <a:latin typeface="Cambria Math" panose="02040503050406030204" pitchFamily="18" charset="0"/>
                        </a:rPr>
                        <m:t>=</m:t>
                      </m:r>
                      <m:f>
                        <m:fPr>
                          <m:ctrlPr>
                            <a:rPr lang="es-ES" sz="1200" i="1">
                              <a:latin typeface="Cambria Math" panose="02040503050406030204" pitchFamily="18" charset="0"/>
                            </a:rPr>
                          </m:ctrlPr>
                        </m:fPr>
                        <m:num>
                          <m:sSup>
                            <m:sSupPr>
                              <m:ctrlPr>
                                <a:rPr lang="es-ES" sz="1200" i="1">
                                  <a:latin typeface="Cambria Math" panose="02040503050406030204" pitchFamily="18" charset="0"/>
                                </a:rPr>
                              </m:ctrlPr>
                            </m:sSupPr>
                            <m:e>
                              <m:d>
                                <m:dPr>
                                  <m:ctrlPr>
                                    <a:rPr lang="es-ES" sz="1200">
                                      <a:latin typeface="Cambria Math" panose="02040503050406030204" pitchFamily="18" charset="0"/>
                                    </a:rPr>
                                  </m:ctrlPr>
                                </m:dPr>
                                <m:e>
                                  <m:r>
                                    <a:rPr lang="es-ES" sz="1200">
                                      <a:latin typeface="Cambria Math" panose="02040503050406030204" pitchFamily="18" charset="0"/>
                                    </a:rPr>
                                    <m:t>1.55 </m:t>
                                  </m:r>
                                  <m:r>
                                    <a:rPr lang="es-ES" sz="1200" i="1">
                                      <a:latin typeface="Cambria Math" panose="02040503050406030204" pitchFamily="18" charset="0"/>
                                    </a:rPr>
                                    <m:t>𝜇</m:t>
                                  </m:r>
                                  <m:r>
                                    <m:rPr>
                                      <m:sty m:val="p"/>
                                    </m:rPr>
                                    <a:rPr lang="es-ES" sz="1200">
                                      <a:latin typeface="Cambria Math" panose="02040503050406030204" pitchFamily="18" charset="0"/>
                                    </a:rPr>
                                    <m:t>m</m:t>
                                  </m:r>
                                </m:e>
                              </m:d>
                            </m:e>
                            <m:sup>
                              <m:r>
                                <a:rPr lang="es-ES" sz="1200">
                                  <a:latin typeface="Cambria Math" panose="02040503050406030204" pitchFamily="18" charset="0"/>
                                </a:rPr>
                                <m:t>2</m:t>
                              </m:r>
                            </m:sup>
                          </m:sSup>
                        </m:num>
                        <m:den>
                          <m:r>
                            <a:rPr lang="es-ES" sz="1200">
                              <a:latin typeface="Cambria Math" panose="02040503050406030204" pitchFamily="18" charset="0"/>
                            </a:rPr>
                            <m:t>4.2933×0.040 </m:t>
                          </m:r>
                          <m:r>
                            <a:rPr lang="es-ES" sz="1200" i="1">
                              <a:latin typeface="Cambria Math" panose="02040503050406030204" pitchFamily="18" charset="0"/>
                            </a:rPr>
                            <m:t>𝜇</m:t>
                          </m:r>
                          <m:r>
                            <m:rPr>
                              <m:sty m:val="p"/>
                            </m:rPr>
                            <a:rPr lang="es-ES" sz="1200">
                              <a:latin typeface="Cambria Math" panose="02040503050406030204" pitchFamily="18" charset="0"/>
                            </a:rPr>
                            <m:t>m</m:t>
                          </m:r>
                        </m:den>
                      </m:f>
                      <m:r>
                        <a:rPr lang="es-ES" sz="1200">
                          <a:latin typeface="Cambria Math" panose="02040503050406030204" pitchFamily="18" charset="0"/>
                        </a:rPr>
                        <m:t>≈</m:t>
                      </m:r>
                      <m:r>
                        <a:rPr lang="es-ES" sz="1200" b="0" i="1">
                          <a:latin typeface="Cambria Math" panose="02040503050406030204" pitchFamily="18" charset="0"/>
                        </a:rPr>
                        <m:t>13</m:t>
                      </m:r>
                      <m:r>
                        <a:rPr lang="es-ES" sz="1200" b="0">
                          <a:latin typeface="Cambria Math" panose="02040503050406030204" pitchFamily="18" charset="0"/>
                        </a:rPr>
                        <m:t>.</m:t>
                      </m:r>
                      <m:r>
                        <a:rPr lang="es-ES" sz="1200" b="0" i="1">
                          <a:latin typeface="Cambria Math" panose="02040503050406030204" pitchFamily="18" charset="0"/>
                        </a:rPr>
                        <m:t>9899</m:t>
                      </m:r>
                      <m:r>
                        <a:rPr lang="es-ES" sz="1200" b="0">
                          <a:latin typeface="Cambria Math" panose="02040503050406030204" pitchFamily="18" charset="0"/>
                        </a:rPr>
                        <m:t> </m:t>
                      </m:r>
                      <m:r>
                        <a:rPr lang="es-ES" sz="1200" b="0" i="1">
                          <a:latin typeface="Cambria Math" panose="02040503050406030204" pitchFamily="18" charset="0"/>
                        </a:rPr>
                        <m:t>𝜇</m:t>
                      </m:r>
                      <m:r>
                        <a:rPr lang="es-ES" sz="1200" b="0" i="1">
                          <a:latin typeface="Cambria Math" panose="02040503050406030204" pitchFamily="18" charset="0"/>
                        </a:rPr>
                        <m:t>𝑚</m:t>
                      </m:r>
                    </m:oMath>
                  </m:oMathPara>
                </a14:m>
                <a:endParaRPr lang="es-ES" sz="1200" dirty="0"/>
              </a:p>
              <a:p>
                <a:r>
                  <a:rPr lang="es-ES" sz="1200" dirty="0" err="1"/>
                  <a:t>Enforcing</a:t>
                </a:r>
                <a:r>
                  <a:rPr lang="es-ES" sz="1200" dirty="0"/>
                  <a:t> </a:t>
                </a:r>
                <a:r>
                  <a:rPr lang="es-ES" sz="1200" dirty="0" err="1"/>
                  <a:t>this</a:t>
                </a:r>
                <a:r>
                  <a:rPr lang="es-ES" sz="1200" dirty="0"/>
                  <a:t> </a:t>
                </a:r>
                <a:r>
                  <a:rPr lang="es-ES" sz="1200" dirty="0" err="1"/>
                  <a:t>path</a:t>
                </a:r>
                <a:r>
                  <a:rPr lang="es-ES" sz="1200" dirty="0"/>
                  <a:t> </a:t>
                </a:r>
                <a:r>
                  <a:rPr lang="es-ES" sz="1200" dirty="0" err="1"/>
                  <a:t>delay</a:t>
                </a:r>
                <a:r>
                  <a:rPr lang="es-ES" sz="1200" dirty="0"/>
                  <a:t> </a:t>
                </a:r>
                <a:r>
                  <a:rPr lang="es-ES" sz="1200" dirty="0" err="1"/>
                  <a:t>guarantees</a:t>
                </a:r>
                <a:r>
                  <a:rPr lang="es-ES" sz="1200" dirty="0"/>
                  <a:t> </a:t>
                </a:r>
                <a:r>
                  <a:rPr lang="es-ES" sz="1200" dirty="0" err="1"/>
                  <a:t>an</a:t>
                </a:r>
                <a:r>
                  <a:rPr lang="es-ES" sz="1200" dirty="0"/>
                  <a:t> </a:t>
                </a:r>
                <a:r>
                  <a:rPr lang="es-ES" sz="1200" dirty="0" err="1"/>
                  <a:t>exact</a:t>
                </a:r>
                <a:r>
                  <a:rPr lang="es-ES" sz="1200" dirty="0"/>
                  <a:t> </a:t>
                </a:r>
                <a:r>
                  <a:rPr lang="es-ES" sz="1200" dirty="0" err="1"/>
                  <a:t>spectral</a:t>
                </a:r>
                <a:r>
                  <a:rPr lang="es-ES" sz="1200" dirty="0"/>
                  <a:t> </a:t>
                </a:r>
                <a:r>
                  <a:rPr lang="es-ES" sz="1200" dirty="0" err="1"/>
                  <a:t>period</a:t>
                </a:r>
                <a:r>
                  <a:rPr lang="es-ES" sz="1200" dirty="0"/>
                  <a:t> </a:t>
                </a:r>
                <a:r>
                  <a:rPr lang="es-ES" sz="1200" dirty="0" err="1"/>
                  <a:t>of</a:t>
                </a:r>
                <a:r>
                  <a:rPr lang="es-ES" sz="1200" dirty="0"/>
                  <a:t> </a:t>
                </a:r>
                <a14:m>
                  <m:oMath xmlns:m="http://schemas.openxmlformats.org/officeDocument/2006/math">
                    <m:r>
                      <a:rPr lang="es-ES" sz="1200">
                        <a:latin typeface="Cambria Math" panose="02040503050406030204" pitchFamily="18" charset="0"/>
                      </a:rPr>
                      <m:t>40 </m:t>
                    </m:r>
                    <m:r>
                      <m:rPr>
                        <m:sty m:val="p"/>
                      </m:rPr>
                      <a:rPr lang="es-ES" sz="1200">
                        <a:latin typeface="Cambria Math" panose="02040503050406030204" pitchFamily="18" charset="0"/>
                      </a:rPr>
                      <m:t>nm</m:t>
                    </m:r>
                  </m:oMath>
                </a14:m>
                <a:r>
                  <a:rPr lang="es-ES" sz="1200" dirty="0" err="1"/>
                  <a:t>around</a:t>
                </a:r>
                <a:r>
                  <a:rPr lang="es-ES" sz="1200" dirty="0"/>
                  <a:t> </a:t>
                </a:r>
                <a14:m>
                  <m:oMath xmlns:m="http://schemas.openxmlformats.org/officeDocument/2006/math">
                    <m:r>
                      <a:rPr lang="es-ES" sz="1200">
                        <a:latin typeface="Cambria Math" panose="02040503050406030204" pitchFamily="18" charset="0"/>
                      </a:rPr>
                      <m:t>1550 </m:t>
                    </m:r>
                    <m:r>
                      <m:rPr>
                        <m:sty m:val="p"/>
                      </m:rPr>
                      <a:rPr lang="es-ES" sz="1200">
                        <a:latin typeface="Cambria Math" panose="02040503050406030204" pitchFamily="18" charset="0"/>
                      </a:rPr>
                      <m:t>nm</m:t>
                    </m:r>
                  </m:oMath>
                </a14:m>
                <a:r>
                  <a:rPr lang="es-ES" sz="1200" dirty="0"/>
                  <a:t>, </a:t>
                </a:r>
                <a:r>
                  <a:rPr lang="es-ES" sz="1200" dirty="0" err="1"/>
                  <a:t>with</a:t>
                </a:r>
                <a:r>
                  <a:rPr lang="es-ES" sz="1200" dirty="0"/>
                  <a:t> </a:t>
                </a:r>
                <a:r>
                  <a:rPr lang="es-ES" sz="1200" dirty="0" err="1"/>
                  <a:t>an</a:t>
                </a:r>
                <a:r>
                  <a:rPr lang="es-ES" sz="1200" dirty="0"/>
                  <a:t> </a:t>
                </a:r>
                <a:r>
                  <a:rPr lang="es-ES" sz="1200" dirty="0" err="1"/>
                  <a:t>integer</a:t>
                </a:r>
                <a:r>
                  <a:rPr lang="es-ES" sz="1200" dirty="0"/>
                  <a:t> </a:t>
                </a:r>
                <a:r>
                  <a:rPr lang="es-ES" sz="1200" dirty="0" err="1"/>
                  <a:t>interference</a:t>
                </a:r>
                <a:r>
                  <a:rPr lang="es-ES" sz="1200" dirty="0"/>
                  <a:t> </a:t>
                </a:r>
                <a:r>
                  <a:rPr lang="es-ES" sz="1200" dirty="0" err="1"/>
                  <a:t>order</a:t>
                </a:r>
                <a:r>
                  <a:rPr lang="es-ES" sz="1200" dirty="0"/>
                  <a:t> </a:t>
                </a:r>
                <a14:m>
                  <m:oMath xmlns:m="http://schemas.openxmlformats.org/officeDocument/2006/math">
                    <m:r>
                      <a:rPr lang="es-ES" sz="1200" i="1">
                        <a:latin typeface="Cambria Math" panose="02040503050406030204" pitchFamily="18" charset="0"/>
                      </a:rPr>
                      <m:t>𝑚</m:t>
                    </m:r>
                    <m:r>
                      <a:rPr lang="es-ES" sz="1200">
                        <a:latin typeface="Cambria Math" panose="02040503050406030204" pitchFamily="18" charset="0"/>
                      </a:rPr>
                      <m:t>=</m:t>
                    </m:r>
                    <m:r>
                      <m:rPr>
                        <m:nor/>
                      </m:rPr>
                      <a:rPr lang="es-ES" sz="1200" i="0"/>
                      <m:t>round</m:t>
                    </m:r>
                    <m:d>
                      <m:dPr>
                        <m:ctrlPr>
                          <a:rPr lang="es-ES" sz="1200" i="1">
                            <a:latin typeface="Cambria Math" panose="02040503050406030204" pitchFamily="18" charset="0"/>
                          </a:rPr>
                        </m:ctrlPr>
                      </m:dPr>
                      <m:e>
                        <m:f>
                          <m:fPr>
                            <m:ctrlPr>
                              <a:rPr lang="es-ES" sz="1200" i="1">
                                <a:latin typeface="Cambria Math" panose="02040503050406030204" pitchFamily="18" charset="0"/>
                              </a:rPr>
                            </m:ctrlPr>
                          </m:fPr>
                          <m:num>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m:rPr>
                                    <m:nor/>
                                  </m:rPr>
                                  <a:rPr lang="es-ES" sz="1200" i="0"/>
                                  <m:t>eff</m:t>
                                </m:r>
                              </m:sub>
                            </m:sSub>
                            <m:r>
                              <m:rPr>
                                <m:sty m:val="p"/>
                              </m:rPr>
                              <a:rPr lang="es-ES" sz="1200">
                                <a:latin typeface="Cambria Math" panose="02040503050406030204" pitchFamily="18" charset="0"/>
                              </a:rPr>
                              <m:t>Δ</m:t>
                            </m:r>
                            <m:r>
                              <a:rPr lang="es-ES" sz="1200" i="1">
                                <a:latin typeface="Cambria Math" panose="02040503050406030204" pitchFamily="18" charset="0"/>
                              </a:rPr>
                              <m:t>𝐿</m:t>
                            </m:r>
                          </m:num>
                          <m:den>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a:latin typeface="Cambria Math" panose="02040503050406030204" pitchFamily="18" charset="0"/>
                                  </a:rPr>
                                  <m:t>0</m:t>
                                </m:r>
                              </m:sub>
                            </m:sSub>
                          </m:den>
                        </m:f>
                      </m:e>
                    </m:d>
                    <m:r>
                      <a:rPr lang="es-ES" sz="1200">
                        <a:latin typeface="Cambria Math" panose="02040503050406030204" pitchFamily="18" charset="0"/>
                      </a:rPr>
                      <m:t>=21</m:t>
                    </m:r>
                  </m:oMath>
                </a14:m>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CFDBBA6B-3646-055F-7A9C-EE01830137BE}"/>
                  </a:ext>
                </a:extLst>
              </p:cNvPr>
              <p:cNvSpPr txBox="1">
                <a:spLocks noRot="1" noChangeAspect="1" noMove="1" noResize="1" noEditPoints="1" noAdjustHandles="1" noChangeArrowheads="1" noChangeShapeType="1" noTextEdit="1"/>
              </p:cNvSpPr>
              <p:nvPr/>
            </p:nvSpPr>
            <p:spPr>
              <a:xfrm>
                <a:off x="457201" y="3048000"/>
                <a:ext cx="6096000" cy="3125279"/>
              </a:xfrm>
              <a:prstGeom prst="rect">
                <a:avLst/>
              </a:prstGeom>
              <a:blipFill>
                <a:blip r:embed="rId7"/>
                <a:stretch>
                  <a:fillRect/>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9248E600-E614-65FE-AB7A-1F7A36CF6F76}"/>
              </a:ext>
            </a:extLst>
          </p:cNvPr>
          <p:cNvPicPr>
            <a:picLocks noChangeAspect="1"/>
          </p:cNvPicPr>
          <p:nvPr/>
        </p:nvPicPr>
        <p:blipFill>
          <a:blip r:embed="rId8"/>
          <a:stretch>
            <a:fillRect/>
          </a:stretch>
        </p:blipFill>
        <p:spPr>
          <a:xfrm>
            <a:off x="7351871" y="3079293"/>
            <a:ext cx="3919537" cy="3145307"/>
          </a:xfrm>
          <a:prstGeom prst="rect">
            <a:avLst/>
          </a:prstGeom>
        </p:spPr>
      </p:pic>
    </p:spTree>
    <p:extLst>
      <p:ext uri="{BB962C8B-B14F-4D97-AF65-F5344CB8AC3E}">
        <p14:creationId xmlns:p14="http://schemas.microsoft.com/office/powerpoint/2010/main" val="2337098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914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A4A2D6E-5993-52B3-D251-1ADF2B0C8355}"/>
                  </a:ext>
                </a:extLst>
              </p:cNvPr>
              <p:cNvSpPr txBox="1"/>
              <p:nvPr/>
            </p:nvSpPr>
            <p:spPr>
              <a:xfrm>
                <a:off x="456125" y="4114800"/>
                <a:ext cx="11199971" cy="209063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r>
                  <a:rPr lang="es-ES" sz="1100" dirty="0"/>
                  <a:t>In </a:t>
                </a:r>
                <a:r>
                  <a:rPr lang="es-ES" sz="1100" dirty="0" err="1"/>
                  <a:t>this</a:t>
                </a:r>
                <a:r>
                  <a:rPr lang="es-ES" sz="1100" dirty="0"/>
                  <a:t> </a:t>
                </a:r>
                <a:r>
                  <a:rPr lang="es-ES" sz="1100" dirty="0" err="1"/>
                  <a:t>assessment</a:t>
                </a:r>
                <a:r>
                  <a:rPr lang="es-ES" sz="1100" dirty="0"/>
                  <a:t>, </a:t>
                </a:r>
                <a:r>
                  <a:rPr lang="es-ES" sz="1100" dirty="0" err="1"/>
                  <a:t>the</a:t>
                </a:r>
                <a:r>
                  <a:rPr lang="es-ES" sz="1100" dirty="0"/>
                  <a:t> </a:t>
                </a:r>
                <a:r>
                  <a:rPr lang="es-ES" sz="1100" dirty="0" err="1"/>
                  <a:t>design</a:t>
                </a:r>
                <a:r>
                  <a:rPr lang="es-ES" sz="1100" dirty="0"/>
                  <a:t> </a:t>
                </a:r>
                <a:r>
                  <a:rPr lang="es-ES" sz="1100" dirty="0" err="1"/>
                  <a:t>parameters</a:t>
                </a:r>
                <a:r>
                  <a:rPr lang="es-ES" sz="1100" dirty="0"/>
                  <a:t> </a:t>
                </a:r>
                <a:r>
                  <a:rPr lang="es-ES" sz="1100" dirty="0" err="1"/>
                  <a:t>calculated</a:t>
                </a:r>
                <a:r>
                  <a:rPr lang="es-ES" sz="1100" dirty="0"/>
                  <a:t> in </a:t>
                </a:r>
                <a:r>
                  <a:rPr lang="es-ES" sz="1100" dirty="0" err="1"/>
                  <a:t>Assessment</a:t>
                </a:r>
                <a:r>
                  <a:rPr lang="es-ES" sz="1100" dirty="0"/>
                  <a:t> 2 (</a:t>
                </a:r>
                <a14:m>
                  <m:oMath xmlns:m="http://schemas.openxmlformats.org/officeDocument/2006/math">
                    <m:r>
                      <m:rPr>
                        <m:sty m:val="p"/>
                      </m:rPr>
                      <a:rPr lang="es-ES" sz="1100"/>
                      <m:t>Δ</m:t>
                    </m:r>
                    <m:r>
                      <a:rPr lang="es-ES" sz="1100" i="1"/>
                      <m:t>𝐿</m:t>
                    </m:r>
                    <m:r>
                      <a:rPr lang="es-ES" sz="1100"/>
                      <m:t>=13.9899 </m:t>
                    </m:r>
                    <m:r>
                      <a:rPr lang="es-ES" sz="1100" i="1"/>
                      <m:t>𝜇</m:t>
                    </m:r>
                    <m:r>
                      <m:rPr>
                        <m:sty m:val="p"/>
                      </m:rPr>
                      <a:rPr lang="es-ES" sz="1100"/>
                      <m:t>m</m:t>
                    </m:r>
                  </m:oMath>
                </a14:m>
                <a:r>
                  <a:rPr lang="es-ES" sz="1100" dirty="0"/>
                  <a:t>, targeting </a:t>
                </a:r>
                <a:r>
                  <a:rPr lang="es-ES" sz="1100" dirty="0" err="1"/>
                  <a:t>an</a:t>
                </a:r>
                <a:r>
                  <a:rPr lang="es-ES" sz="1100" dirty="0"/>
                  <a:t> </a:t>
                </a:r>
                <a14:m>
                  <m:oMath xmlns:m="http://schemas.openxmlformats.org/officeDocument/2006/math">
                    <m:r>
                      <m:rPr>
                        <m:sty m:val="p"/>
                      </m:rPr>
                      <a:rPr lang="es-ES" sz="1100"/>
                      <m:t>FSR</m:t>
                    </m:r>
                    <m:r>
                      <a:rPr lang="es-ES" sz="1100"/>
                      <m:t>=40 </m:t>
                    </m:r>
                    <m:r>
                      <m:rPr>
                        <m:sty m:val="p"/>
                      </m:rPr>
                      <a:rPr lang="es-ES" sz="1100"/>
                      <m:t>nm</m:t>
                    </m:r>
                  </m:oMath>
                </a14:m>
                <a:r>
                  <a:rPr lang="es-ES" sz="1100" dirty="0"/>
                  <a:t>at </a:t>
                </a:r>
                <a14:m>
                  <m:oMath xmlns:m="http://schemas.openxmlformats.org/officeDocument/2006/math">
                    <m:sSub>
                      <m:sSubPr>
                        <m:ctrlPr>
                          <a:rPr lang="es-ES" sz="1100" i="1"/>
                        </m:ctrlPr>
                      </m:sSubPr>
                      <m:e>
                        <m:r>
                          <a:rPr lang="es-ES" sz="1100" i="1"/>
                          <m:t>𝜆</m:t>
                        </m:r>
                      </m:e>
                      <m:sub>
                        <m:r>
                          <a:rPr lang="es-ES" sz="1100"/>
                          <m:t>0</m:t>
                        </m:r>
                      </m:sub>
                    </m:sSub>
                    <m:r>
                      <a:rPr lang="es-ES" sz="1100"/>
                      <m:t>=1.55 </m:t>
                    </m:r>
                    <m:r>
                      <a:rPr lang="es-ES" sz="1100" i="1"/>
                      <m:t>𝜇</m:t>
                    </m:r>
                    <m:r>
                      <m:rPr>
                        <m:sty m:val="p"/>
                      </m:rPr>
                      <a:rPr lang="es-ES" sz="1100"/>
                      <m:t>m</m:t>
                    </m:r>
                  </m:oMath>
                </a14:m>
                <a:r>
                  <a:rPr lang="es-ES" sz="1100" dirty="0"/>
                  <a:t>) </a:t>
                </a:r>
                <a:r>
                  <a:rPr lang="es-ES" sz="1100" dirty="0" err="1"/>
                  <a:t>were</a:t>
                </a:r>
                <a:r>
                  <a:rPr lang="es-ES" sz="1100" dirty="0"/>
                  <a:t> </a:t>
                </a:r>
                <a:r>
                  <a:rPr lang="es-ES" sz="1100" dirty="0" err="1"/>
                  <a:t>implemented</a:t>
                </a:r>
                <a:r>
                  <a:rPr lang="es-ES" sz="1100" dirty="0"/>
                  <a:t> </a:t>
                </a:r>
                <a:r>
                  <a:rPr lang="es-ES" sz="1100" dirty="0" err="1"/>
                  <a:t>into</a:t>
                </a:r>
                <a:r>
                  <a:rPr lang="es-ES" sz="1100" dirty="0"/>
                  <a:t> </a:t>
                </a:r>
                <a:r>
                  <a:rPr lang="es-ES" sz="1100" dirty="0" err="1"/>
                  <a:t>the</a:t>
                </a:r>
                <a:r>
                  <a:rPr lang="es-ES" sz="1100" dirty="0"/>
                  <a:t> modular SAX </a:t>
                </a:r>
                <a:r>
                  <a:rPr lang="es-ES" sz="1100" dirty="0" err="1"/>
                  <a:t>circuit</a:t>
                </a:r>
                <a:r>
                  <a:rPr lang="es-ES" sz="1100" dirty="0"/>
                  <a:t> </a:t>
                </a:r>
                <a:r>
                  <a:rPr lang="es-ES" sz="1100" dirty="0" err="1"/>
                  <a:t>model</a:t>
                </a:r>
                <a:r>
                  <a:rPr lang="es-ES" sz="1100" dirty="0"/>
                  <a:t> (</a:t>
                </a:r>
                <a14:m>
                  <m:oMath xmlns:m="http://schemas.openxmlformats.org/officeDocument/2006/math">
                    <m:sSub>
                      <m:sSubPr>
                        <m:ctrlPr>
                          <a:rPr lang="es-ES" sz="1100" i="1"/>
                        </m:ctrlPr>
                      </m:sSubPr>
                      <m:e>
                        <m:r>
                          <a:rPr lang="es-ES" sz="1100" i="1"/>
                          <m:t>𝐿</m:t>
                        </m:r>
                      </m:e>
                      <m:sub>
                        <m:r>
                          <a:rPr lang="es-ES" sz="1100" i="1"/>
                          <m:t>𝑑</m:t>
                        </m:r>
                      </m:sub>
                    </m:sSub>
                    <m:r>
                      <a:rPr lang="es-ES" sz="1100"/>
                      <m:t>=25.0 </m:t>
                    </m:r>
                    <m:r>
                      <a:rPr lang="es-ES" sz="1100" i="1"/>
                      <m:t>𝜇</m:t>
                    </m:r>
                    <m:r>
                      <m:rPr>
                        <m:sty m:val="p"/>
                      </m:rPr>
                      <a:rPr lang="es-ES" sz="1100"/>
                      <m:t>m</m:t>
                    </m:r>
                  </m:oMath>
                </a14:m>
                <a:r>
                  <a:rPr lang="es-ES" sz="1100" dirty="0"/>
                  <a:t>, </a:t>
                </a:r>
                <a14:m>
                  <m:oMath xmlns:m="http://schemas.openxmlformats.org/officeDocument/2006/math">
                    <m:sSub>
                      <m:sSubPr>
                        <m:ctrlPr>
                          <a:rPr lang="es-ES" sz="1100" i="1"/>
                        </m:ctrlPr>
                      </m:sSubPr>
                      <m:e>
                        <m:r>
                          <a:rPr lang="es-ES" sz="1100" i="1"/>
                          <m:t>𝐿</m:t>
                        </m:r>
                      </m:e>
                      <m:sub>
                        <m:r>
                          <a:rPr lang="es-ES" sz="1100" i="1"/>
                          <m:t>𝑢</m:t>
                        </m:r>
                      </m:sub>
                    </m:sSub>
                    <m:r>
                      <a:rPr lang="es-ES" sz="1100"/>
                      <m:t>=38.9899 </m:t>
                    </m:r>
                    <m:r>
                      <a:rPr lang="es-ES" sz="1100" i="1"/>
                      <m:t>𝜇</m:t>
                    </m:r>
                    <m:r>
                      <m:rPr>
                        <m:sty m:val="p"/>
                      </m:rPr>
                      <a:rPr lang="es-ES" sz="1100"/>
                      <m:t>m</m:t>
                    </m:r>
                  </m:oMath>
                </a14:m>
                <a:r>
                  <a:rPr lang="es-ES" sz="1100" dirty="0"/>
                  <a:t>). </a:t>
                </a:r>
                <a:r>
                  <a:rPr lang="es-ES" sz="1100" dirty="0" err="1"/>
                  <a:t>To</a:t>
                </a:r>
                <a:r>
                  <a:rPr lang="es-ES" sz="1100" dirty="0"/>
                  <a:t> </a:t>
                </a:r>
                <a:r>
                  <a:rPr lang="es-ES" sz="1100" dirty="0" err="1"/>
                  <a:t>validate</a:t>
                </a:r>
                <a:r>
                  <a:rPr lang="es-ES" sz="1100" dirty="0"/>
                  <a:t> </a:t>
                </a:r>
                <a:r>
                  <a:rPr lang="es-ES" sz="1100" dirty="0" err="1"/>
                  <a:t>the</a:t>
                </a:r>
                <a:r>
                  <a:rPr lang="es-ES" sz="1100" dirty="0"/>
                  <a:t> </a:t>
                </a:r>
                <a:r>
                  <a:rPr lang="es-ES" sz="1100" dirty="0" err="1"/>
                  <a:t>physical</a:t>
                </a:r>
                <a:r>
                  <a:rPr lang="es-ES" sz="1100" dirty="0"/>
                  <a:t> </a:t>
                </a:r>
                <a:r>
                  <a:rPr lang="es-ES" sz="1100" dirty="0" err="1"/>
                  <a:t>consistency</a:t>
                </a:r>
                <a:r>
                  <a:rPr lang="es-ES" sz="1100" dirty="0"/>
                  <a:t> and </a:t>
                </a:r>
                <a:r>
                  <a:rPr lang="es-ES" sz="1100" dirty="0" err="1"/>
                  <a:t>numerical</a:t>
                </a:r>
                <a:r>
                  <a:rPr lang="es-ES" sz="1100" dirty="0"/>
                  <a:t> </a:t>
                </a:r>
                <a:r>
                  <a:rPr lang="es-ES" sz="1100" dirty="0" err="1"/>
                  <a:t>implementation</a:t>
                </a:r>
                <a:r>
                  <a:rPr lang="es-ES" sz="1100" dirty="0"/>
                  <a:t> </a:t>
                </a:r>
                <a:r>
                  <a:rPr lang="es-ES" sz="1100" dirty="0" err="1"/>
                  <a:t>of</a:t>
                </a:r>
                <a:r>
                  <a:rPr lang="es-ES" sz="1100" dirty="0"/>
                  <a:t> </a:t>
                </a:r>
                <a:r>
                  <a:rPr lang="es-ES" sz="1100" dirty="0" err="1"/>
                  <a:t>the</a:t>
                </a:r>
                <a:r>
                  <a:rPr lang="es-ES" sz="1100" dirty="0"/>
                  <a:t> individual </a:t>
                </a:r>
                <a:r>
                  <a:rPr lang="es-ES" sz="1100" dirty="0" err="1"/>
                  <a:t>component</a:t>
                </a:r>
                <a:r>
                  <a:rPr lang="es-ES" sz="1100" dirty="0"/>
                  <a:t> </a:t>
                </a:r>
                <a:r>
                  <a:rPr lang="es-ES" sz="1100" dirty="0" err="1"/>
                  <a:t>models</a:t>
                </a:r>
                <a:r>
                  <a:rPr lang="es-ES" sz="1100" dirty="0"/>
                  <a:t> (</a:t>
                </a:r>
                <a:r>
                  <a:rPr lang="es-ES" sz="1100" dirty="0" err="1"/>
                  <a:t>waveguide</a:t>
                </a:r>
                <a:r>
                  <a:rPr lang="es-ES" sz="1100" dirty="0"/>
                  <a:t> and </a:t>
                </a:r>
                <a:r>
                  <a:rPr lang="es-ES" sz="1100" dirty="0" err="1"/>
                  <a:t>coupler</a:t>
                </a:r>
                <a:r>
                  <a:rPr lang="es-ES" sz="1100" dirty="0"/>
                  <a:t>), </a:t>
                </a:r>
                <a:r>
                  <a:rPr lang="es-ES" sz="1100" dirty="0" err="1"/>
                  <a:t>the</a:t>
                </a:r>
                <a:r>
                  <a:rPr lang="es-ES" sz="1100" dirty="0"/>
                  <a:t> SAX S-</a:t>
                </a:r>
                <a:r>
                  <a:rPr lang="es-ES" sz="1100" dirty="0" err="1"/>
                  <a:t>matrix</a:t>
                </a:r>
                <a:r>
                  <a:rPr lang="es-ES" sz="1100" dirty="0"/>
                  <a:t> response </a:t>
                </a:r>
                <a:r>
                  <a:rPr lang="es-ES" sz="1100" dirty="0" err="1"/>
                  <a:t>was</a:t>
                </a:r>
                <a:r>
                  <a:rPr lang="es-ES" sz="1100" dirty="0"/>
                  <a:t> </a:t>
                </a:r>
                <a:r>
                  <a:rPr lang="es-ES" sz="1100" dirty="0" err="1"/>
                  <a:t>benchmarked</a:t>
                </a:r>
                <a:r>
                  <a:rPr lang="es-ES" sz="1100" dirty="0"/>
                  <a:t> </a:t>
                </a:r>
                <a:r>
                  <a:rPr lang="es-ES" sz="1100" dirty="0" err="1"/>
                  <a:t>directly</a:t>
                </a:r>
                <a:r>
                  <a:rPr lang="es-ES" sz="1100" dirty="0"/>
                  <a:t> </a:t>
                </a:r>
                <a:r>
                  <a:rPr lang="es-ES" sz="1100" dirty="0" err="1"/>
                  <a:t>against</a:t>
                </a:r>
                <a:r>
                  <a:rPr lang="es-ES" sz="1100" dirty="0"/>
                  <a:t> </a:t>
                </a:r>
                <a:r>
                  <a:rPr lang="es-ES" sz="1100" dirty="0" err="1"/>
                  <a:t>the</a:t>
                </a:r>
                <a:r>
                  <a:rPr lang="es-ES" sz="1100" dirty="0"/>
                  <a:t> </a:t>
                </a:r>
                <a:r>
                  <a:rPr lang="es-ES" sz="1100" dirty="0" err="1"/>
                  <a:t>analytical</a:t>
                </a:r>
                <a:r>
                  <a:rPr lang="es-ES" sz="1100" dirty="0"/>
                  <a:t> transfer </a:t>
                </a:r>
                <a:r>
                  <a:rPr lang="es-ES" sz="1100" dirty="0" err="1"/>
                  <a:t>function</a:t>
                </a:r>
                <a:r>
                  <a:rPr lang="es-ES" sz="1100" dirty="0"/>
                  <a:t> </a:t>
                </a:r>
                <a:r>
                  <a:rPr lang="es-ES" sz="1100" dirty="0" err="1"/>
                  <a:t>derived</a:t>
                </a:r>
                <a:r>
                  <a:rPr lang="es-ES" sz="1100" dirty="0"/>
                  <a:t> </a:t>
                </a:r>
                <a:r>
                  <a:rPr lang="es-ES" sz="1100" dirty="0" err="1"/>
                  <a:t>from</a:t>
                </a:r>
                <a:r>
                  <a:rPr lang="es-ES" sz="1100" dirty="0"/>
                  <a:t> </a:t>
                </a:r>
                <a:r>
                  <a:rPr lang="es-ES" sz="1100" dirty="0" err="1"/>
                  <a:t>interference</a:t>
                </a:r>
                <a:r>
                  <a:rPr lang="es-ES" sz="1100" dirty="0"/>
                  <a:t> </a:t>
                </a:r>
                <a:r>
                  <a:rPr lang="es-ES" sz="1100" dirty="0" err="1"/>
                  <a:t>theory</a:t>
                </a:r>
                <a:r>
                  <a:rPr lang="es-ES" sz="1100" dirty="0"/>
                  <a:t>:</a:t>
                </a:r>
              </a:p>
              <a:p>
                <a14:m>
                  <m:oMathPara xmlns:m="http://schemas.openxmlformats.org/officeDocument/2006/math">
                    <m:oMath>
                      <m:sSub>
                        <m:sSubPr>
                          <m:ctrlPr>
                            <a:rPr lang="es-ES" sz="1100" i="1"/>
                          </m:ctrlPr>
                        </m:sSubPr>
                        <m:e>
                          <m:r>
                            <a:rPr lang="es-ES" sz="1100" i="1"/>
                            <m:t>𝑇</m:t>
                          </m:r>
                        </m:e>
                        <m:sub>
                          <m:r>
                            <m:rPr>
                              <m:sty m:val="p"/>
                            </m:rPr>
                            <a:rPr lang="es-ES" sz="1100"/>
                            <m:t>bar</m:t>
                          </m:r>
                        </m:sub>
                      </m:sSub>
                      <m:d>
                        <m:dPr>
                          <m:ctrlPr>
                            <a:rPr lang="es-ES" sz="1100" i="1"/>
                          </m:ctrlPr>
                        </m:dPr>
                        <m:e>
                          <m:r>
                            <a:rPr lang="es-ES" sz="1100" i="1"/>
                            <m:t>𝜆</m:t>
                          </m:r>
                        </m:e>
                      </m:d>
                      <m:r>
                        <a:rPr lang="es-ES" sz="1100"/>
                        <m:t>=</m:t>
                      </m:r>
                      <m:func>
                        <m:funcPr>
                          <m:ctrlPr>
                            <a:rPr lang="es-ES" sz="1100" i="1"/>
                          </m:ctrlPr>
                        </m:funcPr>
                        <m:fName>
                          <m:sSup>
                            <m:sSupPr>
                              <m:ctrlPr>
                                <a:rPr lang="es-ES" sz="1100"/>
                              </m:ctrlPr>
                            </m:sSupPr>
                            <m:e>
                              <m:r>
                                <m:rPr>
                                  <m:sty m:val="p"/>
                                </m:rPr>
                                <a:rPr lang="es-ES" sz="1100"/>
                                <m:t>cos</m:t>
                              </m:r>
                            </m:e>
                            <m:sup>
                              <m:r>
                                <a:rPr lang="es-ES" sz="1100"/>
                                <m:t>2</m:t>
                              </m:r>
                            </m:sup>
                          </m:sSup>
                        </m:fName>
                        <m:e>
                          <m:d>
                            <m:dPr>
                              <m:ctrlPr>
                                <a:rPr lang="es-ES" sz="1100" i="1"/>
                              </m:ctrlPr>
                            </m:dPr>
                            <m:e>
                              <m:f>
                                <m:fPr>
                                  <m:ctrlPr>
                                    <a:rPr lang="es-ES" sz="1100"/>
                                  </m:ctrlPr>
                                </m:fPr>
                                <m:num>
                                  <m:r>
                                    <m:rPr>
                                      <m:sty m:val="p"/>
                                    </m:rPr>
                                    <a:rPr lang="es-ES" sz="1100"/>
                                    <m:t>Δ</m:t>
                                  </m:r>
                                  <m:r>
                                    <a:rPr lang="es-ES" sz="1100" i="1"/>
                                    <m:t>𝜙</m:t>
                                  </m:r>
                                  <m:d>
                                    <m:dPr>
                                      <m:ctrlPr>
                                        <a:rPr lang="es-ES" sz="1100" i="1"/>
                                      </m:ctrlPr>
                                    </m:dPr>
                                    <m:e>
                                      <m:r>
                                        <a:rPr lang="es-ES" sz="1100" i="1"/>
                                        <m:t>𝜆</m:t>
                                      </m:r>
                                    </m:e>
                                  </m:d>
                                </m:num>
                                <m:den>
                                  <m:r>
                                    <a:rPr lang="es-ES" sz="1100"/>
                                    <m:t>2</m:t>
                                  </m:r>
                                </m:den>
                              </m:f>
                            </m:e>
                          </m:d>
                        </m:e>
                      </m:func>
                      <m:r>
                        <a:rPr lang="es-ES" sz="1100"/>
                        <m:t>, </m:t>
                      </m:r>
                      <m:sSub>
                        <m:sSubPr>
                          <m:ctrlPr>
                            <a:rPr lang="es-ES" sz="1100" i="1"/>
                          </m:ctrlPr>
                        </m:sSubPr>
                        <m:e>
                          <m:r>
                            <a:rPr lang="es-ES" sz="1100" i="1"/>
                            <m:t>𝑇</m:t>
                          </m:r>
                        </m:e>
                        <m:sub>
                          <m:r>
                            <m:rPr>
                              <m:sty m:val="p"/>
                            </m:rPr>
                            <a:rPr lang="es-ES" sz="1100"/>
                            <m:t>cross</m:t>
                          </m:r>
                        </m:sub>
                      </m:sSub>
                      <m:d>
                        <m:dPr>
                          <m:ctrlPr>
                            <a:rPr lang="es-ES" sz="1100" i="1"/>
                          </m:ctrlPr>
                        </m:dPr>
                        <m:e>
                          <m:r>
                            <a:rPr lang="es-ES" sz="1100" i="1"/>
                            <m:t>𝜆</m:t>
                          </m:r>
                        </m:e>
                      </m:d>
                      <m:r>
                        <a:rPr lang="es-ES" sz="1100"/>
                        <m:t>=</m:t>
                      </m:r>
                      <m:func>
                        <m:funcPr>
                          <m:ctrlPr>
                            <a:rPr lang="es-ES" sz="1100" i="1"/>
                          </m:ctrlPr>
                        </m:funcPr>
                        <m:fName>
                          <m:sSup>
                            <m:sSupPr>
                              <m:ctrlPr>
                                <a:rPr lang="es-ES" sz="1100"/>
                              </m:ctrlPr>
                            </m:sSupPr>
                            <m:e>
                              <m:r>
                                <m:rPr>
                                  <m:sty m:val="p"/>
                                </m:rPr>
                                <a:rPr lang="es-ES" sz="1100"/>
                                <m:t>sin</m:t>
                              </m:r>
                            </m:e>
                            <m:sup>
                              <m:r>
                                <a:rPr lang="es-ES" sz="1100"/>
                                <m:t>2</m:t>
                              </m:r>
                            </m:sup>
                          </m:sSup>
                        </m:fName>
                        <m:e>
                          <m:d>
                            <m:dPr>
                              <m:ctrlPr>
                                <a:rPr lang="es-ES" sz="1100" i="1"/>
                              </m:ctrlPr>
                            </m:dPr>
                            <m:e>
                              <m:f>
                                <m:fPr>
                                  <m:ctrlPr>
                                    <a:rPr lang="es-ES" sz="1100"/>
                                  </m:ctrlPr>
                                </m:fPr>
                                <m:num>
                                  <m:r>
                                    <m:rPr>
                                      <m:sty m:val="p"/>
                                    </m:rPr>
                                    <a:rPr lang="es-ES" sz="1100"/>
                                    <m:t>Δ</m:t>
                                  </m:r>
                                  <m:r>
                                    <a:rPr lang="es-ES" sz="1100" i="1"/>
                                    <m:t>𝜙</m:t>
                                  </m:r>
                                  <m:d>
                                    <m:dPr>
                                      <m:ctrlPr>
                                        <a:rPr lang="es-ES" sz="1100" i="1"/>
                                      </m:ctrlPr>
                                    </m:dPr>
                                    <m:e>
                                      <m:r>
                                        <a:rPr lang="es-ES" sz="1100" i="1"/>
                                        <m:t>𝜆</m:t>
                                      </m:r>
                                    </m:e>
                                  </m:d>
                                </m:num>
                                <m:den>
                                  <m:r>
                                    <a:rPr lang="es-ES" sz="1100"/>
                                    <m:t>2</m:t>
                                  </m:r>
                                </m:den>
                              </m:f>
                            </m:e>
                          </m:d>
                        </m:e>
                      </m:func>
                    </m:oMath>
                  </m:oMathPara>
                </a14:m>
                <a:endParaRPr lang="es-ES" sz="1100" dirty="0"/>
              </a:p>
              <a:p>
                <a:r>
                  <a:rPr lang="es-ES" sz="1100" dirty="0" err="1"/>
                  <a:t>where</a:t>
                </a:r>
                <a:r>
                  <a:rPr lang="es-ES" sz="1100" dirty="0"/>
                  <a:t> </a:t>
                </a:r>
                <a14:m>
                  <m:oMath xmlns:m="http://schemas.openxmlformats.org/officeDocument/2006/math">
                    <m:r>
                      <m:rPr>
                        <m:sty m:val="p"/>
                      </m:rPr>
                      <a:rPr lang="es-ES" sz="1100"/>
                      <m:t>Δ</m:t>
                    </m:r>
                    <m:r>
                      <a:rPr lang="es-ES" sz="1100" i="1"/>
                      <m:t>𝜙</m:t>
                    </m:r>
                    <m:d>
                      <m:dPr>
                        <m:ctrlPr>
                          <a:rPr lang="es-ES" sz="1100" i="1"/>
                        </m:ctrlPr>
                      </m:dPr>
                      <m:e>
                        <m:r>
                          <a:rPr lang="es-ES" sz="1100" i="1"/>
                          <m:t>𝜆</m:t>
                        </m:r>
                      </m:e>
                    </m:d>
                    <m:r>
                      <a:rPr lang="es-ES" sz="1100"/>
                      <m:t>=</m:t>
                    </m:r>
                    <m:f>
                      <m:fPr>
                        <m:ctrlPr>
                          <a:rPr lang="es-ES" sz="1100"/>
                        </m:ctrlPr>
                      </m:fPr>
                      <m:num>
                        <m:r>
                          <a:rPr lang="es-ES" sz="1100"/>
                          <m:t>2</m:t>
                        </m:r>
                        <m:r>
                          <a:rPr lang="es-ES" sz="1100" i="1"/>
                          <m:t>𝜋</m:t>
                        </m:r>
                      </m:num>
                      <m:den>
                        <m:r>
                          <a:rPr lang="es-ES" sz="1100" i="1"/>
                          <m:t>𝜆</m:t>
                        </m:r>
                      </m:den>
                    </m:f>
                    <m:sSub>
                      <m:sSubPr>
                        <m:ctrlPr>
                          <a:rPr lang="es-ES" sz="1100" i="1"/>
                        </m:ctrlPr>
                      </m:sSubPr>
                      <m:e>
                        <m:r>
                          <a:rPr lang="es-ES" sz="1100" i="1"/>
                          <m:t>𝑛</m:t>
                        </m:r>
                      </m:e>
                      <m:sub>
                        <m:r>
                          <m:rPr>
                            <m:sty m:val="p"/>
                          </m:rPr>
                          <a:rPr lang="es-ES" sz="1100"/>
                          <m:t>eff</m:t>
                        </m:r>
                      </m:sub>
                    </m:sSub>
                    <m:d>
                      <m:dPr>
                        <m:ctrlPr>
                          <a:rPr lang="es-ES" sz="1100" i="1"/>
                        </m:ctrlPr>
                      </m:dPr>
                      <m:e>
                        <m:r>
                          <a:rPr lang="es-ES" sz="1100" i="1"/>
                          <m:t>𝜆</m:t>
                        </m:r>
                      </m:e>
                    </m:d>
                    <m:r>
                      <m:rPr>
                        <m:sty m:val="p"/>
                      </m:rPr>
                      <a:rPr lang="es-ES" sz="1100"/>
                      <m:t>Δ</m:t>
                    </m:r>
                    <m:r>
                      <a:rPr lang="es-ES" sz="1100" i="1"/>
                      <m:t>𝐿</m:t>
                    </m:r>
                  </m:oMath>
                </a14:m>
                <a:r>
                  <a:rPr lang="es-ES" sz="1100" dirty="0"/>
                  <a:t>.</a:t>
                </a:r>
              </a:p>
              <a:p>
                <a:r>
                  <a:rPr lang="es-ES" sz="1100" dirty="0"/>
                  <a:t>As </a:t>
                </a:r>
                <a:r>
                  <a:rPr lang="es-ES" sz="1100" dirty="0" err="1"/>
                  <a:t>displayed</a:t>
                </a:r>
                <a:r>
                  <a:rPr lang="es-ES" sz="1100" dirty="0"/>
                  <a:t> in </a:t>
                </a:r>
                <a:r>
                  <a:rPr lang="es-ES" sz="1100" dirty="0" err="1"/>
                  <a:t>the</a:t>
                </a:r>
                <a:r>
                  <a:rPr lang="es-ES" sz="1100" dirty="0"/>
                  <a:t> comparative </a:t>
                </a:r>
                <a:r>
                  <a:rPr lang="es-ES" sz="1100" dirty="0" err="1"/>
                  <a:t>spectrum</a:t>
                </a:r>
                <a:r>
                  <a:rPr lang="es-ES" sz="1100" dirty="0"/>
                  <a:t>, </a:t>
                </a:r>
                <a:r>
                  <a:rPr lang="es-ES" sz="1100" dirty="0" err="1"/>
                  <a:t>the</a:t>
                </a:r>
                <a:r>
                  <a:rPr lang="es-ES" sz="1100" dirty="0"/>
                  <a:t> SAX </a:t>
                </a:r>
                <a:r>
                  <a:rPr lang="es-ES" sz="1100" dirty="0" err="1"/>
                  <a:t>simulated</a:t>
                </a:r>
                <a:r>
                  <a:rPr lang="es-ES" sz="1100" dirty="0"/>
                  <a:t> </a:t>
                </a:r>
                <a:r>
                  <a:rPr lang="es-ES" sz="1100" dirty="0" err="1"/>
                  <a:t>transmission</a:t>
                </a:r>
                <a:r>
                  <a:rPr lang="es-ES" sz="1100" dirty="0"/>
                  <a:t> curves </a:t>
                </a:r>
                <a:r>
                  <a:rPr lang="es-ES" sz="1100" dirty="0" err="1"/>
                  <a:t>for</a:t>
                </a:r>
                <a:r>
                  <a:rPr lang="es-ES" sz="1100" dirty="0"/>
                  <a:t> </a:t>
                </a:r>
                <a:r>
                  <a:rPr lang="es-ES" sz="1100" dirty="0" err="1"/>
                  <a:t>both</a:t>
                </a:r>
                <a:r>
                  <a:rPr lang="es-ES" sz="1100" dirty="0"/>
                  <a:t> </a:t>
                </a:r>
                <a:r>
                  <a:rPr lang="es-ES" sz="1100" dirty="0" err="1"/>
                  <a:t>the</a:t>
                </a:r>
                <a:r>
                  <a:rPr lang="es-ES" sz="1100" dirty="0"/>
                  <a:t> Bar </a:t>
                </a:r>
                <a:r>
                  <a:rPr lang="es-ES" sz="1100" dirty="0" err="1"/>
                  <a:t>port</a:t>
                </a:r>
                <a:r>
                  <a:rPr lang="es-ES" sz="1100" dirty="0"/>
                  <a:t> (</a:t>
                </a:r>
                <a14:m>
                  <m:oMath xmlns:m="http://schemas.openxmlformats.org/officeDocument/2006/math">
                    <m:r>
                      <a:rPr lang="es-ES" sz="1100"/>
                      <m:t>|</m:t>
                    </m:r>
                    <m:sSub>
                      <m:sSubPr>
                        <m:ctrlPr>
                          <a:rPr lang="es-ES" sz="1100" i="1"/>
                        </m:ctrlPr>
                      </m:sSubPr>
                      <m:e>
                        <m:r>
                          <a:rPr lang="es-ES" sz="1100" i="1"/>
                          <m:t>𝐻</m:t>
                        </m:r>
                      </m:e>
                      <m:sub>
                        <m:r>
                          <a:rPr lang="es-ES" sz="1100"/>
                          <m:t>00</m:t>
                        </m:r>
                      </m:sub>
                    </m:sSub>
                    <m:r>
                      <a:rPr lang="es-ES" sz="1100"/>
                      <m:t>|</m:t>
                    </m:r>
                    <m:sSup>
                      <m:sSupPr>
                        <m:ctrlPr>
                          <a:rPr lang="es-ES" sz="1100"/>
                        </m:ctrlPr>
                      </m:sSupPr>
                      <m:e>
                        <m:r>
                          <a:rPr lang="es-ES" sz="1100"/>
                          <m:t>​</m:t>
                        </m:r>
                      </m:e>
                      <m:sup>
                        <m:r>
                          <a:rPr lang="es-ES" sz="1100"/>
                          <m:t>2</m:t>
                        </m:r>
                      </m:sup>
                    </m:sSup>
                  </m:oMath>
                </a14:m>
                <a:r>
                  <a:rPr lang="es-ES" sz="1100" dirty="0"/>
                  <a:t>) and Cross </a:t>
                </a:r>
                <a:r>
                  <a:rPr lang="es-ES" sz="1100" dirty="0" err="1"/>
                  <a:t>port</a:t>
                </a:r>
                <a:r>
                  <a:rPr lang="es-ES" sz="1100" dirty="0"/>
                  <a:t> (</a:t>
                </a:r>
                <a14:m>
                  <m:oMath xmlns:m="http://schemas.openxmlformats.org/officeDocument/2006/math">
                    <m:r>
                      <a:rPr lang="es-ES" sz="1100"/>
                      <m:t>|</m:t>
                    </m:r>
                    <m:sSub>
                      <m:sSubPr>
                        <m:ctrlPr>
                          <a:rPr lang="es-ES" sz="1100" i="1"/>
                        </m:ctrlPr>
                      </m:sSubPr>
                      <m:e>
                        <m:r>
                          <a:rPr lang="es-ES" sz="1100" i="1"/>
                          <m:t>𝐻</m:t>
                        </m:r>
                      </m:e>
                      <m:sub>
                        <m:r>
                          <a:rPr lang="es-ES" sz="1100"/>
                          <m:t>01</m:t>
                        </m:r>
                      </m:sub>
                    </m:sSub>
                    <m:r>
                      <a:rPr lang="es-ES" sz="1100"/>
                      <m:t>|</m:t>
                    </m:r>
                    <m:sSup>
                      <m:sSupPr>
                        <m:ctrlPr>
                          <a:rPr lang="es-ES" sz="1100"/>
                        </m:ctrlPr>
                      </m:sSupPr>
                      <m:e>
                        <m:r>
                          <a:rPr lang="es-ES" sz="1100"/>
                          <m:t>​</m:t>
                        </m:r>
                      </m:e>
                      <m:sup>
                        <m:r>
                          <a:rPr lang="es-ES" sz="1100"/>
                          <m:t>2</m:t>
                        </m:r>
                      </m:sup>
                    </m:sSup>
                  </m:oMath>
                </a14:m>
                <a:r>
                  <a:rPr lang="es-ES" sz="1100" dirty="0"/>
                  <a:t>) </a:t>
                </a:r>
                <a:r>
                  <a:rPr lang="es-ES" sz="1100" dirty="0" err="1"/>
                  <a:t>overlap</a:t>
                </a:r>
                <a:r>
                  <a:rPr lang="es-ES" sz="1100" dirty="0"/>
                  <a:t> </a:t>
                </a:r>
                <a:r>
                  <a:rPr lang="es-ES" sz="1100" dirty="0" err="1"/>
                  <a:t>identically</a:t>
                </a:r>
                <a:r>
                  <a:rPr lang="es-ES" sz="1100" dirty="0"/>
                  <a:t> </a:t>
                </a:r>
                <a:r>
                  <a:rPr lang="es-ES" sz="1100" dirty="0" err="1"/>
                  <a:t>with</a:t>
                </a:r>
                <a:r>
                  <a:rPr lang="es-ES" sz="1100" dirty="0"/>
                  <a:t> </a:t>
                </a:r>
                <a:r>
                  <a:rPr lang="es-ES" sz="1100" dirty="0" err="1"/>
                  <a:t>the</a:t>
                </a:r>
                <a:r>
                  <a:rPr lang="es-ES" sz="1100" dirty="0"/>
                  <a:t> </a:t>
                </a:r>
                <a:r>
                  <a:rPr lang="es-ES" sz="1100" dirty="0" err="1"/>
                  <a:t>analytical</a:t>
                </a:r>
                <a:r>
                  <a:rPr lang="es-ES" sz="1100" dirty="0"/>
                  <a:t> </a:t>
                </a:r>
                <a:r>
                  <a:rPr lang="es-ES" sz="1100" dirty="0" err="1"/>
                  <a:t>mathematical</a:t>
                </a:r>
                <a:r>
                  <a:rPr lang="es-ES" sz="1100" dirty="0"/>
                  <a:t> </a:t>
                </a:r>
                <a:r>
                  <a:rPr lang="es-ES" sz="1100" dirty="0" err="1"/>
                  <a:t>formulation</a:t>
                </a:r>
                <a:r>
                  <a:rPr lang="es-ES" sz="1100" dirty="0"/>
                  <a:t> </a:t>
                </a:r>
                <a:r>
                  <a:rPr lang="es-ES" sz="1100" dirty="0" err="1"/>
                  <a:t>across</a:t>
                </a:r>
                <a:r>
                  <a:rPr lang="es-ES" sz="1100" dirty="0"/>
                  <a:t> </a:t>
                </a:r>
                <a:r>
                  <a:rPr lang="es-ES" sz="1100" dirty="0" err="1"/>
                  <a:t>the</a:t>
                </a:r>
                <a:r>
                  <a:rPr lang="es-ES" sz="1100" dirty="0"/>
                  <a:t> </a:t>
                </a:r>
                <a:r>
                  <a:rPr lang="es-ES" sz="1100" dirty="0" err="1"/>
                  <a:t>entire</a:t>
                </a:r>
                <a:r>
                  <a:rPr lang="es-ES" sz="1100" dirty="0"/>
                  <a:t> </a:t>
                </a:r>
                <a:r>
                  <a:rPr lang="es-ES" sz="1100" dirty="0" err="1"/>
                  <a:t>wavelength</a:t>
                </a:r>
                <a:r>
                  <a:rPr lang="es-ES" sz="1100" dirty="0"/>
                  <a:t> </a:t>
                </a:r>
                <a:r>
                  <a:rPr lang="es-ES" sz="1100" dirty="0" err="1"/>
                  <a:t>sweep</a:t>
                </a:r>
                <a:r>
                  <a:rPr lang="es-ES" sz="1100" dirty="0"/>
                  <a:t>. The </a:t>
                </a:r>
                <a:r>
                  <a:rPr lang="es-ES" sz="1100" dirty="0" err="1"/>
                  <a:t>obtained</a:t>
                </a:r>
                <a:r>
                  <a:rPr lang="es-ES" sz="1100" dirty="0"/>
                  <a:t> Free </a:t>
                </a:r>
                <a:r>
                  <a:rPr lang="es-ES" sz="1100" dirty="0" err="1"/>
                  <a:t>Spectral</a:t>
                </a:r>
                <a:r>
                  <a:rPr lang="es-ES" sz="1100" dirty="0"/>
                  <a:t> Range </a:t>
                </a:r>
                <a:r>
                  <a:rPr lang="es-ES" sz="1100" dirty="0" err="1"/>
                  <a:t>measures</a:t>
                </a:r>
                <a:r>
                  <a:rPr lang="es-ES" sz="1100" dirty="0"/>
                  <a:t> </a:t>
                </a:r>
                <a:r>
                  <a:rPr lang="es-ES" sz="1100" dirty="0" err="1"/>
                  <a:t>precisely</a:t>
                </a:r>
                <a:r>
                  <a:rPr lang="es-ES" sz="1100" dirty="0"/>
                  <a:t> </a:t>
                </a:r>
                <a14:m>
                  <m:oMath xmlns:m="http://schemas.openxmlformats.org/officeDocument/2006/math">
                    <m:r>
                      <a:rPr lang="es-ES" sz="1100"/>
                      <m:t>40 </m:t>
                    </m:r>
                    <m:r>
                      <m:rPr>
                        <m:sty m:val="p"/>
                      </m:rPr>
                      <a:rPr lang="es-ES" sz="1100"/>
                      <m:t>nm</m:t>
                    </m:r>
                  </m:oMath>
                </a14:m>
                <a:r>
                  <a:rPr lang="es-ES" sz="1100" dirty="0" err="1"/>
                  <a:t>around</a:t>
                </a:r>
                <a:r>
                  <a:rPr lang="es-ES" sz="1100" dirty="0"/>
                  <a:t> </a:t>
                </a:r>
                <a14:m>
                  <m:oMath xmlns:m="http://schemas.openxmlformats.org/officeDocument/2006/math">
                    <m:r>
                      <a:rPr lang="es-ES" sz="1100"/>
                      <m:t>1550 </m:t>
                    </m:r>
                    <m:r>
                      <m:rPr>
                        <m:sty m:val="p"/>
                      </m:rPr>
                      <a:rPr lang="es-ES" sz="1100"/>
                      <m:t>nm</m:t>
                    </m:r>
                  </m:oMath>
                </a14:m>
                <a:r>
                  <a:rPr lang="es-ES" sz="1100" dirty="0"/>
                  <a:t>, </a:t>
                </a:r>
                <a:r>
                  <a:rPr lang="es-ES" sz="1100" dirty="0" err="1"/>
                  <a:t>demonstrating</a:t>
                </a:r>
                <a:r>
                  <a:rPr lang="es-ES" sz="1100" dirty="0"/>
                  <a:t> </a:t>
                </a:r>
                <a:r>
                  <a:rPr lang="es-ES" sz="1100" dirty="0" err="1"/>
                  <a:t>unitary</a:t>
                </a:r>
                <a:r>
                  <a:rPr lang="es-ES" sz="1100" dirty="0"/>
                  <a:t> </a:t>
                </a:r>
                <a:r>
                  <a:rPr lang="es-ES" sz="1100" dirty="0" err="1"/>
                  <a:t>peak</a:t>
                </a:r>
                <a:r>
                  <a:rPr lang="es-ES" sz="1100" dirty="0"/>
                  <a:t> </a:t>
                </a:r>
                <a:r>
                  <a:rPr lang="es-ES" sz="1100" dirty="0" err="1"/>
                  <a:t>transmission</a:t>
                </a:r>
                <a:r>
                  <a:rPr lang="es-ES" sz="1100" dirty="0"/>
                  <a:t> and </a:t>
                </a:r>
                <a:r>
                  <a:rPr lang="es-ES" sz="1100" dirty="0" err="1"/>
                  <a:t>zero</a:t>
                </a:r>
                <a:r>
                  <a:rPr lang="es-ES" sz="1100" dirty="0"/>
                  <a:t> residual </a:t>
                </a:r>
                <a:r>
                  <a:rPr lang="es-ES" sz="1100" dirty="0" err="1"/>
                  <a:t>cross-talk</a:t>
                </a:r>
                <a:r>
                  <a:rPr lang="es-ES" sz="1100" dirty="0"/>
                  <a:t>. </a:t>
                </a:r>
                <a:r>
                  <a:rPr lang="es-ES" sz="1100" dirty="0" err="1"/>
                  <a:t>This</a:t>
                </a:r>
                <a:r>
                  <a:rPr lang="es-ES" sz="1100" dirty="0"/>
                  <a:t> </a:t>
                </a:r>
                <a:r>
                  <a:rPr lang="es-ES" sz="1100" dirty="0" err="1"/>
                  <a:t>perfect</a:t>
                </a:r>
                <a:r>
                  <a:rPr lang="es-ES" sz="1100" dirty="0"/>
                  <a:t> </a:t>
                </a:r>
                <a:r>
                  <a:rPr lang="es-ES" sz="1100" dirty="0" err="1"/>
                  <a:t>agreement</a:t>
                </a:r>
                <a:r>
                  <a:rPr lang="es-ES" sz="1100" dirty="0"/>
                  <a:t> </a:t>
                </a:r>
                <a:r>
                  <a:rPr lang="es-ES" sz="1100" dirty="0" err="1"/>
                  <a:t>confirms</a:t>
                </a:r>
                <a:r>
                  <a:rPr lang="es-ES" sz="1100" dirty="0"/>
                  <a:t> </a:t>
                </a:r>
                <a:r>
                  <a:rPr lang="es-ES" sz="1100" dirty="0" err="1"/>
                  <a:t>that</a:t>
                </a:r>
                <a:r>
                  <a:rPr lang="es-ES" sz="1100" dirty="0"/>
                  <a:t> </a:t>
                </a:r>
                <a:r>
                  <a:rPr lang="es-ES" sz="1100" dirty="0" err="1"/>
                  <a:t>the</a:t>
                </a:r>
                <a:r>
                  <a:rPr lang="es-ES" sz="1100" dirty="0"/>
                  <a:t> </a:t>
                </a:r>
                <a:r>
                  <a:rPr lang="es-ES" sz="1100" dirty="0" err="1"/>
                  <a:t>scattering</a:t>
                </a:r>
                <a:r>
                  <a:rPr lang="es-ES" sz="1100" dirty="0"/>
                  <a:t> </a:t>
                </a:r>
                <a:r>
                  <a:rPr lang="es-ES" sz="1100" dirty="0" err="1"/>
                  <a:t>matrix</a:t>
                </a:r>
                <a:r>
                  <a:rPr lang="es-ES" sz="1100" dirty="0"/>
                  <a:t> </a:t>
                </a:r>
                <a:r>
                  <a:rPr lang="es-ES" sz="1100" dirty="0" err="1"/>
                  <a:t>definitions</a:t>
                </a:r>
                <a:r>
                  <a:rPr lang="es-ES" sz="1100" dirty="0"/>
                  <a:t>, </a:t>
                </a:r>
                <a:r>
                  <a:rPr lang="es-ES" sz="1100" dirty="0" err="1"/>
                  <a:t>inter-stage</a:t>
                </a:r>
                <a:r>
                  <a:rPr lang="es-ES" sz="1100" dirty="0"/>
                  <a:t> </a:t>
                </a:r>
                <a:r>
                  <a:rPr lang="es-ES" sz="1100" dirty="0" err="1"/>
                  <a:t>port</a:t>
                </a:r>
                <a:r>
                  <a:rPr lang="es-ES" sz="1100" dirty="0"/>
                  <a:t> </a:t>
                </a:r>
                <a:r>
                  <a:rPr lang="es-ES" sz="1100" dirty="0" err="1"/>
                  <a:t>connections</a:t>
                </a:r>
                <a:r>
                  <a:rPr lang="es-ES" sz="1100" dirty="0"/>
                  <a:t>, and </a:t>
                </a:r>
                <a:r>
                  <a:rPr lang="es-ES" sz="1100" dirty="0" err="1"/>
                  <a:t>phase</a:t>
                </a:r>
                <a:r>
                  <a:rPr lang="es-ES" sz="1100" dirty="0"/>
                  <a:t> </a:t>
                </a:r>
                <a:r>
                  <a:rPr lang="es-ES" sz="1100" dirty="0" err="1"/>
                  <a:t>conventions</a:t>
                </a:r>
                <a:r>
                  <a:rPr lang="es-ES" sz="1100" dirty="0"/>
                  <a:t> </a:t>
                </a:r>
                <a:r>
                  <a:rPr lang="es-ES" sz="1100" dirty="0" err="1"/>
                  <a:t>inside</a:t>
                </a:r>
                <a:r>
                  <a:rPr lang="es-ES" sz="1100" dirty="0"/>
                  <a:t> </a:t>
                </a:r>
                <a:r>
                  <a:rPr lang="es-ES" sz="1100" dirty="0" err="1"/>
                  <a:t>the</a:t>
                </a:r>
                <a:r>
                  <a:rPr lang="es-ES" sz="1100" dirty="0"/>
                  <a:t> SAX </a:t>
                </a:r>
                <a:r>
                  <a:rPr lang="es-ES" sz="1100" dirty="0" err="1"/>
                  <a:t>model</a:t>
                </a:r>
                <a:r>
                  <a:rPr lang="es-ES" sz="1100" dirty="0"/>
                  <a:t> are </a:t>
                </a:r>
                <a:r>
                  <a:rPr lang="es-ES" sz="1100" dirty="0" err="1"/>
                  <a:t>rigorously</a:t>
                </a:r>
                <a:r>
                  <a:rPr lang="es-ES" sz="1100" dirty="0"/>
                  <a:t> </a:t>
                </a:r>
                <a:r>
                  <a:rPr lang="es-ES" sz="1100" dirty="0" err="1"/>
                  <a:t>correct</a:t>
                </a:r>
                <a:r>
                  <a:rPr lang="es-ES" sz="1100" dirty="0"/>
                  <a:t> and free </a:t>
                </a:r>
                <a:r>
                  <a:rPr lang="es-ES" sz="1100" dirty="0" err="1"/>
                  <a:t>of</a:t>
                </a:r>
                <a:r>
                  <a:rPr lang="es-ES" sz="1100" dirty="0"/>
                  <a:t> </a:t>
                </a:r>
                <a:r>
                  <a:rPr lang="es-ES" sz="1100" dirty="0" err="1"/>
                  <a:t>modeling</a:t>
                </a:r>
                <a:r>
                  <a:rPr lang="es-ES" sz="1100" dirty="0"/>
                  <a:t> </a:t>
                </a:r>
                <a:r>
                  <a:rPr lang="es-ES" sz="1100" dirty="0" err="1"/>
                  <a:t>artifacts</a:t>
                </a:r>
                <a:r>
                  <a:rPr lang="es-ES" sz="1100" dirty="0"/>
                  <a:t>.</a:t>
                </a:r>
              </a:p>
            </p:txBody>
          </p:sp>
        </mc:Choice>
        <mc:Fallback>
          <p:sp>
            <p:nvSpPr>
              <p:cNvPr id="2" name="CuadroTexto 1">
                <a:extLst>
                  <a:ext uri="{FF2B5EF4-FFF2-40B4-BE49-F238E27FC236}">
                    <a16:creationId xmlns:a16="http://schemas.microsoft.com/office/drawing/2014/main" id="{CA4A2D6E-5993-52B3-D251-1ADF2B0C8355}"/>
                  </a:ext>
                </a:extLst>
              </p:cNvPr>
              <p:cNvSpPr txBox="1">
                <a:spLocks noRot="1" noChangeAspect="1" noMove="1" noResize="1" noEditPoints="1" noAdjustHandles="1" noChangeArrowheads="1" noChangeShapeType="1" noTextEdit="1"/>
              </p:cNvSpPr>
              <p:nvPr/>
            </p:nvSpPr>
            <p:spPr>
              <a:xfrm>
                <a:off x="456125" y="4114800"/>
                <a:ext cx="11199971" cy="2090637"/>
              </a:xfrm>
              <a:prstGeom prst="rect">
                <a:avLst/>
              </a:prstGeom>
              <a:blipFill>
                <a:blip r:embed="rId4"/>
                <a:stretch>
                  <a:fillRect b="-287"/>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7" name="Imagen 6">
            <a:extLst>
              <a:ext uri="{FF2B5EF4-FFF2-40B4-BE49-F238E27FC236}">
                <a16:creationId xmlns:a16="http://schemas.microsoft.com/office/drawing/2014/main" id="{E8AEF855-F498-C98A-CAC6-EDD4186E6ABE}"/>
              </a:ext>
            </a:extLst>
          </p:cNvPr>
          <p:cNvPicPr>
            <a:picLocks noChangeAspect="1"/>
          </p:cNvPicPr>
          <p:nvPr/>
        </p:nvPicPr>
        <p:blipFill>
          <a:blip r:embed="rId5"/>
          <a:stretch>
            <a:fillRect/>
          </a:stretch>
        </p:blipFill>
        <p:spPr>
          <a:xfrm>
            <a:off x="7946410" y="1849065"/>
            <a:ext cx="3733800" cy="2058000"/>
          </a:xfrm>
          <a:prstGeom prst="rect">
            <a:avLst/>
          </a:prstGeom>
        </p:spPr>
      </p:pic>
    </p:spTree>
    <p:extLst>
      <p:ext uri="{BB962C8B-B14F-4D97-AF65-F5344CB8AC3E}">
        <p14:creationId xmlns:p14="http://schemas.microsoft.com/office/powerpoint/2010/main" val="3666436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pPr algn="just"/>
            <a:endParaRPr lang="en-US" sz="2000" kern="0" dirty="0">
              <a:solidFill>
                <a:sysClr val="windowText" lastClr="000000"/>
              </a:solidFill>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FDE3A197-9508-F9F1-1FEB-FF883D78C151}"/>
                  </a:ext>
                </a:extLst>
              </p:cNvPr>
              <p:cNvSpPr txBox="1"/>
              <p:nvPr/>
            </p:nvSpPr>
            <p:spPr>
              <a:xfrm>
                <a:off x="608012" y="2228671"/>
                <a:ext cx="4038759" cy="385714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r>
                  <a:rPr lang="es-ES" sz="1100" dirty="0" err="1"/>
                  <a:t>To</a:t>
                </a:r>
                <a:r>
                  <a:rPr lang="es-ES" sz="1100" dirty="0"/>
                  <a:t> configure </a:t>
                </a:r>
                <a:r>
                  <a:rPr lang="es-ES" sz="1100" dirty="0" err="1"/>
                  <a:t>the</a:t>
                </a:r>
                <a:r>
                  <a:rPr lang="es-ES" sz="1100" dirty="0"/>
                  <a:t> </a:t>
                </a:r>
                <a:r>
                  <a:rPr lang="es-ES" sz="1100" dirty="0" err="1"/>
                  <a:t>unbalanced</a:t>
                </a:r>
                <a:r>
                  <a:rPr lang="es-ES" sz="1100" dirty="0"/>
                  <a:t> Mach-Zehnder </a:t>
                </a:r>
                <a:r>
                  <a:rPr lang="es-ES" sz="1100" dirty="0" err="1"/>
                  <a:t>Interferometer</a:t>
                </a:r>
                <a:r>
                  <a:rPr lang="es-ES" sz="1100" dirty="0"/>
                  <a:t> </a:t>
                </a:r>
                <a:r>
                  <a:rPr lang="es-ES" sz="1100" dirty="0" err="1"/>
                  <a:t>for</a:t>
                </a:r>
                <a:r>
                  <a:rPr lang="es-ES" sz="1100" dirty="0"/>
                  <a:t> </a:t>
                </a:r>
                <a:r>
                  <a:rPr lang="es-ES" sz="1100" dirty="0" err="1"/>
                  <a:t>maximum</a:t>
                </a:r>
                <a:r>
                  <a:rPr lang="es-ES" sz="1100" dirty="0"/>
                  <a:t> </a:t>
                </a:r>
                <a:r>
                  <a:rPr lang="es-ES" sz="1100" dirty="0" err="1"/>
                  <a:t>transmission</a:t>
                </a:r>
                <a:r>
                  <a:rPr lang="es-ES" sz="1100" dirty="0"/>
                  <a:t> at </a:t>
                </a:r>
                <a:r>
                  <a:rPr lang="es-ES" sz="1100" dirty="0" err="1"/>
                  <a:t>the</a:t>
                </a:r>
                <a:r>
                  <a:rPr lang="es-ES" sz="1100" dirty="0"/>
                  <a:t> target </a:t>
                </a:r>
                <a:r>
                  <a:rPr lang="es-ES" sz="1100" dirty="0" err="1"/>
                  <a:t>design</a:t>
                </a:r>
                <a:r>
                  <a:rPr lang="es-ES" sz="1100" dirty="0"/>
                  <a:t> </a:t>
                </a:r>
                <a:r>
                  <a:rPr lang="es-ES" sz="1100" dirty="0" err="1"/>
                  <a:t>wavelength</a:t>
                </a:r>
                <a:r>
                  <a:rPr lang="es-ES" sz="1100" dirty="0"/>
                  <a:t> (</a:t>
                </a:r>
                <a14:m>
                  <m:oMath xmlns:m="http://schemas.openxmlformats.org/officeDocument/2006/math">
                    <m:sSub>
                      <m:sSubPr>
                        <m:ctrlPr>
                          <a:rPr lang="es-ES" sz="1100" i="1"/>
                        </m:ctrlPr>
                      </m:sSubPr>
                      <m:e>
                        <m:r>
                          <a:rPr lang="es-ES" sz="1100" i="1"/>
                          <m:t>𝜆</m:t>
                        </m:r>
                      </m:e>
                      <m:sub>
                        <m:r>
                          <a:rPr lang="es-ES" sz="1100"/>
                          <m:t>0</m:t>
                        </m:r>
                      </m:sub>
                    </m:sSub>
                    <m:r>
                      <a:rPr lang="es-ES" sz="1100"/>
                      <m:t>=1.55 </m:t>
                    </m:r>
                    <m:r>
                      <a:rPr lang="es-ES" sz="1100" i="1"/>
                      <m:t>𝜇</m:t>
                    </m:r>
                    <m:r>
                      <m:rPr>
                        <m:sty m:val="p"/>
                      </m:rPr>
                      <a:rPr lang="es-ES" sz="1100"/>
                      <m:t>m</m:t>
                    </m:r>
                  </m:oMath>
                </a14:m>
                <a:r>
                  <a:rPr lang="es-ES" sz="1100" dirty="0"/>
                  <a:t>), </a:t>
                </a:r>
                <a:r>
                  <a:rPr lang="es-ES" sz="1100" dirty="0" err="1"/>
                  <a:t>the</a:t>
                </a:r>
                <a:r>
                  <a:rPr lang="es-ES" sz="1100" dirty="0"/>
                  <a:t> </a:t>
                </a:r>
                <a:r>
                  <a:rPr lang="es-ES" sz="1100" dirty="0" err="1"/>
                  <a:t>accumulated</a:t>
                </a:r>
                <a:r>
                  <a:rPr lang="es-ES" sz="1100" dirty="0"/>
                  <a:t> </a:t>
                </a:r>
                <a:r>
                  <a:rPr lang="es-ES" sz="1100" dirty="0" err="1"/>
                  <a:t>differential</a:t>
                </a:r>
                <a:r>
                  <a:rPr lang="es-ES" sz="1100" dirty="0"/>
                  <a:t> </a:t>
                </a:r>
                <a:r>
                  <a:rPr lang="es-ES" sz="1100" dirty="0" err="1"/>
                  <a:t>phase</a:t>
                </a:r>
                <a:r>
                  <a:rPr lang="es-ES" sz="1100" dirty="0"/>
                  <a:t> shift </a:t>
                </a:r>
                <a:r>
                  <a:rPr lang="es-ES" sz="1100" dirty="0" err="1"/>
                  <a:t>must</a:t>
                </a:r>
                <a:r>
                  <a:rPr lang="es-ES" sz="1100" dirty="0"/>
                  <a:t> </a:t>
                </a:r>
                <a:r>
                  <a:rPr lang="es-ES" sz="1100" dirty="0" err="1"/>
                  <a:t>satisfy</a:t>
                </a:r>
                <a:r>
                  <a:rPr lang="es-ES" sz="1100" dirty="0"/>
                  <a:t> </a:t>
                </a:r>
                <a:r>
                  <a:rPr lang="es-ES" sz="1100" dirty="0" err="1"/>
                  <a:t>the</a:t>
                </a:r>
                <a:r>
                  <a:rPr lang="es-ES" sz="1100" dirty="0"/>
                  <a:t> constructive </a:t>
                </a:r>
                <a:r>
                  <a:rPr lang="es-ES" sz="1100" dirty="0" err="1"/>
                  <a:t>interference</a:t>
                </a:r>
                <a:r>
                  <a:rPr lang="es-ES" sz="1100" dirty="0"/>
                  <a:t> </a:t>
                </a:r>
                <a:r>
                  <a:rPr lang="es-ES" sz="1100" dirty="0" err="1"/>
                  <a:t>condition</a:t>
                </a:r>
                <a:r>
                  <a:rPr lang="es-ES" sz="1100" dirty="0"/>
                  <a:t> </a:t>
                </a:r>
                <a14:m>
                  <m:oMath xmlns:m="http://schemas.openxmlformats.org/officeDocument/2006/math">
                    <m:r>
                      <m:rPr>
                        <m:sty m:val="p"/>
                      </m:rPr>
                      <a:rPr lang="es-ES" sz="1100"/>
                      <m:t>Δ</m:t>
                    </m:r>
                    <m:r>
                      <a:rPr lang="es-ES" sz="1100" i="1"/>
                      <m:t>𝜙</m:t>
                    </m:r>
                    <m:d>
                      <m:dPr>
                        <m:ctrlPr>
                          <a:rPr lang="es-ES" sz="1100" i="1"/>
                        </m:ctrlPr>
                      </m:dPr>
                      <m:e>
                        <m:sSub>
                          <m:sSubPr>
                            <m:ctrlPr>
                              <a:rPr lang="es-ES" sz="1100" i="1"/>
                            </m:ctrlPr>
                          </m:sSubPr>
                          <m:e>
                            <m:r>
                              <a:rPr lang="es-ES" sz="1100" i="1"/>
                              <m:t>𝜆</m:t>
                            </m:r>
                          </m:e>
                          <m:sub>
                            <m:r>
                              <a:rPr lang="es-ES" sz="1100"/>
                              <m:t>0</m:t>
                            </m:r>
                          </m:sub>
                        </m:sSub>
                      </m:e>
                    </m:d>
                    <m:r>
                      <a:rPr lang="es-ES" sz="1100"/>
                      <m:t>=2</m:t>
                    </m:r>
                    <m:r>
                      <a:rPr lang="es-ES" sz="1100" i="1"/>
                      <m:t>𝜋</m:t>
                    </m:r>
                    <m:r>
                      <a:rPr lang="es-ES" sz="1100" i="1"/>
                      <m:t>𝑚</m:t>
                    </m:r>
                  </m:oMath>
                </a14:m>
                <a:r>
                  <a:rPr lang="es-ES" sz="1100" dirty="0"/>
                  <a:t>, </a:t>
                </a:r>
                <a:r>
                  <a:rPr lang="es-ES" sz="1100" dirty="0" err="1"/>
                  <a:t>where</a:t>
                </a:r>
                <a:r>
                  <a:rPr lang="es-ES" sz="1100" dirty="0"/>
                  <a:t> </a:t>
                </a:r>
                <a14:m>
                  <m:oMath xmlns:m="http://schemas.openxmlformats.org/officeDocument/2006/math">
                    <m:r>
                      <a:rPr lang="es-ES" sz="1100" i="1"/>
                      <m:t>𝑚</m:t>
                    </m:r>
                    <m:r>
                      <a:rPr lang="es-ES" sz="1100"/>
                      <m:t>∈</m:t>
                    </m:r>
                    <m:sSup>
                      <m:sSupPr>
                        <m:ctrlPr>
                          <a:rPr lang="es-ES" sz="1100"/>
                        </m:ctrlPr>
                      </m:sSupPr>
                      <m:e>
                        <m:r>
                          <a:rPr lang="es-ES" sz="1100"/>
                          <m:t>ℤ</m:t>
                        </m:r>
                      </m:e>
                      <m:sup>
                        <m:r>
                          <a:rPr lang="es-ES" sz="1100"/>
                          <m:t>+</m:t>
                        </m:r>
                      </m:sup>
                    </m:sSup>
                  </m:oMath>
                </a14:m>
                <a:r>
                  <a:rPr lang="es-ES" sz="1100" dirty="0"/>
                  <a:t>denotes </a:t>
                </a:r>
                <a:r>
                  <a:rPr lang="es-ES" sz="1100" dirty="0" err="1"/>
                  <a:t>the</a:t>
                </a:r>
                <a:r>
                  <a:rPr lang="es-ES" sz="1100" dirty="0"/>
                  <a:t> </a:t>
                </a:r>
                <a:r>
                  <a:rPr lang="es-ES" sz="1100" dirty="0" err="1"/>
                  <a:t>interference</a:t>
                </a:r>
                <a:r>
                  <a:rPr lang="es-ES" sz="1100" dirty="0"/>
                  <a:t> </a:t>
                </a:r>
                <a:r>
                  <a:rPr lang="es-ES" sz="1100" dirty="0" err="1"/>
                  <a:t>order</a:t>
                </a:r>
                <a:r>
                  <a:rPr lang="es-ES" sz="1100" dirty="0"/>
                  <a:t>. The </a:t>
                </a:r>
                <a:r>
                  <a:rPr lang="es-ES" sz="1100" dirty="0" err="1"/>
                  <a:t>required</a:t>
                </a:r>
                <a:r>
                  <a:rPr lang="es-ES" sz="1100" dirty="0"/>
                  <a:t> </a:t>
                </a:r>
                <a:r>
                  <a:rPr lang="es-ES" sz="1100" dirty="0" err="1"/>
                  <a:t>physical</a:t>
                </a:r>
                <a:r>
                  <a:rPr lang="es-ES" sz="1100" dirty="0"/>
                  <a:t> </a:t>
                </a:r>
                <a:r>
                  <a:rPr lang="es-ES" sz="1100" dirty="0" err="1"/>
                  <a:t>path</a:t>
                </a:r>
                <a:r>
                  <a:rPr lang="es-ES" sz="1100" dirty="0"/>
                  <a:t> </a:t>
                </a:r>
                <a:r>
                  <a:rPr lang="es-ES" sz="1100" dirty="0" err="1"/>
                  <a:t>difference</a:t>
                </a:r>
                <a:r>
                  <a:rPr lang="es-ES" sz="1100" dirty="0"/>
                  <a:t> </a:t>
                </a:r>
                <a:r>
                  <a:rPr lang="es-ES" sz="1100" dirty="0" err="1"/>
                  <a:t>is</a:t>
                </a:r>
                <a:r>
                  <a:rPr lang="es-ES" sz="1100" dirty="0"/>
                  <a:t> </a:t>
                </a:r>
                <a:r>
                  <a:rPr lang="es-ES" sz="1100" dirty="0" err="1"/>
                  <a:t>analytically</a:t>
                </a:r>
                <a:r>
                  <a:rPr lang="es-ES" sz="1100" dirty="0"/>
                  <a:t> </a:t>
                </a:r>
                <a:r>
                  <a:rPr lang="es-ES" sz="1100" dirty="0" err="1"/>
                  <a:t>determined</a:t>
                </a:r>
                <a:r>
                  <a:rPr lang="es-ES" sz="1100" dirty="0"/>
                  <a:t> </a:t>
                </a:r>
                <a:r>
                  <a:rPr lang="es-ES" sz="1100" dirty="0" err="1"/>
                  <a:t>by</a:t>
                </a:r>
                <a:r>
                  <a:rPr lang="es-ES" sz="1100" dirty="0"/>
                  <a:t>:</a:t>
                </a:r>
              </a:p>
              <a:p>
                <a14:m>
                  <m:oMathPara xmlns:m="http://schemas.openxmlformats.org/officeDocument/2006/math">
                    <m:oMath>
                      <m:r>
                        <m:rPr>
                          <m:sty m:val="p"/>
                        </m:rPr>
                        <a:rPr lang="es-ES" sz="1100"/>
                        <m:t>Δ</m:t>
                      </m:r>
                      <m:r>
                        <a:rPr lang="es-ES" sz="1100" i="1"/>
                        <m:t>𝐿</m:t>
                      </m:r>
                      <m:r>
                        <a:rPr lang="es-ES" sz="1100"/>
                        <m:t>=</m:t>
                      </m:r>
                      <m:sSub>
                        <m:sSubPr>
                          <m:ctrlPr>
                            <a:rPr lang="es-ES" sz="1100" i="1"/>
                          </m:ctrlPr>
                        </m:sSubPr>
                        <m:e>
                          <m:r>
                            <a:rPr lang="es-ES" sz="1100" i="1"/>
                            <m:t>𝐿</m:t>
                          </m:r>
                        </m:e>
                        <m:sub>
                          <m:r>
                            <a:rPr lang="es-ES" sz="1100" i="1"/>
                            <m:t>𝑢</m:t>
                          </m:r>
                        </m:sub>
                      </m:sSub>
                      <m:r>
                        <a:rPr lang="es-ES" sz="1100"/>
                        <m:t>−</m:t>
                      </m:r>
                      <m:sSub>
                        <m:sSubPr>
                          <m:ctrlPr>
                            <a:rPr lang="es-ES" sz="1100" i="1"/>
                          </m:ctrlPr>
                        </m:sSubPr>
                        <m:e>
                          <m:r>
                            <a:rPr lang="es-ES" sz="1100" i="1"/>
                            <m:t>𝐿</m:t>
                          </m:r>
                        </m:e>
                        <m:sub>
                          <m:r>
                            <a:rPr lang="es-ES" sz="1100" i="1"/>
                            <m:t>𝑑</m:t>
                          </m:r>
                        </m:sub>
                      </m:sSub>
                      <m:r>
                        <a:rPr lang="es-ES" sz="1100"/>
                        <m:t>=</m:t>
                      </m:r>
                      <m:r>
                        <a:rPr lang="es-ES" sz="1100" i="1"/>
                        <m:t>𝑚</m:t>
                      </m:r>
                      <m:r>
                        <a:rPr lang="es-ES" sz="1100"/>
                        <m:t>⋅</m:t>
                      </m:r>
                      <m:f>
                        <m:fPr>
                          <m:ctrlPr>
                            <a:rPr lang="es-ES" sz="1100" i="1"/>
                          </m:ctrlPr>
                        </m:fPr>
                        <m:num>
                          <m:sSub>
                            <m:sSubPr>
                              <m:ctrlPr>
                                <a:rPr lang="es-ES" sz="1100" i="1"/>
                              </m:ctrlPr>
                            </m:sSubPr>
                            <m:e>
                              <m:r>
                                <a:rPr lang="es-ES" sz="1100" i="1"/>
                                <m:t>𝜆</m:t>
                              </m:r>
                            </m:e>
                            <m:sub>
                              <m:r>
                                <a:rPr lang="es-ES" sz="1100"/>
                                <m:t>0</m:t>
                              </m:r>
                            </m:sub>
                          </m:sSub>
                        </m:num>
                        <m:den>
                          <m:sSub>
                            <m:sSubPr>
                              <m:ctrlPr>
                                <a:rPr lang="es-ES" sz="1100" i="1"/>
                              </m:ctrlPr>
                            </m:sSubPr>
                            <m:e>
                              <m:r>
                                <a:rPr lang="es-ES" sz="1100" i="1"/>
                                <m:t>𝑛</m:t>
                              </m:r>
                            </m:e>
                            <m:sub>
                              <m:r>
                                <m:rPr>
                                  <m:nor/>
                                </m:rPr>
                                <a:rPr lang="es-ES" sz="1100"/>
                                <m:t>eff</m:t>
                              </m:r>
                            </m:sub>
                          </m:sSub>
                          <m:d>
                            <m:dPr>
                              <m:ctrlPr>
                                <a:rPr lang="es-ES" sz="1100" i="1"/>
                              </m:ctrlPr>
                            </m:dPr>
                            <m:e>
                              <m:sSub>
                                <m:sSubPr>
                                  <m:ctrlPr>
                                    <a:rPr lang="es-ES" sz="1100" i="1"/>
                                  </m:ctrlPr>
                                </m:sSubPr>
                                <m:e>
                                  <m:r>
                                    <a:rPr lang="es-ES" sz="1100" i="1"/>
                                    <m:t>𝜆</m:t>
                                  </m:r>
                                </m:e>
                                <m:sub>
                                  <m:r>
                                    <a:rPr lang="es-ES" sz="1100"/>
                                    <m:t>0</m:t>
                                  </m:r>
                                </m:sub>
                              </m:sSub>
                            </m:e>
                          </m:d>
                        </m:den>
                      </m:f>
                    </m:oMath>
                  </m:oMathPara>
                </a14:m>
                <a:endParaRPr lang="es-ES" sz="1100" dirty="0"/>
              </a:p>
              <a:p>
                <a:r>
                  <a:rPr lang="es-ES" sz="1100" dirty="0" err="1"/>
                  <a:t>Evaluating</a:t>
                </a:r>
                <a:r>
                  <a:rPr lang="es-ES" sz="1100" dirty="0"/>
                  <a:t> </a:t>
                </a:r>
                <a:r>
                  <a:rPr lang="es-ES" sz="1100" dirty="0" err="1"/>
                  <a:t>the</a:t>
                </a:r>
                <a:r>
                  <a:rPr lang="es-ES" sz="1100" dirty="0"/>
                  <a:t> fundamental </a:t>
                </a:r>
                <a:r>
                  <a:rPr lang="es-ES" sz="1100" dirty="0" err="1"/>
                  <a:t>quasi</a:t>
                </a:r>
                <a:r>
                  <a:rPr lang="es-ES" sz="1100" dirty="0"/>
                  <a:t>-TE </a:t>
                </a:r>
                <a:r>
                  <a:rPr lang="es-ES" sz="1100" dirty="0" err="1"/>
                  <a:t>mode</a:t>
                </a:r>
                <a:r>
                  <a:rPr lang="es-ES" sz="1100" dirty="0"/>
                  <a:t> </a:t>
                </a:r>
                <a:r>
                  <a:rPr lang="es-ES" sz="1100" dirty="0" err="1"/>
                  <a:t>effective</a:t>
                </a:r>
                <a:r>
                  <a:rPr lang="es-ES" sz="1100" dirty="0"/>
                  <a:t> </a:t>
                </a:r>
                <a:r>
                  <a:rPr lang="es-ES" sz="1100" dirty="0" err="1"/>
                  <a:t>index</a:t>
                </a:r>
                <a:r>
                  <a:rPr lang="es-ES" sz="1100" dirty="0"/>
                  <a:t> (</a:t>
                </a:r>
                <a14:m>
                  <m:oMath xmlns:m="http://schemas.openxmlformats.org/officeDocument/2006/math">
                    <m:sSub>
                      <m:sSubPr>
                        <m:ctrlPr>
                          <a:rPr lang="es-ES" sz="1100" i="1"/>
                        </m:ctrlPr>
                      </m:sSubPr>
                      <m:e>
                        <m:r>
                          <a:rPr lang="es-ES" sz="1100" i="1"/>
                          <m:t>𝑛</m:t>
                        </m:r>
                      </m:e>
                      <m:sub>
                        <m:r>
                          <m:rPr>
                            <m:nor/>
                          </m:rPr>
                          <a:rPr lang="es-ES" sz="1100"/>
                          <m:t>eff</m:t>
                        </m:r>
                      </m:sub>
                    </m:sSub>
                    <m:d>
                      <m:dPr>
                        <m:ctrlPr>
                          <a:rPr lang="es-ES" sz="1100"/>
                        </m:ctrlPr>
                      </m:dPr>
                      <m:e>
                        <m:r>
                          <a:rPr lang="es-ES" sz="1100"/>
                          <m:t>1.55 </m:t>
                        </m:r>
                        <m:r>
                          <a:rPr lang="es-ES" sz="1100" i="1"/>
                          <m:t>𝜇</m:t>
                        </m:r>
                        <m:r>
                          <m:rPr>
                            <m:sty m:val="p"/>
                          </m:rPr>
                          <a:rPr lang="es-ES" sz="1100"/>
                          <m:t>m</m:t>
                        </m:r>
                      </m:e>
                    </m:d>
                    <m:r>
                      <a:rPr lang="es-ES" sz="1100"/>
                      <m:t>≈2.4411</m:t>
                    </m:r>
                  </m:oMath>
                </a14:m>
                <a:r>
                  <a:rPr lang="es-ES" sz="1100" dirty="0"/>
                  <a:t>) </a:t>
                </a:r>
                <a:r>
                  <a:rPr lang="es-ES" sz="1100" dirty="0" err="1"/>
                  <a:t>confirms</a:t>
                </a:r>
                <a:r>
                  <a:rPr lang="es-ES" sz="1100" dirty="0"/>
                  <a:t> </a:t>
                </a:r>
                <a:r>
                  <a:rPr lang="es-ES" sz="1100" dirty="0" err="1"/>
                  <a:t>that</a:t>
                </a:r>
                <a:r>
                  <a:rPr lang="es-ES" sz="1100" dirty="0"/>
                  <a:t> </a:t>
                </a:r>
                <a:r>
                  <a:rPr lang="es-ES" sz="1100" dirty="0" err="1"/>
                  <a:t>any</a:t>
                </a:r>
                <a:r>
                  <a:rPr lang="es-ES" sz="1100" dirty="0"/>
                  <a:t> positive </a:t>
                </a:r>
                <a:r>
                  <a:rPr lang="es-ES" sz="1100" dirty="0" err="1"/>
                  <a:t>integer</a:t>
                </a:r>
                <a:r>
                  <a:rPr lang="es-ES" sz="1100" dirty="0"/>
                  <a:t> </a:t>
                </a:r>
                <a14:m>
                  <m:oMath xmlns:m="http://schemas.openxmlformats.org/officeDocument/2006/math">
                    <m:r>
                      <a:rPr lang="es-ES" sz="1100" i="1"/>
                      <m:t>𝑚</m:t>
                    </m:r>
                  </m:oMath>
                </a14:m>
                <a:r>
                  <a:rPr lang="es-ES" sz="1100" dirty="0" err="1"/>
                  <a:t>locks</a:t>
                </a:r>
                <a:r>
                  <a:rPr lang="es-ES" sz="1100" dirty="0"/>
                  <a:t> a </a:t>
                </a:r>
                <a:r>
                  <a:rPr lang="es-ES" sz="1100" dirty="0" err="1"/>
                  <a:t>transmission</a:t>
                </a:r>
                <a:r>
                  <a:rPr lang="es-ES" sz="1100" dirty="0"/>
                  <a:t> </a:t>
                </a:r>
                <a:r>
                  <a:rPr lang="es-ES" sz="1100" dirty="0" err="1"/>
                  <a:t>peak</a:t>
                </a:r>
                <a:r>
                  <a:rPr lang="es-ES" sz="1100" dirty="0"/>
                  <a:t> (</a:t>
                </a:r>
                <a14:m>
                  <m:oMath xmlns:m="http://schemas.openxmlformats.org/officeDocument/2006/math">
                    <m:r>
                      <a:rPr lang="es-ES" sz="1100"/>
                      <m:t>|</m:t>
                    </m:r>
                    <m:sSub>
                      <m:sSubPr>
                        <m:ctrlPr>
                          <a:rPr lang="es-ES" sz="1100" i="1"/>
                        </m:ctrlPr>
                      </m:sSubPr>
                      <m:e>
                        <m:r>
                          <a:rPr lang="es-ES" sz="1100" i="1"/>
                          <m:t>𝐻</m:t>
                        </m:r>
                      </m:e>
                      <m:sub>
                        <m:r>
                          <a:rPr lang="es-ES" sz="1100"/>
                          <m:t>10</m:t>
                        </m:r>
                      </m:sub>
                    </m:sSub>
                    <m:r>
                      <a:rPr lang="es-ES" sz="1100"/>
                      <m:t>|</m:t>
                    </m:r>
                    <m:sSup>
                      <m:sSupPr>
                        <m:ctrlPr>
                          <a:rPr lang="es-ES" sz="1100"/>
                        </m:ctrlPr>
                      </m:sSupPr>
                      <m:e>
                        <m:r>
                          <a:rPr lang="es-ES" sz="1100"/>
                          <m:t>​</m:t>
                        </m:r>
                      </m:e>
                      <m:sup>
                        <m:r>
                          <a:rPr lang="es-ES" sz="1100"/>
                          <m:t>2</m:t>
                        </m:r>
                      </m:sup>
                    </m:sSup>
                    <m:r>
                      <a:rPr lang="es-ES" sz="1100"/>
                      <m:t>=1.0</m:t>
                    </m:r>
                  </m:oMath>
                </a14:m>
                <a:r>
                  <a:rPr lang="es-ES" sz="1100" dirty="0"/>
                  <a:t>) </a:t>
                </a:r>
                <a:r>
                  <a:rPr lang="es-ES" sz="1100" dirty="0" err="1"/>
                  <a:t>precisely</a:t>
                </a:r>
                <a:r>
                  <a:rPr lang="es-ES" sz="1100" dirty="0"/>
                  <a:t> at </a:t>
                </a:r>
                <a14:m>
                  <m:oMath xmlns:m="http://schemas.openxmlformats.org/officeDocument/2006/math">
                    <m:r>
                      <a:rPr lang="es-ES" sz="1100"/>
                      <m:t>1550 </m:t>
                    </m:r>
                    <m:r>
                      <m:rPr>
                        <m:sty m:val="p"/>
                      </m:rPr>
                      <a:rPr lang="es-ES" sz="1100"/>
                      <m:t>nm</m:t>
                    </m:r>
                  </m:oMath>
                </a14:m>
                <a:r>
                  <a:rPr lang="es-ES" sz="1100" dirty="0"/>
                  <a:t>.</a:t>
                </a:r>
              </a:p>
              <a:p>
                <a:r>
                  <a:rPr lang="es-ES" sz="1100" dirty="0"/>
                  <a:t>As </a:t>
                </a:r>
                <a:r>
                  <a:rPr lang="es-ES" sz="1100" dirty="0" err="1"/>
                  <a:t>demonstrated</a:t>
                </a:r>
                <a:r>
                  <a:rPr lang="es-ES" sz="1100" dirty="0"/>
                  <a:t> in </a:t>
                </a:r>
                <a:r>
                  <a:rPr lang="es-ES" sz="1100" dirty="0" err="1"/>
                  <a:t>the</a:t>
                </a:r>
                <a:r>
                  <a:rPr lang="es-ES" sz="1100" dirty="0"/>
                  <a:t> </a:t>
                </a:r>
                <a:r>
                  <a:rPr lang="es-ES" sz="1100" dirty="0" err="1"/>
                  <a:t>order</a:t>
                </a:r>
                <a:r>
                  <a:rPr lang="es-ES" sz="1100" dirty="0"/>
                  <a:t> </a:t>
                </a:r>
                <a:r>
                  <a:rPr lang="es-ES" sz="1100" dirty="0" err="1"/>
                  <a:t>sweep</a:t>
                </a:r>
                <a:r>
                  <a:rPr lang="es-ES" sz="1100" dirty="0"/>
                  <a:t> (</a:t>
                </a:r>
                <a14:m>
                  <m:oMath xmlns:m="http://schemas.openxmlformats.org/officeDocument/2006/math">
                    <m:r>
                      <a:rPr lang="es-ES" sz="1100" i="1"/>
                      <m:t>𝑚</m:t>
                    </m:r>
                    <m:r>
                      <a:rPr lang="es-ES" sz="1100"/>
                      <m:t>∈</m:t>
                    </m:r>
                    <m:d>
                      <m:dPr>
                        <m:begChr m:val="{"/>
                        <m:endChr m:val="}"/>
                        <m:ctrlPr>
                          <a:rPr lang="es-ES" sz="1100"/>
                        </m:ctrlPr>
                      </m:dPr>
                      <m:e>
                        <m:r>
                          <a:rPr lang="es-ES" sz="1100"/>
                          <m:t>1,26,51,76,101</m:t>
                        </m:r>
                      </m:e>
                    </m:d>
                  </m:oMath>
                </a14:m>
                <a:r>
                  <a:rPr lang="es-ES" sz="1100" dirty="0"/>
                  <a:t>), </a:t>
                </a:r>
                <a:r>
                  <a:rPr lang="es-ES" sz="1100" dirty="0" err="1"/>
                  <a:t>increasing</a:t>
                </a:r>
                <a:r>
                  <a:rPr lang="es-ES" sz="1100" dirty="0"/>
                  <a:t> </a:t>
                </a:r>
                <a14:m>
                  <m:oMath xmlns:m="http://schemas.openxmlformats.org/officeDocument/2006/math">
                    <m:r>
                      <a:rPr lang="es-ES" sz="1100" i="1"/>
                      <m:t>𝑚</m:t>
                    </m:r>
                  </m:oMath>
                </a14:m>
                <a:r>
                  <a:rPr lang="es-ES" sz="1100" dirty="0" err="1"/>
                  <a:t>linearly</a:t>
                </a:r>
                <a:r>
                  <a:rPr lang="es-ES" sz="1100" dirty="0"/>
                  <a:t> </a:t>
                </a:r>
                <a:r>
                  <a:rPr lang="es-ES" sz="1100" dirty="0" err="1"/>
                  <a:t>expands</a:t>
                </a:r>
                <a:r>
                  <a:rPr lang="es-ES" sz="1100" dirty="0"/>
                  <a:t> </a:t>
                </a:r>
                <a14:m>
                  <m:oMath xmlns:m="http://schemas.openxmlformats.org/officeDocument/2006/math">
                    <m:r>
                      <m:rPr>
                        <m:sty m:val="p"/>
                      </m:rPr>
                      <a:rPr lang="es-ES" sz="1100"/>
                      <m:t>Δ</m:t>
                    </m:r>
                    <m:r>
                      <a:rPr lang="es-ES" sz="1100" i="1"/>
                      <m:t>𝐿</m:t>
                    </m:r>
                  </m:oMath>
                </a14:m>
                <a:r>
                  <a:rPr lang="es-ES" sz="1100" dirty="0"/>
                  <a:t>, </a:t>
                </a:r>
                <a:r>
                  <a:rPr lang="es-ES" sz="1100" dirty="0" err="1"/>
                  <a:t>which</a:t>
                </a:r>
                <a:r>
                  <a:rPr lang="es-ES" sz="1100" dirty="0"/>
                  <a:t> </a:t>
                </a:r>
                <a:r>
                  <a:rPr lang="es-ES" sz="1100" dirty="0" err="1"/>
                  <a:t>inversely</a:t>
                </a:r>
                <a:r>
                  <a:rPr lang="es-ES" sz="1100" dirty="0"/>
                  <a:t> </a:t>
                </a:r>
                <a:r>
                  <a:rPr lang="es-ES" sz="1100" dirty="0" err="1"/>
                  <a:t>scales</a:t>
                </a:r>
                <a:r>
                  <a:rPr lang="es-ES" sz="1100" dirty="0"/>
                  <a:t> and </a:t>
                </a:r>
                <a:r>
                  <a:rPr lang="es-ES" sz="1100" dirty="0" err="1"/>
                  <a:t>compresses</a:t>
                </a:r>
                <a:r>
                  <a:rPr lang="es-ES" sz="1100" dirty="0"/>
                  <a:t> </a:t>
                </a:r>
                <a:r>
                  <a:rPr lang="es-ES" sz="1100" dirty="0" err="1"/>
                  <a:t>the</a:t>
                </a:r>
                <a:r>
                  <a:rPr lang="es-ES" sz="1100" dirty="0"/>
                  <a:t> Free </a:t>
                </a:r>
                <a:r>
                  <a:rPr lang="es-ES" sz="1100" dirty="0" err="1"/>
                  <a:t>Spectral</a:t>
                </a:r>
                <a:r>
                  <a:rPr lang="es-ES" sz="1100" dirty="0"/>
                  <a:t> Range (</a:t>
                </a:r>
                <a14:m>
                  <m:oMath xmlns:m="http://schemas.openxmlformats.org/officeDocument/2006/math">
                    <m:r>
                      <m:rPr>
                        <m:sty m:val="p"/>
                      </m:rPr>
                      <a:rPr lang="es-ES" sz="1100"/>
                      <m:t>FSR</m:t>
                    </m:r>
                    <m:r>
                      <a:rPr lang="es-ES" sz="1100"/>
                      <m:t>≈</m:t>
                    </m:r>
                    <m:f>
                      <m:fPr>
                        <m:ctrlPr>
                          <a:rPr lang="es-ES" sz="1100" i="1"/>
                        </m:ctrlPr>
                      </m:fPr>
                      <m:num>
                        <m:sSubSup>
                          <m:sSubSupPr>
                            <m:ctrlPr>
                              <a:rPr lang="es-ES" sz="1100" i="1"/>
                            </m:ctrlPr>
                          </m:sSubSupPr>
                          <m:e>
                            <m:r>
                              <a:rPr lang="es-ES" sz="1100" i="1"/>
                              <m:t>𝜆</m:t>
                            </m:r>
                          </m:e>
                          <m:sub>
                            <m:r>
                              <a:rPr lang="es-ES" sz="1100"/>
                              <m:t>0</m:t>
                            </m:r>
                          </m:sub>
                          <m:sup>
                            <m:r>
                              <a:rPr lang="es-ES" sz="1100"/>
                              <m:t>2</m:t>
                            </m:r>
                          </m:sup>
                        </m:sSubSup>
                      </m:num>
                      <m:den>
                        <m:sSub>
                          <m:sSubPr>
                            <m:ctrlPr>
                              <a:rPr lang="es-ES" sz="1100" i="1"/>
                            </m:ctrlPr>
                          </m:sSubPr>
                          <m:e>
                            <m:r>
                              <a:rPr lang="es-ES" sz="1100" i="1"/>
                              <m:t>𝑛</m:t>
                            </m:r>
                          </m:e>
                          <m:sub>
                            <m:r>
                              <a:rPr lang="es-ES" sz="1100" i="1"/>
                              <m:t>𝑔</m:t>
                            </m:r>
                          </m:sub>
                        </m:sSub>
                        <m:r>
                          <m:rPr>
                            <m:sty m:val="p"/>
                          </m:rPr>
                          <a:rPr lang="es-ES" sz="1100"/>
                          <m:t>Δ</m:t>
                        </m:r>
                        <m:r>
                          <a:rPr lang="es-ES" sz="1100" i="1"/>
                          <m:t>𝐿</m:t>
                        </m:r>
                      </m:den>
                    </m:f>
                  </m:oMath>
                </a14:m>
                <a:r>
                  <a:rPr lang="es-ES" sz="1100" dirty="0"/>
                  <a:t>). Lower </a:t>
                </a:r>
                <a:r>
                  <a:rPr lang="es-ES" sz="1100" dirty="0" err="1"/>
                  <a:t>orders</a:t>
                </a:r>
                <a:r>
                  <a:rPr lang="es-ES" sz="1100" dirty="0"/>
                  <a:t> (</a:t>
                </a:r>
                <a14:m>
                  <m:oMath xmlns:m="http://schemas.openxmlformats.org/officeDocument/2006/math">
                    <m:r>
                      <a:rPr lang="es-ES" sz="1100" i="1"/>
                      <m:t>𝑚</m:t>
                    </m:r>
                    <m:r>
                      <a:rPr lang="es-ES" sz="1100"/>
                      <m:t>=1</m:t>
                    </m:r>
                  </m:oMath>
                </a14:m>
                <a:r>
                  <a:rPr lang="es-ES" sz="1100" dirty="0"/>
                  <a:t>) </a:t>
                </a:r>
                <a:r>
                  <a:rPr lang="es-ES" sz="1100" dirty="0" err="1"/>
                  <a:t>exhibit</a:t>
                </a:r>
                <a:r>
                  <a:rPr lang="es-ES" sz="1100" dirty="0"/>
                  <a:t> </a:t>
                </a:r>
                <a:r>
                  <a:rPr lang="es-ES" sz="1100" dirty="0" err="1"/>
                  <a:t>an</a:t>
                </a:r>
                <a:r>
                  <a:rPr lang="es-ES" sz="1100" dirty="0"/>
                  <a:t> </a:t>
                </a:r>
                <a:r>
                  <a:rPr lang="es-ES" sz="1100" dirty="0" err="1"/>
                  <a:t>excessively</a:t>
                </a:r>
                <a:r>
                  <a:rPr lang="es-ES" sz="1100" dirty="0"/>
                  <a:t> </a:t>
                </a:r>
                <a:r>
                  <a:rPr lang="es-ES" sz="1100" dirty="0" err="1"/>
                  <a:t>wide</a:t>
                </a:r>
                <a:r>
                  <a:rPr lang="es-ES" sz="1100" dirty="0"/>
                  <a:t> FSR </a:t>
                </a:r>
                <a:r>
                  <a:rPr lang="es-ES" sz="1100" dirty="0" err="1"/>
                  <a:t>with</a:t>
                </a:r>
                <a:r>
                  <a:rPr lang="es-ES" sz="1100" dirty="0"/>
                  <a:t> negligible </a:t>
                </a:r>
                <a:r>
                  <a:rPr lang="es-ES" sz="1100" dirty="0" err="1"/>
                  <a:t>wavelength</a:t>
                </a:r>
                <a:r>
                  <a:rPr lang="es-ES" sz="1100" dirty="0"/>
                  <a:t> </a:t>
                </a:r>
                <a:r>
                  <a:rPr lang="es-ES" sz="1100" dirty="0" err="1"/>
                  <a:t>selectivity</a:t>
                </a:r>
                <a:r>
                  <a:rPr lang="es-ES" sz="1100" dirty="0"/>
                  <a:t>. </a:t>
                </a:r>
                <a:r>
                  <a:rPr lang="es-ES" sz="1100" dirty="0" err="1"/>
                  <a:t>Selecting</a:t>
                </a:r>
                <a:r>
                  <a:rPr lang="es-ES" sz="1100" dirty="0"/>
                  <a:t> </a:t>
                </a:r>
                <a14:m>
                  <m:oMath xmlns:m="http://schemas.openxmlformats.org/officeDocument/2006/math">
                    <m:r>
                      <a:rPr lang="es-ES" sz="1100" i="1"/>
                      <m:t>𝑚</m:t>
                    </m:r>
                    <m:r>
                      <a:rPr lang="es-ES" sz="1100"/>
                      <m:t>=76</m:t>
                    </m:r>
                  </m:oMath>
                </a14:m>
                <a:r>
                  <a:rPr lang="es-ES" sz="1100" dirty="0" err="1"/>
                  <a:t>establishes</a:t>
                </a:r>
                <a:r>
                  <a:rPr lang="es-ES" sz="1100" dirty="0"/>
                  <a:t> a </a:t>
                </a:r>
                <a:r>
                  <a:rPr lang="es-ES" sz="1100" dirty="0" err="1"/>
                  <a:t>physical</a:t>
                </a:r>
                <a:r>
                  <a:rPr lang="es-ES" sz="1100" dirty="0"/>
                  <a:t> </a:t>
                </a:r>
                <a:r>
                  <a:rPr lang="es-ES" sz="1100" dirty="0" err="1"/>
                  <a:t>path</a:t>
                </a:r>
                <a:r>
                  <a:rPr lang="es-ES" sz="1100" dirty="0"/>
                  <a:t> </a:t>
                </a:r>
                <a:r>
                  <a:rPr lang="es-ES" sz="1100" dirty="0" err="1"/>
                  <a:t>difference</a:t>
                </a:r>
                <a:r>
                  <a:rPr lang="es-ES" sz="1100" dirty="0"/>
                  <a:t> </a:t>
                </a:r>
                <a14:m>
                  <m:oMath xmlns:m="http://schemas.openxmlformats.org/officeDocument/2006/math">
                    <m:r>
                      <m:rPr>
                        <m:sty m:val="p"/>
                      </m:rPr>
                      <a:rPr lang="es-ES" sz="1100"/>
                      <m:t>Δ</m:t>
                    </m:r>
                    <m:r>
                      <a:rPr lang="es-ES" sz="1100" i="1"/>
                      <m:t>𝐿</m:t>
                    </m:r>
                    <m:r>
                      <a:rPr lang="es-ES" sz="1100"/>
                      <m:t>≈48.27 </m:t>
                    </m:r>
                    <m:r>
                      <a:rPr lang="es-ES" sz="1100" i="1"/>
                      <m:t>𝜇</m:t>
                    </m:r>
                    <m:r>
                      <m:rPr>
                        <m:sty m:val="p"/>
                      </m:rPr>
                      <a:rPr lang="es-ES" sz="1100"/>
                      <m:t>m</m:t>
                    </m:r>
                  </m:oMath>
                </a14:m>
                <a:r>
                  <a:rPr lang="es-ES" sz="1100" dirty="0"/>
                  <a:t>(</a:t>
                </a:r>
                <a14:m>
                  <m:oMath xmlns:m="http://schemas.openxmlformats.org/officeDocument/2006/math">
                    <m:sSub>
                      <m:sSubPr>
                        <m:ctrlPr>
                          <a:rPr lang="es-ES" sz="1100" i="1"/>
                        </m:ctrlPr>
                      </m:sSubPr>
                      <m:e>
                        <m:r>
                          <a:rPr lang="es-ES" sz="1100" i="1"/>
                          <m:t>𝐿</m:t>
                        </m:r>
                      </m:e>
                      <m:sub>
                        <m:r>
                          <a:rPr lang="es-ES" sz="1100" i="1"/>
                          <m:t>𝑑</m:t>
                        </m:r>
                      </m:sub>
                    </m:sSub>
                    <m:r>
                      <a:rPr lang="es-ES" sz="1100"/>
                      <m:t>=25.0 </m:t>
                    </m:r>
                    <m:r>
                      <a:rPr lang="es-ES" sz="1100" i="1"/>
                      <m:t>𝜇</m:t>
                    </m:r>
                    <m:r>
                      <m:rPr>
                        <m:sty m:val="p"/>
                      </m:rPr>
                      <a:rPr lang="es-ES" sz="1100"/>
                      <m:t>m</m:t>
                    </m:r>
                  </m:oMath>
                </a14:m>
                <a:r>
                  <a:rPr lang="es-ES" sz="1100" dirty="0"/>
                  <a:t>, </a:t>
                </a:r>
                <a14:m>
                  <m:oMath xmlns:m="http://schemas.openxmlformats.org/officeDocument/2006/math">
                    <m:sSub>
                      <m:sSubPr>
                        <m:ctrlPr>
                          <a:rPr lang="es-ES" sz="1100" i="1"/>
                        </m:ctrlPr>
                      </m:sSubPr>
                      <m:e>
                        <m:r>
                          <a:rPr lang="es-ES" sz="1100" i="1"/>
                          <m:t>𝐿</m:t>
                        </m:r>
                      </m:e>
                      <m:sub>
                        <m:r>
                          <a:rPr lang="es-ES" sz="1100" i="1"/>
                          <m:t>𝑢</m:t>
                        </m:r>
                      </m:sub>
                    </m:sSub>
                    <m:r>
                      <a:rPr lang="es-ES" sz="1100"/>
                      <m:t>=73.27 </m:t>
                    </m:r>
                    <m:r>
                      <a:rPr lang="es-ES" sz="1100" i="1"/>
                      <m:t>𝜇</m:t>
                    </m:r>
                    <m:r>
                      <m:rPr>
                        <m:sty m:val="p"/>
                      </m:rPr>
                      <a:rPr lang="es-ES" sz="1100"/>
                      <m:t>m</m:t>
                    </m:r>
                  </m:oMath>
                </a14:m>
                <a:r>
                  <a:rPr lang="es-ES" sz="1100" dirty="0"/>
                  <a:t>), </a:t>
                </a:r>
                <a:r>
                  <a:rPr lang="es-ES" sz="1100" dirty="0" err="1"/>
                  <a:t>providing</a:t>
                </a:r>
                <a:r>
                  <a:rPr lang="es-ES" sz="1100" dirty="0"/>
                  <a:t> a </a:t>
                </a:r>
                <a:r>
                  <a:rPr lang="es-ES" sz="1100" dirty="0" err="1"/>
                  <a:t>periodic</a:t>
                </a:r>
                <a:r>
                  <a:rPr lang="es-ES" sz="1100" dirty="0"/>
                  <a:t> </a:t>
                </a:r>
                <a:r>
                  <a:rPr lang="es-ES" sz="1100" dirty="0" err="1"/>
                  <a:t>passband</a:t>
                </a:r>
                <a:r>
                  <a:rPr lang="es-ES" sz="1100" dirty="0"/>
                  <a:t> </a:t>
                </a:r>
                <a:r>
                  <a:rPr lang="es-ES" sz="1100" dirty="0" err="1"/>
                  <a:t>filter</a:t>
                </a:r>
                <a:r>
                  <a:rPr lang="es-ES" sz="1100" dirty="0"/>
                  <a:t> </a:t>
                </a:r>
                <a:r>
                  <a:rPr lang="es-ES" sz="1100" dirty="0" err="1"/>
                  <a:t>with</a:t>
                </a:r>
                <a:r>
                  <a:rPr lang="es-ES" sz="1100" dirty="0"/>
                  <a:t> </a:t>
                </a:r>
                <a14:m>
                  <m:oMath xmlns:m="http://schemas.openxmlformats.org/officeDocument/2006/math">
                    <m:r>
                      <m:rPr>
                        <m:sty m:val="p"/>
                      </m:rPr>
                      <a:rPr lang="es-ES" sz="1100"/>
                      <m:t>FSR</m:t>
                    </m:r>
                    <m:r>
                      <a:rPr lang="es-ES" sz="1100"/>
                      <m:t>≈11.6 </m:t>
                    </m:r>
                    <m:r>
                      <m:rPr>
                        <m:sty m:val="p"/>
                      </m:rPr>
                      <a:rPr lang="es-ES" sz="1100"/>
                      <m:t>nm</m:t>
                    </m:r>
                  </m:oMath>
                </a14:m>
                <a:r>
                  <a:rPr lang="es-ES" sz="1100" dirty="0"/>
                  <a:t>, </a:t>
                </a:r>
                <a:r>
                  <a:rPr lang="es-ES" sz="1100" dirty="0" err="1"/>
                  <a:t>unitary</a:t>
                </a:r>
                <a:r>
                  <a:rPr lang="es-ES" sz="1100" dirty="0"/>
                  <a:t> </a:t>
                </a:r>
                <a:r>
                  <a:rPr lang="es-ES" sz="1100" dirty="0" err="1"/>
                  <a:t>peak</a:t>
                </a:r>
                <a:r>
                  <a:rPr lang="es-ES" sz="1100" dirty="0"/>
                  <a:t> </a:t>
                </a:r>
                <a:r>
                  <a:rPr lang="es-ES" sz="1100" dirty="0" err="1"/>
                  <a:t>throughput</a:t>
                </a:r>
                <a:r>
                  <a:rPr lang="es-ES" sz="1100" dirty="0"/>
                  <a:t> (</a:t>
                </a:r>
                <a14:m>
                  <m:oMath xmlns:m="http://schemas.openxmlformats.org/officeDocument/2006/math">
                    <m:r>
                      <a:rPr lang="es-ES" sz="1100"/>
                      <m:t>|</m:t>
                    </m:r>
                    <m:sSub>
                      <m:sSubPr>
                        <m:ctrlPr>
                          <a:rPr lang="es-ES" sz="1100" i="1"/>
                        </m:ctrlPr>
                      </m:sSubPr>
                      <m:e>
                        <m:r>
                          <a:rPr lang="es-ES" sz="1100" i="1"/>
                          <m:t>𝐻</m:t>
                        </m:r>
                      </m:e>
                      <m:sub>
                        <m:r>
                          <a:rPr lang="es-ES" sz="1100"/>
                          <m:t>10</m:t>
                        </m:r>
                      </m:sub>
                    </m:sSub>
                    <m:r>
                      <a:rPr lang="es-ES" sz="1100"/>
                      <m:t>|</m:t>
                    </m:r>
                    <m:sSup>
                      <m:sSupPr>
                        <m:ctrlPr>
                          <a:rPr lang="es-ES" sz="1100"/>
                        </m:ctrlPr>
                      </m:sSupPr>
                      <m:e>
                        <m:r>
                          <a:rPr lang="es-ES" sz="1100"/>
                          <m:t>​</m:t>
                        </m:r>
                      </m:e>
                      <m:sup>
                        <m:r>
                          <a:rPr lang="es-ES" sz="1100"/>
                          <m:t>2</m:t>
                        </m:r>
                      </m:sup>
                    </m:sSup>
                    <m:r>
                      <a:rPr lang="es-ES" sz="1100"/>
                      <m:t>=1.0</m:t>
                    </m:r>
                  </m:oMath>
                </a14:m>
                <a:r>
                  <a:rPr lang="es-ES" sz="1100" dirty="0"/>
                  <a:t>) at </a:t>
                </a:r>
                <a14:m>
                  <m:oMath xmlns:m="http://schemas.openxmlformats.org/officeDocument/2006/math">
                    <m:r>
                      <a:rPr lang="es-ES" sz="1100"/>
                      <m:t>1.55 </m:t>
                    </m:r>
                    <m:r>
                      <a:rPr lang="es-ES" sz="1100" i="1"/>
                      <m:t>𝜇</m:t>
                    </m:r>
                    <m:r>
                      <m:rPr>
                        <m:sty m:val="p"/>
                      </m:rPr>
                      <a:rPr lang="es-ES" sz="1100"/>
                      <m:t>m</m:t>
                    </m:r>
                  </m:oMath>
                </a14:m>
                <a:r>
                  <a:rPr lang="es-ES" sz="1100" dirty="0"/>
                  <a:t>, and complete </a:t>
                </a:r>
                <a:r>
                  <a:rPr lang="es-ES" sz="1100" dirty="0" err="1"/>
                  <a:t>out</a:t>
                </a:r>
                <a:r>
                  <a:rPr lang="es-ES" sz="1100" dirty="0"/>
                  <a:t>-</a:t>
                </a:r>
                <a:r>
                  <a:rPr lang="es-ES" sz="1100" dirty="0" err="1"/>
                  <a:t>of</a:t>
                </a:r>
                <a:r>
                  <a:rPr lang="es-ES" sz="1100" dirty="0"/>
                  <a:t>-band </a:t>
                </a:r>
                <a:r>
                  <a:rPr lang="es-ES" sz="1100" dirty="0" err="1"/>
                  <a:t>rejection</a:t>
                </a:r>
                <a:r>
                  <a:rPr lang="es-ES" sz="1100" dirty="0"/>
                  <a:t> (</a:t>
                </a:r>
                <a14:m>
                  <m:oMath xmlns:m="http://schemas.openxmlformats.org/officeDocument/2006/math">
                    <m:r>
                      <a:rPr lang="es-ES" sz="1100"/>
                      <m:t>|</m:t>
                    </m:r>
                    <m:sSub>
                      <m:sSubPr>
                        <m:ctrlPr>
                          <a:rPr lang="es-ES" sz="1100" i="1"/>
                        </m:ctrlPr>
                      </m:sSubPr>
                      <m:e>
                        <m:r>
                          <a:rPr lang="es-ES" sz="1100" i="1"/>
                          <m:t>𝐻</m:t>
                        </m:r>
                      </m:e>
                      <m:sub>
                        <m:r>
                          <a:rPr lang="es-ES" sz="1100"/>
                          <m:t>11</m:t>
                        </m:r>
                      </m:sub>
                    </m:sSub>
                    <m:r>
                      <a:rPr lang="es-ES" sz="1100"/>
                      <m:t>|</m:t>
                    </m:r>
                    <m:sSup>
                      <m:sSupPr>
                        <m:ctrlPr>
                          <a:rPr lang="es-ES" sz="1100"/>
                        </m:ctrlPr>
                      </m:sSupPr>
                      <m:e>
                        <m:r>
                          <a:rPr lang="es-ES" sz="1100"/>
                          <m:t>​</m:t>
                        </m:r>
                      </m:e>
                      <m:sup>
                        <m:r>
                          <a:rPr lang="es-ES" sz="1100"/>
                          <m:t>2</m:t>
                        </m:r>
                      </m:sup>
                    </m:sSup>
                    <m:r>
                      <a:rPr lang="es-ES" sz="1100"/>
                      <m:t>=0.0</m:t>
                    </m:r>
                  </m:oMath>
                </a14:m>
                <a:r>
                  <a:rPr lang="es-ES" sz="1100" dirty="0"/>
                  <a:t>).</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FDE3A197-9508-F9F1-1FEB-FF883D78C151}"/>
                  </a:ext>
                </a:extLst>
              </p:cNvPr>
              <p:cNvSpPr txBox="1">
                <a:spLocks noRot="1" noChangeAspect="1" noMove="1" noResize="1" noEditPoints="1" noAdjustHandles="1" noChangeArrowheads="1" noChangeShapeType="1" noTextEdit="1"/>
              </p:cNvSpPr>
              <p:nvPr/>
            </p:nvSpPr>
            <p:spPr>
              <a:xfrm>
                <a:off x="608012" y="2228671"/>
                <a:ext cx="4038759" cy="3857146"/>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5" name="Imagen 4">
            <a:extLst>
              <a:ext uri="{FF2B5EF4-FFF2-40B4-BE49-F238E27FC236}">
                <a16:creationId xmlns:a16="http://schemas.microsoft.com/office/drawing/2014/main" id="{8EA88A4C-173F-40CC-A349-694B6B2F210B}"/>
              </a:ext>
            </a:extLst>
          </p:cNvPr>
          <p:cNvPicPr>
            <a:picLocks noChangeAspect="1"/>
          </p:cNvPicPr>
          <p:nvPr/>
        </p:nvPicPr>
        <p:blipFill>
          <a:blip r:embed="rId5"/>
          <a:stretch>
            <a:fillRect/>
          </a:stretch>
        </p:blipFill>
        <p:spPr>
          <a:xfrm>
            <a:off x="5072062" y="2789955"/>
            <a:ext cx="3233738" cy="2594975"/>
          </a:xfrm>
          <a:prstGeom prst="rect">
            <a:avLst/>
          </a:prstGeom>
        </p:spPr>
      </p:pic>
      <p:pic>
        <p:nvPicPr>
          <p:cNvPr id="8" name="Imagen 7">
            <a:extLst>
              <a:ext uri="{FF2B5EF4-FFF2-40B4-BE49-F238E27FC236}">
                <a16:creationId xmlns:a16="http://schemas.microsoft.com/office/drawing/2014/main" id="{5386378D-3A50-097C-4E07-202A101AC141}"/>
              </a:ext>
            </a:extLst>
          </p:cNvPr>
          <p:cNvPicPr>
            <a:picLocks noChangeAspect="1"/>
          </p:cNvPicPr>
          <p:nvPr/>
        </p:nvPicPr>
        <p:blipFill>
          <a:blip r:embed="rId6"/>
          <a:stretch>
            <a:fillRect/>
          </a:stretch>
        </p:blipFill>
        <p:spPr>
          <a:xfrm>
            <a:off x="8384757" y="2788346"/>
            <a:ext cx="3121443" cy="2504861"/>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2E148-B3AE-8D5F-C34A-51B53525DFE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CAA3536-3498-F023-251A-4748C3F6A9F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A673A408-178C-6E98-C613-DB217BD802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2658CB9-F7C1-4251-7DA3-B6796E35B14A}"/>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4" name="Marcador de texto 2">
            <a:extLst>
              <a:ext uri="{FF2B5EF4-FFF2-40B4-BE49-F238E27FC236}">
                <a16:creationId xmlns:a16="http://schemas.microsoft.com/office/drawing/2014/main" id="{60FC3191-5B4C-0D59-9296-F5E9FD2038C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pPr algn="just"/>
            <a:endParaRPr lang="en-US" sz="2000" kern="0" dirty="0">
              <a:solidFill>
                <a:sysClr val="windowText" lastClr="000000"/>
              </a:solidFill>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D32C39A5-DA38-E891-DE8C-05023C39E9D4}"/>
                  </a:ext>
                </a:extLst>
              </p:cNvPr>
              <p:cNvSpPr txBox="1"/>
              <p:nvPr/>
            </p:nvSpPr>
            <p:spPr>
              <a:xfrm>
                <a:off x="608012" y="2391854"/>
                <a:ext cx="6554788" cy="393280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r>
                  <a:rPr lang="es-ES" sz="1100" dirty="0"/>
                  <a:t>In </a:t>
                </a:r>
                <a:r>
                  <a:rPr lang="es-ES" sz="1100" dirty="0" err="1"/>
                  <a:t>this</a:t>
                </a:r>
                <a:r>
                  <a:rPr lang="es-ES" sz="1100" dirty="0"/>
                  <a:t> </a:t>
                </a:r>
                <a:r>
                  <a:rPr lang="es-ES" sz="1100" dirty="0" err="1"/>
                  <a:t>configuration</a:t>
                </a:r>
                <a:r>
                  <a:rPr lang="es-ES" sz="1100" dirty="0"/>
                  <a:t>, </a:t>
                </a:r>
                <a:r>
                  <a:rPr lang="es-ES" sz="1100" dirty="0" err="1"/>
                  <a:t>the</a:t>
                </a:r>
                <a:r>
                  <a:rPr lang="es-ES" sz="1100" dirty="0"/>
                  <a:t> MZI </a:t>
                </a:r>
                <a:r>
                  <a:rPr lang="es-ES" sz="1100" dirty="0" err="1"/>
                  <a:t>operates</a:t>
                </a:r>
                <a:r>
                  <a:rPr lang="es-ES" sz="1100" dirty="0"/>
                  <a:t> as </a:t>
                </a:r>
                <a:r>
                  <a:rPr lang="es-ES" sz="1100" dirty="0" err="1"/>
                  <a:t>an</a:t>
                </a:r>
                <a:r>
                  <a:rPr lang="es-ES" sz="1100" dirty="0"/>
                  <a:t> </a:t>
                </a:r>
                <a:r>
                  <a:rPr lang="es-ES" sz="1100" dirty="0" err="1"/>
                  <a:t>asymmetric</a:t>
                </a:r>
                <a:r>
                  <a:rPr lang="es-ES" sz="1100" dirty="0"/>
                  <a:t> </a:t>
                </a:r>
                <a:r>
                  <a:rPr lang="es-ES" sz="1100" dirty="0" err="1"/>
                  <a:t>evanescent</a:t>
                </a:r>
                <a:r>
                  <a:rPr lang="es-ES" sz="1100" dirty="0"/>
                  <a:t> </a:t>
                </a:r>
                <a:r>
                  <a:rPr lang="es-ES" sz="1100" dirty="0" err="1"/>
                  <a:t>field</a:t>
                </a:r>
                <a:r>
                  <a:rPr lang="es-ES" sz="1100" dirty="0"/>
                  <a:t> sensor </a:t>
                </a:r>
                <a:r>
                  <a:rPr lang="es-ES" sz="1100" dirty="0" err="1"/>
                  <a:t>where</a:t>
                </a:r>
                <a:r>
                  <a:rPr lang="es-ES" sz="1100" dirty="0"/>
                  <a:t> </a:t>
                </a:r>
                <a:r>
                  <a:rPr lang="es-ES" sz="1100" dirty="0" err="1"/>
                  <a:t>the</a:t>
                </a:r>
                <a:r>
                  <a:rPr lang="es-ES" sz="1100" dirty="0"/>
                  <a:t> </a:t>
                </a:r>
                <a:r>
                  <a:rPr lang="es-ES" sz="1100" dirty="0" err="1"/>
                  <a:t>upper</a:t>
                </a:r>
                <a:r>
                  <a:rPr lang="es-ES" sz="1100" dirty="0"/>
                  <a:t> </a:t>
                </a:r>
                <a:r>
                  <a:rPr lang="es-ES" sz="1100" dirty="0" err="1"/>
                  <a:t>arm</a:t>
                </a:r>
                <a:r>
                  <a:rPr lang="es-ES" sz="1100" dirty="0"/>
                  <a:t> </a:t>
                </a:r>
                <a:r>
                  <a:rPr lang="es-ES" sz="1100" dirty="0" err="1"/>
                  <a:t>remains</a:t>
                </a:r>
                <a:r>
                  <a:rPr lang="es-ES" sz="1100" dirty="0"/>
                  <a:t> </a:t>
                </a:r>
                <a:r>
                  <a:rPr lang="es-ES" sz="1100" dirty="0" err="1"/>
                  <a:t>passivated</a:t>
                </a:r>
                <a:r>
                  <a:rPr lang="es-ES" sz="1100" dirty="0"/>
                  <a:t> </a:t>
                </a:r>
                <a:r>
                  <a:rPr lang="es-ES" sz="1100" dirty="0" err="1"/>
                  <a:t>under</a:t>
                </a:r>
                <a:r>
                  <a:rPr lang="es-ES" sz="1100" dirty="0"/>
                  <a:t> a </a:t>
                </a:r>
                <a:r>
                  <a:rPr lang="es-ES" sz="1100" dirty="0" err="1"/>
                  <a:t>protective</a:t>
                </a:r>
                <a:r>
                  <a:rPr lang="es-ES" sz="1100" dirty="0"/>
                  <a:t> </a:t>
                </a:r>
                <a14:m>
                  <m:oMath xmlns:m="http://schemas.openxmlformats.org/officeDocument/2006/math">
                    <m:sSub>
                      <m:sSubPr>
                        <m:ctrlPr>
                          <a:rPr lang="es-ES" sz="1100"/>
                        </m:ctrlPr>
                      </m:sSubPr>
                      <m:e>
                        <m:r>
                          <m:rPr>
                            <m:nor/>
                          </m:rPr>
                          <a:rPr lang="es-ES" sz="1100"/>
                          <m:t>SiO</m:t>
                        </m:r>
                      </m:e>
                      <m:sub>
                        <m:r>
                          <a:rPr lang="es-ES" sz="1100"/>
                          <m:t>2</m:t>
                        </m:r>
                      </m:sub>
                    </m:sSub>
                  </m:oMath>
                </a14:m>
                <a:r>
                  <a:rPr lang="es-ES" sz="1100" dirty="0" err="1"/>
                  <a:t>cladding</a:t>
                </a:r>
                <a:r>
                  <a:rPr lang="es-ES" sz="1100" dirty="0"/>
                  <a:t> (</a:t>
                </a:r>
                <a14:m>
                  <m:oMath xmlns:m="http://schemas.openxmlformats.org/officeDocument/2006/math">
                    <m:sSub>
                      <m:sSubPr>
                        <m:ctrlPr>
                          <a:rPr lang="es-ES" sz="1100" i="1"/>
                        </m:ctrlPr>
                      </m:sSubPr>
                      <m:e>
                        <m:r>
                          <a:rPr lang="es-ES" sz="1100" i="1"/>
                          <m:t>𝑛</m:t>
                        </m:r>
                      </m:e>
                      <m:sub>
                        <m:r>
                          <m:rPr>
                            <m:nor/>
                          </m:rPr>
                          <a:rPr lang="es-ES" sz="1100"/>
                          <m:t>clad</m:t>
                        </m:r>
                      </m:sub>
                    </m:sSub>
                    <m:r>
                      <a:rPr lang="es-ES" sz="1100"/>
                      <m:t>≈1.44</m:t>
                    </m:r>
                  </m:oMath>
                </a14:m>
                <a:r>
                  <a:rPr lang="es-ES" sz="1100" dirty="0"/>
                  <a:t>) </a:t>
                </a:r>
                <a:r>
                  <a:rPr lang="es-ES" sz="1100" dirty="0" err="1"/>
                  <a:t>while</a:t>
                </a:r>
                <a:r>
                  <a:rPr lang="es-ES" sz="1100" dirty="0"/>
                  <a:t> </a:t>
                </a:r>
                <a:r>
                  <a:rPr lang="es-ES" sz="1100" dirty="0" err="1"/>
                  <a:t>the</a:t>
                </a:r>
                <a:r>
                  <a:rPr lang="es-ES" sz="1100" dirty="0"/>
                  <a:t> </a:t>
                </a:r>
                <a:r>
                  <a:rPr lang="es-ES" sz="1100" dirty="0" err="1"/>
                  <a:t>lower</a:t>
                </a:r>
                <a:r>
                  <a:rPr lang="es-ES" sz="1100" dirty="0"/>
                  <a:t> </a:t>
                </a:r>
                <a:r>
                  <a:rPr lang="es-ES" sz="1100" dirty="0" err="1"/>
                  <a:t>sensing</a:t>
                </a:r>
                <a:r>
                  <a:rPr lang="es-ES" sz="1100" dirty="0"/>
                  <a:t> </a:t>
                </a:r>
                <a:r>
                  <a:rPr lang="es-ES" sz="1100" dirty="0" err="1"/>
                  <a:t>arm</a:t>
                </a:r>
                <a:r>
                  <a:rPr lang="es-ES" sz="1100" dirty="0"/>
                  <a:t> </a:t>
                </a:r>
                <a:r>
                  <a:rPr lang="es-ES" sz="1100" dirty="0" err="1"/>
                  <a:t>is</a:t>
                </a:r>
                <a:r>
                  <a:rPr lang="es-ES" sz="1100" dirty="0"/>
                  <a:t> </a:t>
                </a:r>
                <a:r>
                  <a:rPr lang="es-ES" sz="1100" dirty="0" err="1"/>
                  <a:t>exposed</a:t>
                </a:r>
                <a:r>
                  <a:rPr lang="es-ES" sz="1100" dirty="0"/>
                  <a:t> </a:t>
                </a:r>
                <a:r>
                  <a:rPr lang="es-ES" sz="1100" dirty="0" err="1"/>
                  <a:t>to</a:t>
                </a:r>
                <a:r>
                  <a:rPr lang="es-ES" sz="1100" dirty="0"/>
                  <a:t> </a:t>
                </a:r>
                <a:r>
                  <a:rPr lang="es-ES" sz="1100" dirty="0" err="1"/>
                  <a:t>external</a:t>
                </a:r>
                <a:r>
                  <a:rPr lang="es-ES" sz="1100" dirty="0"/>
                  <a:t> media </a:t>
                </a:r>
                <a:r>
                  <a:rPr lang="es-ES" sz="1100" dirty="0" err="1"/>
                  <a:t>of</a:t>
                </a:r>
                <a:r>
                  <a:rPr lang="es-ES" sz="1100" dirty="0"/>
                  <a:t> </a:t>
                </a:r>
                <a:r>
                  <a:rPr lang="es-ES" sz="1100" dirty="0" err="1"/>
                  <a:t>varying</a:t>
                </a:r>
                <a:r>
                  <a:rPr lang="es-ES" sz="1100" dirty="0"/>
                  <a:t> refractive </a:t>
                </a:r>
                <a:r>
                  <a:rPr lang="es-ES" sz="1100" dirty="0" err="1"/>
                  <a:t>indices</a:t>
                </a:r>
                <a:r>
                  <a:rPr lang="es-ES" sz="1100" dirty="0"/>
                  <a:t> (</a:t>
                </a:r>
                <a14:m>
                  <m:oMath xmlns:m="http://schemas.openxmlformats.org/officeDocument/2006/math">
                    <m:sSub>
                      <m:sSubPr>
                        <m:ctrlPr>
                          <a:rPr lang="es-ES" sz="1100" i="1"/>
                        </m:ctrlPr>
                      </m:sSubPr>
                      <m:e>
                        <m:r>
                          <a:rPr lang="es-ES" sz="1100" i="1"/>
                          <m:t>𝑛</m:t>
                        </m:r>
                      </m:e>
                      <m:sub>
                        <m:r>
                          <m:rPr>
                            <m:nor/>
                          </m:rPr>
                          <a:rPr lang="es-ES" sz="1100"/>
                          <m:t>medium</m:t>
                        </m:r>
                      </m:sub>
                    </m:sSub>
                  </m:oMath>
                </a14:m>
                <a:r>
                  <a:rPr lang="es-ES" sz="1100" dirty="0"/>
                  <a:t>: </a:t>
                </a:r>
                <a14:m>
                  <m:oMath xmlns:m="http://schemas.openxmlformats.org/officeDocument/2006/math">
                    <m:sSub>
                      <m:sSubPr>
                        <m:ctrlPr>
                          <a:rPr lang="es-ES" sz="1100"/>
                        </m:ctrlPr>
                      </m:sSubPr>
                      <m:e>
                        <m:r>
                          <m:rPr>
                            <m:nor/>
                          </m:rPr>
                          <a:rPr lang="es-ES" sz="1100"/>
                          <m:t>SiO</m:t>
                        </m:r>
                      </m:e>
                      <m:sub>
                        <m:r>
                          <a:rPr lang="es-ES" sz="1100"/>
                          <m:t>2</m:t>
                        </m:r>
                      </m:sub>
                    </m:sSub>
                  </m:oMath>
                </a14:m>
                <a:r>
                  <a:rPr lang="es-ES" sz="1100" dirty="0"/>
                  <a:t>, </a:t>
                </a:r>
                <a:r>
                  <a:rPr lang="es-ES" sz="1100" dirty="0" err="1"/>
                  <a:t>water</a:t>
                </a:r>
                <a:r>
                  <a:rPr lang="es-ES" sz="1100" dirty="0"/>
                  <a:t>, and air). </a:t>
                </a:r>
                <a:r>
                  <a:rPr lang="es-ES" sz="1100" dirty="0" err="1"/>
                  <a:t>Because</a:t>
                </a:r>
                <a:r>
                  <a:rPr lang="es-ES" sz="1100" dirty="0"/>
                  <a:t> </a:t>
                </a:r>
                <a:r>
                  <a:rPr lang="es-ES" sz="1100" dirty="0" err="1"/>
                  <a:t>the</a:t>
                </a:r>
                <a:r>
                  <a:rPr lang="es-ES" sz="1100" dirty="0"/>
                  <a:t> </a:t>
                </a:r>
                <a:r>
                  <a:rPr lang="es-ES" sz="1100" dirty="0" err="1"/>
                  <a:t>optical</a:t>
                </a:r>
                <a:r>
                  <a:rPr lang="es-ES" sz="1100" dirty="0"/>
                  <a:t> </a:t>
                </a:r>
                <a:r>
                  <a:rPr lang="es-ES" sz="1100" dirty="0" err="1"/>
                  <a:t>mode</a:t>
                </a:r>
                <a:r>
                  <a:rPr lang="es-ES" sz="1100" dirty="0"/>
                  <a:t> </a:t>
                </a:r>
                <a:r>
                  <a:rPr lang="es-ES" sz="1100" dirty="0" err="1"/>
                  <a:t>possesses</a:t>
                </a:r>
                <a:r>
                  <a:rPr lang="es-ES" sz="1100" dirty="0"/>
                  <a:t> </a:t>
                </a:r>
                <a:r>
                  <a:rPr lang="es-ES" sz="1100" dirty="0" err="1"/>
                  <a:t>an</a:t>
                </a:r>
                <a:r>
                  <a:rPr lang="es-ES" sz="1100" dirty="0"/>
                  <a:t> </a:t>
                </a:r>
                <a:r>
                  <a:rPr lang="es-ES" sz="1100" dirty="0" err="1"/>
                  <a:t>evanescent</a:t>
                </a:r>
                <a:r>
                  <a:rPr lang="es-ES" sz="1100" dirty="0"/>
                  <a:t> </a:t>
                </a:r>
                <a:r>
                  <a:rPr lang="es-ES" sz="1100" dirty="0" err="1"/>
                  <a:t>tail</a:t>
                </a:r>
                <a:r>
                  <a:rPr lang="es-ES" sz="1100" dirty="0"/>
                  <a:t> </a:t>
                </a:r>
                <a:r>
                  <a:rPr lang="es-ES" sz="1100" dirty="0" err="1"/>
                  <a:t>extending</a:t>
                </a:r>
                <a:r>
                  <a:rPr lang="es-ES" sz="1100" dirty="0"/>
                  <a:t> </a:t>
                </a:r>
                <a:r>
                  <a:rPr lang="es-ES" sz="1100" dirty="0" err="1"/>
                  <a:t>into</a:t>
                </a:r>
                <a:r>
                  <a:rPr lang="es-ES" sz="1100" dirty="0"/>
                  <a:t> </a:t>
                </a:r>
                <a:r>
                  <a:rPr lang="es-ES" sz="1100" dirty="0" err="1"/>
                  <a:t>the</a:t>
                </a:r>
                <a:r>
                  <a:rPr lang="es-ES" sz="1100" dirty="0"/>
                  <a:t> </a:t>
                </a:r>
                <a:r>
                  <a:rPr lang="es-ES" sz="1100" dirty="0" err="1"/>
                  <a:t>surrounding</a:t>
                </a:r>
                <a:r>
                  <a:rPr lang="es-ES" sz="1100" dirty="0"/>
                  <a:t> </a:t>
                </a:r>
                <a:r>
                  <a:rPr lang="es-ES" sz="1100" dirty="0" err="1"/>
                  <a:t>upper</a:t>
                </a:r>
                <a:r>
                  <a:rPr lang="es-ES" sz="1100" dirty="0"/>
                  <a:t> </a:t>
                </a:r>
                <a:r>
                  <a:rPr lang="es-ES" sz="1100" dirty="0" err="1"/>
                  <a:t>half-space</a:t>
                </a:r>
                <a:r>
                  <a:rPr lang="es-ES" sz="1100" dirty="0"/>
                  <a:t>, </a:t>
                </a:r>
                <a:r>
                  <a:rPr lang="es-ES" sz="1100" dirty="0" err="1"/>
                  <a:t>reducing</a:t>
                </a:r>
                <a:r>
                  <a:rPr lang="es-ES" sz="1100" dirty="0"/>
                  <a:t> </a:t>
                </a:r>
                <a:r>
                  <a:rPr lang="es-ES" sz="1100" dirty="0" err="1"/>
                  <a:t>the</a:t>
                </a:r>
                <a:r>
                  <a:rPr lang="es-ES" sz="1100" dirty="0"/>
                  <a:t> </a:t>
                </a:r>
                <a:r>
                  <a:rPr lang="es-ES" sz="1100" dirty="0" err="1"/>
                  <a:t>external</a:t>
                </a:r>
                <a:r>
                  <a:rPr lang="es-ES" sz="1100" dirty="0"/>
                  <a:t> </a:t>
                </a:r>
                <a:r>
                  <a:rPr lang="es-ES" sz="1100" dirty="0" err="1"/>
                  <a:t>index</a:t>
                </a:r>
                <a:r>
                  <a:rPr lang="es-ES" sz="1100" dirty="0"/>
                  <a:t> </a:t>
                </a:r>
                <a:r>
                  <a:rPr lang="es-ES" sz="1100" dirty="0" err="1"/>
                  <a:t>from</a:t>
                </a:r>
                <a:r>
                  <a:rPr lang="es-ES" sz="1100" dirty="0"/>
                  <a:t> </a:t>
                </a:r>
                <a14:m>
                  <m:oMath xmlns:m="http://schemas.openxmlformats.org/officeDocument/2006/math">
                    <m:sSub>
                      <m:sSubPr>
                        <m:ctrlPr>
                          <a:rPr lang="es-ES" sz="1100" i="1"/>
                        </m:ctrlPr>
                      </m:sSubPr>
                      <m:e>
                        <m:r>
                          <a:rPr lang="es-ES" sz="1100" i="1"/>
                          <m:t>𝑛</m:t>
                        </m:r>
                      </m:e>
                      <m:sub>
                        <m:r>
                          <m:rPr>
                            <m:nor/>
                          </m:rPr>
                          <a:rPr lang="es-ES" sz="1100"/>
                          <m:t>clad</m:t>
                        </m:r>
                      </m:sub>
                    </m:sSub>
                    <m:r>
                      <a:rPr lang="es-ES" sz="1100"/>
                      <m:t>→</m:t>
                    </m:r>
                    <m:sSub>
                      <m:sSubPr>
                        <m:ctrlPr>
                          <a:rPr lang="es-ES" sz="1100" i="1"/>
                        </m:ctrlPr>
                      </m:sSubPr>
                      <m:e>
                        <m:r>
                          <a:rPr lang="es-ES" sz="1100" i="1"/>
                          <m:t>𝑛</m:t>
                        </m:r>
                      </m:e>
                      <m:sub>
                        <m:r>
                          <m:rPr>
                            <m:nor/>
                          </m:rPr>
                          <a:rPr lang="es-ES" sz="1100"/>
                          <m:t>water</m:t>
                        </m:r>
                      </m:sub>
                    </m:sSub>
                    <m:r>
                      <a:rPr lang="es-ES" sz="1100"/>
                      <m:t>→</m:t>
                    </m:r>
                    <m:sSub>
                      <m:sSubPr>
                        <m:ctrlPr>
                          <a:rPr lang="es-ES" sz="1100" i="1"/>
                        </m:ctrlPr>
                      </m:sSubPr>
                      <m:e>
                        <m:r>
                          <a:rPr lang="es-ES" sz="1100" i="1"/>
                          <m:t>𝑛</m:t>
                        </m:r>
                      </m:e>
                      <m:sub>
                        <m:r>
                          <m:rPr>
                            <m:nor/>
                          </m:rPr>
                          <a:rPr lang="es-ES" sz="1100"/>
                          <m:t>air</m:t>
                        </m:r>
                      </m:sub>
                    </m:sSub>
                  </m:oMath>
                </a14:m>
                <a:r>
                  <a:rPr lang="es-ES" sz="1100" dirty="0" err="1"/>
                  <a:t>diminishes</a:t>
                </a:r>
                <a:r>
                  <a:rPr lang="es-ES" sz="1100" dirty="0"/>
                  <a:t> </a:t>
                </a:r>
                <a:r>
                  <a:rPr lang="es-ES" sz="1100" dirty="0" err="1"/>
                  <a:t>the</a:t>
                </a:r>
                <a:r>
                  <a:rPr lang="es-ES" sz="1100" dirty="0"/>
                  <a:t> </a:t>
                </a:r>
                <a:r>
                  <a:rPr lang="es-ES" sz="1100" dirty="0" err="1"/>
                  <a:t>effective</a:t>
                </a:r>
                <a:r>
                  <a:rPr lang="es-ES" sz="1100" dirty="0"/>
                  <a:t> </a:t>
                </a:r>
                <a:r>
                  <a:rPr lang="es-ES" sz="1100" dirty="0" err="1"/>
                  <a:t>index</a:t>
                </a:r>
                <a:r>
                  <a:rPr lang="es-ES" sz="1100" dirty="0"/>
                  <a:t> </a:t>
                </a:r>
                <a:r>
                  <a:rPr lang="es-ES" sz="1100" dirty="0" err="1"/>
                  <a:t>of</a:t>
                </a:r>
                <a:r>
                  <a:rPr lang="es-ES" sz="1100" dirty="0"/>
                  <a:t> </a:t>
                </a:r>
                <a:r>
                  <a:rPr lang="es-ES" sz="1100" dirty="0" err="1"/>
                  <a:t>the</a:t>
                </a:r>
                <a:r>
                  <a:rPr lang="es-ES" sz="1100" dirty="0"/>
                  <a:t> </a:t>
                </a:r>
                <a:r>
                  <a:rPr lang="es-ES" sz="1100" dirty="0" err="1"/>
                  <a:t>lower</a:t>
                </a:r>
                <a:r>
                  <a:rPr lang="es-ES" sz="1100" dirty="0"/>
                  <a:t> </a:t>
                </a:r>
                <a:r>
                  <a:rPr lang="es-ES" sz="1100" dirty="0" err="1"/>
                  <a:t>arm</a:t>
                </a:r>
                <a:r>
                  <a:rPr lang="es-ES" sz="1100" dirty="0"/>
                  <a:t> (</a:t>
                </a:r>
                <a14:m>
                  <m:oMath xmlns:m="http://schemas.openxmlformats.org/officeDocument/2006/math">
                    <m:sSub>
                      <m:sSubPr>
                        <m:ctrlPr>
                          <a:rPr lang="es-ES" sz="1100" i="1"/>
                        </m:ctrlPr>
                      </m:sSubPr>
                      <m:e>
                        <m:r>
                          <a:rPr lang="es-ES" sz="1100" i="1"/>
                          <m:t>𝑛</m:t>
                        </m:r>
                      </m:e>
                      <m:sub>
                        <m:r>
                          <m:rPr>
                            <m:nor/>
                          </m:rPr>
                          <a:rPr lang="es-ES" sz="1100"/>
                          <m:t>eff, d</m:t>
                        </m:r>
                      </m:sub>
                    </m:sSub>
                    <m:r>
                      <a:rPr lang="es-ES" sz="1100"/>
                      <m:t>&lt;</m:t>
                    </m:r>
                    <m:sSub>
                      <m:sSubPr>
                        <m:ctrlPr>
                          <a:rPr lang="es-ES" sz="1100" i="1"/>
                        </m:ctrlPr>
                      </m:sSubPr>
                      <m:e>
                        <m:r>
                          <a:rPr lang="es-ES" sz="1100" i="1"/>
                          <m:t>𝑛</m:t>
                        </m:r>
                      </m:e>
                      <m:sub>
                        <m:r>
                          <m:rPr>
                            <m:nor/>
                          </m:rPr>
                          <a:rPr lang="es-ES" sz="1100"/>
                          <m:t>eff, u</m:t>
                        </m:r>
                      </m:sub>
                    </m:sSub>
                  </m:oMath>
                </a14:m>
                <a:r>
                  <a:rPr lang="es-ES" sz="1100" dirty="0"/>
                  <a:t>).</a:t>
                </a:r>
              </a:p>
              <a:p>
                <a:r>
                  <a:rPr lang="es-ES" sz="1100" dirty="0" err="1"/>
                  <a:t>This</a:t>
                </a:r>
                <a:r>
                  <a:rPr lang="es-ES" sz="1100" dirty="0"/>
                  <a:t> </a:t>
                </a:r>
                <a:r>
                  <a:rPr lang="es-ES" sz="1100" dirty="0" err="1"/>
                  <a:t>effective</a:t>
                </a:r>
                <a:r>
                  <a:rPr lang="es-ES" sz="1100" dirty="0"/>
                  <a:t> </a:t>
                </a:r>
                <a:r>
                  <a:rPr lang="es-ES" sz="1100" dirty="0" err="1"/>
                  <a:t>index</a:t>
                </a:r>
                <a:r>
                  <a:rPr lang="es-ES" sz="1100" dirty="0"/>
                  <a:t> </a:t>
                </a:r>
                <a:r>
                  <a:rPr lang="es-ES" sz="1100" dirty="0" err="1"/>
                  <a:t>contrast</a:t>
                </a:r>
                <a:r>
                  <a:rPr lang="es-ES" sz="1100" dirty="0"/>
                  <a:t> induces a net </a:t>
                </a:r>
                <a:r>
                  <a:rPr lang="es-ES" sz="1100" dirty="0" err="1"/>
                  <a:t>optical</a:t>
                </a:r>
                <a:r>
                  <a:rPr lang="es-ES" sz="1100" dirty="0"/>
                  <a:t> </a:t>
                </a:r>
                <a:r>
                  <a:rPr lang="es-ES" sz="1100" dirty="0" err="1"/>
                  <a:t>phase</a:t>
                </a:r>
                <a:r>
                  <a:rPr lang="es-ES" sz="1100" dirty="0"/>
                  <a:t> shift:</a:t>
                </a:r>
              </a:p>
              <a:p>
                <a14:m>
                  <m:oMathPara xmlns:m="http://schemas.openxmlformats.org/officeDocument/2006/math">
                    <m:oMath>
                      <m:r>
                        <m:rPr>
                          <m:sty m:val="p"/>
                        </m:rPr>
                        <a:rPr lang="es-ES" sz="1100"/>
                        <m:t>Δ</m:t>
                      </m:r>
                      <m:r>
                        <a:rPr lang="es-ES" sz="1100" i="1"/>
                        <m:t>𝜙</m:t>
                      </m:r>
                      <m:d>
                        <m:dPr>
                          <m:ctrlPr>
                            <a:rPr lang="es-ES" sz="1100" i="1"/>
                          </m:ctrlPr>
                        </m:dPr>
                        <m:e>
                          <m:r>
                            <a:rPr lang="es-ES" sz="1100" i="1"/>
                            <m:t>𝜆</m:t>
                          </m:r>
                        </m:e>
                      </m:d>
                      <m:r>
                        <a:rPr lang="es-ES" sz="1100"/>
                        <m:t>=</m:t>
                      </m:r>
                      <m:f>
                        <m:fPr>
                          <m:ctrlPr>
                            <a:rPr lang="es-ES" sz="1100"/>
                          </m:ctrlPr>
                        </m:fPr>
                        <m:num>
                          <m:r>
                            <a:rPr lang="es-ES" sz="1100"/>
                            <m:t>2</m:t>
                          </m:r>
                          <m:r>
                            <a:rPr lang="es-ES" sz="1100" i="1"/>
                            <m:t>𝜋</m:t>
                          </m:r>
                        </m:num>
                        <m:den>
                          <m:r>
                            <a:rPr lang="es-ES" sz="1100" i="1"/>
                            <m:t>𝜆</m:t>
                          </m:r>
                        </m:den>
                      </m:f>
                      <m:d>
                        <m:dPr>
                          <m:begChr m:val="["/>
                          <m:endChr m:val="]"/>
                          <m:ctrlPr>
                            <a:rPr lang="es-ES" sz="1100" i="1"/>
                          </m:ctrlPr>
                        </m:dPr>
                        <m:e>
                          <m:sSub>
                            <m:sSubPr>
                              <m:ctrlPr>
                                <a:rPr lang="es-ES" sz="1100" i="1"/>
                              </m:ctrlPr>
                            </m:sSubPr>
                            <m:e>
                              <m:r>
                                <a:rPr lang="es-ES" sz="1100" i="1"/>
                                <m:t>𝑛</m:t>
                              </m:r>
                            </m:e>
                            <m:sub>
                              <m:r>
                                <m:rPr>
                                  <m:nor/>
                                </m:rPr>
                                <a:rPr lang="es-ES" sz="1100"/>
                                <m:t>eff, clad</m:t>
                              </m:r>
                            </m:sub>
                          </m:sSub>
                          <m:d>
                            <m:dPr>
                              <m:ctrlPr>
                                <a:rPr lang="es-ES" sz="1100" i="1"/>
                              </m:ctrlPr>
                            </m:dPr>
                            <m:e>
                              <m:r>
                                <a:rPr lang="es-ES" sz="1100" i="1"/>
                                <m:t>𝜆</m:t>
                              </m:r>
                            </m:e>
                          </m:d>
                          <m:r>
                            <a:rPr lang="es-ES" sz="1100"/>
                            <m:t>−</m:t>
                          </m:r>
                          <m:sSub>
                            <m:sSubPr>
                              <m:ctrlPr>
                                <a:rPr lang="es-ES" sz="1100" i="1"/>
                              </m:ctrlPr>
                            </m:sSubPr>
                            <m:e>
                              <m:r>
                                <a:rPr lang="es-ES" sz="1100" i="1"/>
                                <m:t>𝑛</m:t>
                              </m:r>
                            </m:e>
                            <m:sub>
                              <m:r>
                                <m:rPr>
                                  <m:nor/>
                                </m:rPr>
                                <a:rPr lang="es-ES" sz="1100"/>
                                <m:t>eff, sample</m:t>
                              </m:r>
                            </m:sub>
                          </m:sSub>
                          <m:d>
                            <m:dPr>
                              <m:ctrlPr>
                                <a:rPr lang="es-ES" sz="1100" i="1"/>
                              </m:ctrlPr>
                            </m:dPr>
                            <m:e>
                              <m:r>
                                <a:rPr lang="es-ES" sz="1100" i="1"/>
                                <m:t>𝜆</m:t>
                              </m:r>
                            </m:e>
                          </m:d>
                        </m:e>
                      </m:d>
                      <m:sSub>
                        <m:sSubPr>
                          <m:ctrlPr>
                            <a:rPr lang="es-ES" sz="1100" i="1"/>
                          </m:ctrlPr>
                        </m:sSubPr>
                        <m:e>
                          <m:r>
                            <a:rPr lang="es-ES" sz="1100" i="1"/>
                            <m:t>𝐿</m:t>
                          </m:r>
                        </m:e>
                        <m:sub>
                          <m:r>
                            <m:rPr>
                              <m:nor/>
                            </m:rPr>
                            <a:rPr lang="es-ES" sz="1100"/>
                            <m:t>sense</m:t>
                          </m:r>
                        </m:sub>
                      </m:sSub>
                    </m:oMath>
                  </m:oMathPara>
                </a14:m>
                <a:endParaRPr lang="es-ES" sz="1100" dirty="0"/>
              </a:p>
              <a:p>
                <a:r>
                  <a:rPr lang="es-ES" sz="1100" dirty="0"/>
                  <a:t>In a </a:t>
                </a:r>
                <a:r>
                  <a:rPr lang="es-ES" sz="1100" dirty="0" err="1"/>
                  <a:t>balanced</a:t>
                </a:r>
                <a:r>
                  <a:rPr lang="es-ES" sz="1100" dirty="0"/>
                  <a:t> </a:t>
                </a:r>
                <a:r>
                  <a:rPr lang="es-ES" sz="1100" dirty="0" err="1"/>
                  <a:t>physical</a:t>
                </a:r>
                <a:r>
                  <a:rPr lang="es-ES" sz="1100" dirty="0"/>
                  <a:t> </a:t>
                </a:r>
                <a:r>
                  <a:rPr lang="es-ES" sz="1100" dirty="0" err="1"/>
                  <a:t>length</a:t>
                </a:r>
                <a:r>
                  <a:rPr lang="es-ES" sz="1100" dirty="0"/>
                  <a:t> </a:t>
                </a:r>
                <a:r>
                  <a:rPr lang="es-ES" sz="1100" dirty="0" err="1"/>
                  <a:t>configuration</a:t>
                </a:r>
                <a:r>
                  <a:rPr lang="es-ES" sz="1100" dirty="0"/>
                  <a:t> (</a:t>
                </a:r>
                <a14:m>
                  <m:oMath xmlns:m="http://schemas.openxmlformats.org/officeDocument/2006/math">
                    <m:sSub>
                      <m:sSubPr>
                        <m:ctrlPr>
                          <a:rPr lang="es-ES" sz="1100" i="1"/>
                        </m:ctrlPr>
                      </m:sSubPr>
                      <m:e>
                        <m:r>
                          <a:rPr lang="es-ES" sz="1100" i="1"/>
                          <m:t>𝐿</m:t>
                        </m:r>
                      </m:e>
                      <m:sub>
                        <m:r>
                          <a:rPr lang="es-ES" sz="1100" i="1"/>
                          <m:t>𝑢</m:t>
                        </m:r>
                      </m:sub>
                    </m:sSub>
                    <m:r>
                      <a:rPr lang="es-ES" sz="1100"/>
                      <m:t>=</m:t>
                    </m:r>
                    <m:sSub>
                      <m:sSubPr>
                        <m:ctrlPr>
                          <a:rPr lang="es-ES" sz="1100" i="1"/>
                        </m:ctrlPr>
                      </m:sSubPr>
                      <m:e>
                        <m:r>
                          <a:rPr lang="es-ES" sz="1100" i="1"/>
                          <m:t>𝐿</m:t>
                        </m:r>
                      </m:e>
                      <m:sub>
                        <m:r>
                          <a:rPr lang="es-ES" sz="1100" i="1"/>
                          <m:t>𝑑</m:t>
                        </m:r>
                      </m:sub>
                    </m:sSub>
                    <m:r>
                      <a:rPr lang="es-ES" sz="1100"/>
                      <m:t>=25 </m:t>
                    </m:r>
                    <m:r>
                      <a:rPr lang="es-ES" sz="1100" i="1"/>
                      <m:t>𝜇</m:t>
                    </m:r>
                    <m:r>
                      <m:rPr>
                        <m:sty m:val="p"/>
                      </m:rPr>
                      <a:rPr lang="es-ES" sz="1100"/>
                      <m:t>m</m:t>
                    </m:r>
                  </m:oMath>
                </a14:m>
                <a:r>
                  <a:rPr lang="es-ES" sz="1100" dirty="0"/>
                  <a:t>), </a:t>
                </a:r>
                <a:r>
                  <a:rPr lang="es-ES" sz="1100" dirty="0" err="1"/>
                  <a:t>the</a:t>
                </a:r>
                <a:r>
                  <a:rPr lang="es-ES" sz="1100" dirty="0"/>
                  <a:t> </a:t>
                </a:r>
                <a:r>
                  <a:rPr lang="es-ES" sz="1100" dirty="0" err="1"/>
                  <a:t>reference</a:t>
                </a:r>
                <a:r>
                  <a:rPr lang="es-ES" sz="1100" dirty="0"/>
                  <a:t> </a:t>
                </a:r>
                <a:r>
                  <a:rPr lang="es-ES" sz="1100" dirty="0" err="1"/>
                  <a:t>state</a:t>
                </a:r>
                <a:r>
                  <a:rPr lang="es-ES" sz="1100" dirty="0"/>
                  <a:t> (</a:t>
                </a:r>
                <a14:m>
                  <m:oMath xmlns:m="http://schemas.openxmlformats.org/officeDocument/2006/math">
                    <m:sSub>
                      <m:sSubPr>
                        <m:ctrlPr>
                          <a:rPr lang="es-ES" sz="1100"/>
                        </m:ctrlPr>
                      </m:sSubPr>
                      <m:e>
                        <m:r>
                          <m:rPr>
                            <m:nor/>
                          </m:rPr>
                          <a:rPr lang="es-ES" sz="1100"/>
                          <m:t>SiO</m:t>
                        </m:r>
                      </m:e>
                      <m:sub>
                        <m:r>
                          <a:rPr lang="es-ES" sz="1100"/>
                          <m:t>2</m:t>
                        </m:r>
                      </m:sub>
                    </m:sSub>
                    <m:r>
                      <a:rPr lang="es-ES" sz="1100"/>
                      <m:t>/</m:t>
                    </m:r>
                    <m:sSub>
                      <m:sSubPr>
                        <m:ctrlPr>
                          <a:rPr lang="es-ES" sz="1100"/>
                        </m:ctrlPr>
                      </m:sSubPr>
                      <m:e>
                        <m:r>
                          <m:rPr>
                            <m:nor/>
                          </m:rPr>
                          <a:rPr lang="es-ES" sz="1100"/>
                          <m:t>SiO</m:t>
                        </m:r>
                      </m:e>
                      <m:sub>
                        <m:r>
                          <a:rPr lang="es-ES" sz="1100"/>
                          <m:t>2</m:t>
                        </m:r>
                      </m:sub>
                    </m:sSub>
                  </m:oMath>
                </a14:m>
                <a:r>
                  <a:rPr lang="es-ES" sz="1100" dirty="0"/>
                  <a:t>) </a:t>
                </a:r>
                <a:r>
                  <a:rPr lang="es-ES" sz="1100" dirty="0" err="1"/>
                  <a:t>yields</a:t>
                </a:r>
                <a:r>
                  <a:rPr lang="es-ES" sz="1100" dirty="0"/>
                  <a:t> </a:t>
                </a:r>
                <a14:m>
                  <m:oMath xmlns:m="http://schemas.openxmlformats.org/officeDocument/2006/math">
                    <m:r>
                      <m:rPr>
                        <m:sty m:val="p"/>
                      </m:rPr>
                      <a:rPr lang="es-ES" sz="1100"/>
                      <m:t>Δ</m:t>
                    </m:r>
                    <m:r>
                      <a:rPr lang="es-ES" sz="1100" i="1"/>
                      <m:t>𝜙</m:t>
                    </m:r>
                    <m:r>
                      <a:rPr lang="es-ES" sz="1100"/>
                      <m:t>=0</m:t>
                    </m:r>
                  </m:oMath>
                </a14:m>
                <a:r>
                  <a:rPr lang="es-ES" sz="1100" dirty="0"/>
                  <a:t>, </a:t>
                </a:r>
                <a:r>
                  <a:rPr lang="es-ES" sz="1100" dirty="0" err="1"/>
                  <a:t>directing</a:t>
                </a:r>
                <a:r>
                  <a:rPr lang="es-ES" sz="1100" dirty="0"/>
                  <a:t> 100% </a:t>
                </a:r>
                <a:r>
                  <a:rPr lang="es-ES" sz="1100" dirty="0" err="1"/>
                  <a:t>of</a:t>
                </a:r>
                <a:r>
                  <a:rPr lang="es-ES" sz="1100" dirty="0"/>
                  <a:t> </a:t>
                </a:r>
                <a:r>
                  <a:rPr lang="es-ES" sz="1100" dirty="0" err="1"/>
                  <a:t>the</a:t>
                </a:r>
                <a:r>
                  <a:rPr lang="es-ES" sz="1100" dirty="0"/>
                  <a:t> input </a:t>
                </a:r>
                <a:r>
                  <a:rPr lang="es-ES" sz="1100" dirty="0" err="1"/>
                  <a:t>power</a:t>
                </a:r>
                <a:r>
                  <a:rPr lang="es-ES" sz="1100" dirty="0"/>
                  <a:t> </a:t>
                </a:r>
                <a:r>
                  <a:rPr lang="es-ES" sz="1100" dirty="0" err="1"/>
                  <a:t>to</a:t>
                </a:r>
                <a:r>
                  <a:rPr lang="es-ES" sz="1100" dirty="0"/>
                  <a:t> </a:t>
                </a:r>
                <a:r>
                  <a:rPr lang="es-ES" sz="1100" dirty="0" err="1"/>
                  <a:t>the</a:t>
                </a:r>
                <a:r>
                  <a:rPr lang="es-ES" sz="1100" dirty="0"/>
                  <a:t> </a:t>
                </a:r>
                <a:r>
                  <a:rPr lang="es-ES" sz="1100" dirty="0" err="1"/>
                  <a:t>cross</a:t>
                </a:r>
                <a:r>
                  <a:rPr lang="es-ES" sz="1100" dirty="0"/>
                  <a:t> </a:t>
                </a:r>
                <a:r>
                  <a:rPr lang="es-ES" sz="1100" dirty="0" err="1"/>
                  <a:t>port</a:t>
                </a:r>
                <a:r>
                  <a:rPr lang="es-ES" sz="1100" dirty="0"/>
                  <a:t> (</a:t>
                </a:r>
                <a14:m>
                  <m:oMath xmlns:m="http://schemas.openxmlformats.org/officeDocument/2006/math">
                    <m:r>
                      <a:rPr lang="es-ES" sz="1100"/>
                      <m:t>|</m:t>
                    </m:r>
                    <m:sSub>
                      <m:sSubPr>
                        <m:ctrlPr>
                          <a:rPr lang="es-ES" sz="1100" i="1"/>
                        </m:ctrlPr>
                      </m:sSubPr>
                      <m:e>
                        <m:r>
                          <a:rPr lang="es-ES" sz="1100" i="1"/>
                          <m:t>𝐻</m:t>
                        </m:r>
                      </m:e>
                      <m:sub>
                        <m:r>
                          <a:rPr lang="es-ES" sz="1100"/>
                          <m:t>10</m:t>
                        </m:r>
                      </m:sub>
                    </m:sSub>
                    <m:r>
                      <a:rPr lang="es-ES" sz="1100"/>
                      <m:t>|</m:t>
                    </m:r>
                    <m:sSup>
                      <m:sSupPr>
                        <m:ctrlPr>
                          <a:rPr lang="es-ES" sz="1100"/>
                        </m:ctrlPr>
                      </m:sSupPr>
                      <m:e>
                        <m:r>
                          <a:rPr lang="es-ES" sz="1100"/>
                          <m:t>​</m:t>
                        </m:r>
                      </m:e>
                      <m:sup>
                        <m:r>
                          <a:rPr lang="es-ES" sz="1100"/>
                          <m:t>2</m:t>
                        </m:r>
                      </m:sup>
                    </m:sSup>
                    <m:r>
                      <a:rPr lang="es-ES" sz="1100"/>
                      <m:t>=1.0</m:t>
                    </m:r>
                  </m:oMath>
                </a14:m>
                <a:r>
                  <a:rPr lang="es-ES" sz="1100" dirty="0"/>
                  <a:t>). </a:t>
                </a:r>
                <a:r>
                  <a:rPr lang="es-ES" sz="1100" dirty="0" err="1"/>
                  <a:t>Exposing</a:t>
                </a:r>
                <a:r>
                  <a:rPr lang="es-ES" sz="1100" dirty="0"/>
                  <a:t> </a:t>
                </a:r>
                <a:r>
                  <a:rPr lang="es-ES" sz="1100" dirty="0" err="1"/>
                  <a:t>the</a:t>
                </a:r>
                <a:r>
                  <a:rPr lang="es-ES" sz="1100" dirty="0"/>
                  <a:t> </a:t>
                </a:r>
                <a:r>
                  <a:rPr lang="es-ES" sz="1100" dirty="0" err="1"/>
                  <a:t>sensing</a:t>
                </a:r>
                <a:r>
                  <a:rPr lang="es-ES" sz="1100" dirty="0"/>
                  <a:t> </a:t>
                </a:r>
                <a:r>
                  <a:rPr lang="es-ES" sz="1100" dirty="0" err="1"/>
                  <a:t>window</a:t>
                </a:r>
                <a:r>
                  <a:rPr lang="es-ES" sz="1100" dirty="0"/>
                  <a:t> </a:t>
                </a:r>
                <a:r>
                  <a:rPr lang="es-ES" sz="1100" dirty="0" err="1"/>
                  <a:t>to</a:t>
                </a:r>
                <a:r>
                  <a:rPr lang="es-ES" sz="1100" dirty="0"/>
                  <a:t> </a:t>
                </a:r>
                <a:r>
                  <a:rPr lang="es-ES" sz="1100" dirty="0" err="1"/>
                  <a:t>water</a:t>
                </a:r>
                <a:r>
                  <a:rPr lang="es-ES" sz="1100" dirty="0"/>
                  <a:t> and air induces a </a:t>
                </a:r>
                <a:r>
                  <a:rPr lang="es-ES" sz="1100" dirty="0" err="1"/>
                  <a:t>progressive</a:t>
                </a:r>
                <a:r>
                  <a:rPr lang="es-ES" sz="1100" dirty="0"/>
                  <a:t> </a:t>
                </a:r>
                <a:r>
                  <a:rPr lang="es-ES" sz="1100" dirty="0" err="1"/>
                  <a:t>phase</a:t>
                </a:r>
                <a:r>
                  <a:rPr lang="es-ES" sz="1100" dirty="0"/>
                  <a:t> </a:t>
                </a:r>
                <a:r>
                  <a:rPr lang="es-ES" sz="1100" dirty="0" err="1"/>
                  <a:t>delay</a:t>
                </a:r>
                <a:r>
                  <a:rPr lang="es-ES" sz="1100" dirty="0"/>
                  <a:t> </a:t>
                </a:r>
                <a:r>
                  <a:rPr lang="es-ES" sz="1100" dirty="0" err="1"/>
                  <a:t>that</a:t>
                </a:r>
                <a:r>
                  <a:rPr lang="es-ES" sz="1100" dirty="0"/>
                  <a:t> </a:t>
                </a:r>
                <a:r>
                  <a:rPr lang="es-ES" sz="1100" dirty="0" err="1"/>
                  <a:t>detunes</a:t>
                </a:r>
                <a:r>
                  <a:rPr lang="es-ES" sz="1100" dirty="0"/>
                  <a:t> </a:t>
                </a:r>
                <a:r>
                  <a:rPr lang="es-ES" sz="1100" dirty="0" err="1"/>
                  <a:t>the</a:t>
                </a:r>
                <a:r>
                  <a:rPr lang="es-ES" sz="1100" dirty="0"/>
                  <a:t> constructive </a:t>
                </a:r>
                <a:r>
                  <a:rPr lang="es-ES" sz="1100" dirty="0" err="1"/>
                  <a:t>interference</a:t>
                </a:r>
                <a:r>
                  <a:rPr lang="es-ES" sz="1100" dirty="0"/>
                  <a:t> </a:t>
                </a:r>
                <a:r>
                  <a:rPr lang="es-ES" sz="1100" dirty="0" err="1"/>
                  <a:t>condition</a:t>
                </a:r>
                <a:r>
                  <a:rPr lang="es-ES" sz="1100" dirty="0"/>
                  <a:t>, </a:t>
                </a:r>
                <a:r>
                  <a:rPr lang="es-ES" sz="1100" dirty="0" err="1"/>
                  <a:t>causing</a:t>
                </a:r>
                <a:r>
                  <a:rPr lang="es-ES" sz="1100" dirty="0"/>
                  <a:t> a </a:t>
                </a:r>
                <a:r>
                  <a:rPr lang="es-ES" sz="1100" dirty="0" err="1"/>
                  <a:t>significant</a:t>
                </a:r>
                <a:r>
                  <a:rPr lang="es-ES" sz="1100" dirty="0"/>
                  <a:t> </a:t>
                </a:r>
                <a:r>
                  <a:rPr lang="es-ES" sz="1100" dirty="0" err="1"/>
                  <a:t>downward</a:t>
                </a:r>
                <a:r>
                  <a:rPr lang="es-ES" sz="1100" dirty="0"/>
                  <a:t> </a:t>
                </a:r>
                <a:r>
                  <a:rPr lang="es-ES" sz="1100" dirty="0" err="1"/>
                  <a:t>transmission</a:t>
                </a:r>
                <a:r>
                  <a:rPr lang="es-ES" sz="1100" dirty="0"/>
                  <a:t> shift at </a:t>
                </a:r>
                <a14:m>
                  <m:oMath xmlns:m="http://schemas.openxmlformats.org/officeDocument/2006/math">
                    <m:sSub>
                      <m:sSubPr>
                        <m:ctrlPr>
                          <a:rPr lang="es-ES" sz="1100" i="1"/>
                        </m:ctrlPr>
                      </m:sSubPr>
                      <m:e>
                        <m:r>
                          <a:rPr lang="es-ES" sz="1100" i="1"/>
                          <m:t>𝜆</m:t>
                        </m:r>
                      </m:e>
                      <m:sub>
                        <m:r>
                          <a:rPr lang="es-ES" sz="1100"/>
                          <m:t>0</m:t>
                        </m:r>
                      </m:sub>
                    </m:sSub>
                    <m:r>
                      <a:rPr lang="es-ES" sz="1100"/>
                      <m:t>=1.55 </m:t>
                    </m:r>
                    <m:r>
                      <a:rPr lang="es-ES" sz="1100" i="1"/>
                      <m:t>𝜇</m:t>
                    </m:r>
                    <m:r>
                      <m:rPr>
                        <m:sty m:val="p"/>
                      </m:rPr>
                      <a:rPr lang="es-ES" sz="1100"/>
                      <m:t>m</m:t>
                    </m:r>
                  </m:oMath>
                </a14:m>
                <a:r>
                  <a:rPr lang="es-ES" sz="1100" dirty="0"/>
                  <a:t>(</a:t>
                </a:r>
                <a14:m>
                  <m:oMath xmlns:m="http://schemas.openxmlformats.org/officeDocument/2006/math">
                    <m:r>
                      <a:rPr lang="es-ES" sz="1100"/>
                      <m:t>|</m:t>
                    </m:r>
                    <m:sSub>
                      <m:sSubPr>
                        <m:ctrlPr>
                          <a:rPr lang="es-ES" sz="1100" i="1"/>
                        </m:ctrlPr>
                      </m:sSubPr>
                      <m:e>
                        <m:r>
                          <a:rPr lang="es-ES" sz="1100" i="1"/>
                          <m:t>𝐻</m:t>
                        </m:r>
                      </m:e>
                      <m:sub>
                        <m:r>
                          <a:rPr lang="es-ES" sz="1100"/>
                          <m:t>10</m:t>
                        </m:r>
                      </m:sub>
                    </m:sSub>
                    <m:r>
                      <a:rPr lang="es-ES" sz="1100"/>
                      <m:t>|</m:t>
                    </m:r>
                    <m:sSup>
                      <m:sSupPr>
                        <m:ctrlPr>
                          <a:rPr lang="es-ES" sz="1100"/>
                        </m:ctrlPr>
                      </m:sSupPr>
                      <m:e>
                        <m:r>
                          <a:rPr lang="es-ES" sz="1100"/>
                          <m:t>​</m:t>
                        </m:r>
                      </m:e>
                      <m:sup>
                        <m:r>
                          <a:rPr lang="es-ES" sz="1100"/>
                          <m:t>2</m:t>
                        </m:r>
                      </m:sup>
                    </m:sSup>
                    <m:r>
                      <a:rPr lang="es-ES" sz="1100"/>
                      <m:t>→0.75</m:t>
                    </m:r>
                  </m:oMath>
                </a14:m>
                <a:r>
                  <a:rPr lang="es-ES" sz="1100" dirty="0"/>
                  <a:t> </a:t>
                </a:r>
                <a:r>
                  <a:rPr lang="es-ES" sz="1100" dirty="0" err="1"/>
                  <a:t>for</a:t>
                </a:r>
                <a:r>
                  <a:rPr lang="es-ES" sz="1100" dirty="0"/>
                  <a:t> </a:t>
                </a:r>
                <a:r>
                  <a:rPr lang="es-ES" sz="1100" dirty="0" err="1"/>
                  <a:t>water</a:t>
                </a:r>
                <a:r>
                  <a:rPr lang="es-ES" sz="1100" dirty="0"/>
                  <a:t> and </a:t>
                </a:r>
                <a14:m>
                  <m:oMath xmlns:m="http://schemas.openxmlformats.org/officeDocument/2006/math">
                    <m:r>
                      <a:rPr lang="es-ES" sz="1100"/>
                      <m:t>→0.38</m:t>
                    </m:r>
                  </m:oMath>
                </a14:m>
                <a:r>
                  <a:rPr lang="es-ES" sz="1100" dirty="0" err="1"/>
                  <a:t>for</a:t>
                </a:r>
                <a:r>
                  <a:rPr lang="es-ES" sz="1100" dirty="0"/>
                  <a:t> air). In </a:t>
                </a:r>
                <a:r>
                  <a:rPr lang="es-ES" sz="1100" dirty="0" err="1"/>
                  <a:t>longer</a:t>
                </a:r>
                <a:r>
                  <a:rPr lang="es-ES" sz="1100" dirty="0"/>
                  <a:t> </a:t>
                </a:r>
                <a:r>
                  <a:rPr lang="es-ES" sz="1100" dirty="0" err="1"/>
                  <a:t>sensing</a:t>
                </a:r>
                <a:r>
                  <a:rPr lang="es-ES" sz="1100" dirty="0"/>
                  <a:t> </a:t>
                </a:r>
                <a:r>
                  <a:rPr lang="es-ES" sz="1100" dirty="0" err="1"/>
                  <a:t>channels</a:t>
                </a:r>
                <a:r>
                  <a:rPr lang="es-ES" sz="1100" dirty="0"/>
                  <a:t> (</a:t>
                </a:r>
                <a14:m>
                  <m:oMath xmlns:m="http://schemas.openxmlformats.org/officeDocument/2006/math">
                    <m:r>
                      <a:rPr lang="es-ES" sz="1100" i="1"/>
                      <m:t>𝐿</m:t>
                    </m:r>
                    <m:r>
                      <a:rPr lang="es-ES" sz="1100"/>
                      <m:t>≥150 </m:t>
                    </m:r>
                    <m:r>
                      <a:rPr lang="es-ES" sz="1100" i="1"/>
                      <m:t>𝜇</m:t>
                    </m:r>
                    <m:r>
                      <m:rPr>
                        <m:sty m:val="p"/>
                      </m:rPr>
                      <a:rPr lang="es-ES" sz="1100"/>
                      <m:t>m</m:t>
                    </m:r>
                  </m:oMath>
                </a14:m>
                <a:r>
                  <a:rPr lang="es-ES" sz="1100" dirty="0"/>
                  <a:t>), </a:t>
                </a:r>
                <a:r>
                  <a:rPr lang="es-ES" sz="1100" dirty="0" err="1"/>
                  <a:t>this</a:t>
                </a:r>
                <a:r>
                  <a:rPr lang="es-ES" sz="1100" dirty="0"/>
                  <a:t> </a:t>
                </a:r>
                <a:r>
                  <a:rPr lang="es-ES" sz="1100" dirty="0" err="1"/>
                  <a:t>phase</a:t>
                </a:r>
                <a:r>
                  <a:rPr lang="es-ES" sz="1100" dirty="0"/>
                  <a:t> </a:t>
                </a:r>
                <a:r>
                  <a:rPr lang="es-ES" sz="1100" dirty="0" err="1"/>
                  <a:t>perturbation</a:t>
                </a:r>
                <a:r>
                  <a:rPr lang="es-ES" sz="1100" dirty="0"/>
                  <a:t> </a:t>
                </a:r>
                <a:r>
                  <a:rPr lang="es-ES" sz="1100" dirty="0" err="1"/>
                  <a:t>manifests</a:t>
                </a:r>
                <a:r>
                  <a:rPr lang="es-ES" sz="1100" dirty="0"/>
                  <a:t> as a </a:t>
                </a:r>
                <a:r>
                  <a:rPr lang="es-ES" sz="1100" dirty="0" err="1"/>
                  <a:t>rigid</a:t>
                </a:r>
                <a:r>
                  <a:rPr lang="es-ES" sz="1100" dirty="0"/>
                  <a:t> </a:t>
                </a:r>
                <a:r>
                  <a:rPr lang="es-ES" sz="1100" dirty="0" err="1"/>
                  <a:t>spectral</a:t>
                </a:r>
                <a:r>
                  <a:rPr lang="es-ES" sz="1100" dirty="0"/>
                  <a:t> blue-shift </a:t>
                </a:r>
                <a:r>
                  <a:rPr lang="es-ES" sz="1100" dirty="0" err="1"/>
                  <a:t>of</a:t>
                </a:r>
                <a:r>
                  <a:rPr lang="es-ES" sz="1100" dirty="0"/>
                  <a:t> </a:t>
                </a:r>
                <a:r>
                  <a:rPr lang="es-ES" sz="1100" dirty="0" err="1"/>
                  <a:t>the</a:t>
                </a:r>
                <a:r>
                  <a:rPr lang="es-ES" sz="1100" dirty="0"/>
                  <a:t> </a:t>
                </a:r>
                <a:r>
                  <a:rPr lang="es-ES" sz="1100" dirty="0" err="1"/>
                  <a:t>periodic</a:t>
                </a:r>
                <a:r>
                  <a:rPr lang="es-ES" sz="1100" dirty="0"/>
                  <a:t> </a:t>
                </a:r>
                <a:r>
                  <a:rPr lang="es-ES" sz="1100" dirty="0" err="1"/>
                  <a:t>transmission</a:t>
                </a:r>
                <a:r>
                  <a:rPr lang="es-ES" sz="1100" dirty="0"/>
                  <a:t> </a:t>
                </a:r>
                <a:r>
                  <a:rPr lang="es-ES" sz="1100" dirty="0" err="1"/>
                  <a:t>fringes</a:t>
                </a:r>
                <a:endParaRPr lang="es-ES" sz="1100" dirty="0"/>
              </a:p>
              <a:p>
                <a:pPr algn="just"/>
                <a:endParaRPr lang="en-US" sz="1200" dirty="0">
                  <a:latin typeface="Arial" panose="020B0604020202020204" pitchFamily="34" charset="0"/>
                  <a:cs typeface="Arial" panose="020B0604020202020204" pitchFamily="34" charset="0"/>
                </a:endParaRPr>
              </a:p>
              <a:p>
                <a:pPr algn="just"/>
                <a:r>
                  <a:rPr lang="es-ES" sz="1200" dirty="0" err="1"/>
                  <a:t>This</a:t>
                </a:r>
                <a:r>
                  <a:rPr lang="es-ES" sz="1200" dirty="0"/>
                  <a:t> </a:t>
                </a:r>
                <a:r>
                  <a:rPr lang="es-ES" sz="1200" dirty="0" err="1"/>
                  <a:t>exact</a:t>
                </a:r>
                <a:r>
                  <a:rPr lang="es-ES" sz="1200" dirty="0"/>
                  <a:t> </a:t>
                </a:r>
                <a:r>
                  <a:rPr lang="es-ES" sz="1200" dirty="0" err="1"/>
                  <a:t>asymmetric</a:t>
                </a:r>
                <a:r>
                  <a:rPr lang="es-ES" sz="1200" dirty="0"/>
                  <a:t> MZI </a:t>
                </a:r>
                <a:r>
                  <a:rPr lang="es-ES" sz="1200" dirty="0" err="1"/>
                  <a:t>topology</a:t>
                </a:r>
                <a:r>
                  <a:rPr lang="es-ES" sz="1200" dirty="0"/>
                  <a:t> </a:t>
                </a:r>
                <a:r>
                  <a:rPr lang="es-ES" sz="1200" dirty="0" err="1"/>
                  <a:t>is</a:t>
                </a:r>
                <a:r>
                  <a:rPr lang="es-ES" sz="1200" dirty="0"/>
                  <a:t> </a:t>
                </a:r>
                <a:r>
                  <a:rPr lang="es-ES" sz="1200" dirty="0" err="1"/>
                  <a:t>widely</a:t>
                </a:r>
                <a:r>
                  <a:rPr lang="es-ES" sz="1200" dirty="0"/>
                  <a:t> </a:t>
                </a:r>
                <a:r>
                  <a:rPr lang="es-ES" sz="1200" dirty="0" err="1"/>
                  <a:t>implemented</a:t>
                </a:r>
                <a:r>
                  <a:rPr lang="es-ES" sz="1200" dirty="0"/>
                  <a:t> in </a:t>
                </a:r>
                <a:r>
                  <a:rPr lang="es-ES" sz="1200" dirty="0" err="1"/>
                  <a:t>integrated</a:t>
                </a:r>
                <a:r>
                  <a:rPr lang="es-ES" sz="1200" dirty="0"/>
                  <a:t> </a:t>
                </a:r>
                <a:r>
                  <a:rPr lang="es-ES" sz="1200" dirty="0" err="1"/>
                  <a:t>biophotonics</a:t>
                </a:r>
                <a:r>
                  <a:rPr lang="es-ES" sz="1200" dirty="0"/>
                  <a:t> </a:t>
                </a:r>
                <a:r>
                  <a:rPr lang="es-ES" sz="1200" dirty="0" err="1"/>
                  <a:t>for</a:t>
                </a:r>
                <a:r>
                  <a:rPr lang="es-ES" sz="1200" dirty="0"/>
                  <a:t> </a:t>
                </a:r>
                <a:r>
                  <a:rPr lang="es-ES" sz="1200" dirty="0" err="1"/>
                  <a:t>label</a:t>
                </a:r>
                <a:r>
                  <a:rPr lang="es-ES" sz="1200" dirty="0"/>
                  <a:t>-free real-time </a:t>
                </a:r>
                <a:r>
                  <a:rPr lang="es-ES" sz="1200" dirty="0" err="1"/>
                  <a:t>detection</a:t>
                </a:r>
                <a:r>
                  <a:rPr lang="es-ES" sz="1200" dirty="0"/>
                  <a:t> </a:t>
                </a:r>
                <a:r>
                  <a:rPr lang="es-ES" sz="1200" dirty="0" err="1"/>
                  <a:t>of</a:t>
                </a:r>
                <a:r>
                  <a:rPr lang="es-ES" sz="1200" dirty="0"/>
                  <a:t> </a:t>
                </a:r>
                <a:r>
                  <a:rPr lang="es-ES" sz="1200" dirty="0" err="1"/>
                  <a:t>biomolecules</a:t>
                </a:r>
                <a:r>
                  <a:rPr lang="es-ES" sz="1200" dirty="0"/>
                  <a:t>, </a:t>
                </a:r>
                <a:r>
                  <a:rPr lang="es-ES" sz="1200" dirty="0" err="1"/>
                  <a:t>pathogens</a:t>
                </a:r>
                <a:r>
                  <a:rPr lang="es-ES" sz="1200" dirty="0"/>
                  <a:t>, and </a:t>
                </a:r>
                <a:r>
                  <a:rPr lang="es-ES" sz="1200" dirty="0" err="1"/>
                  <a:t>chemical</a:t>
                </a:r>
                <a:r>
                  <a:rPr lang="es-ES" sz="1200" dirty="0"/>
                  <a:t> </a:t>
                </a:r>
                <a:r>
                  <a:rPr lang="es-ES" sz="1200" dirty="0" err="1"/>
                  <a:t>concentrations</a:t>
                </a:r>
                <a:r>
                  <a:rPr lang="en-US" sz="1200" dirty="0">
                    <a:latin typeface="Arial" panose="020B0604020202020204" pitchFamily="34" charset="0"/>
                    <a:cs typeface="Arial" panose="020B0604020202020204" pitchFamily="34" charset="0"/>
                  </a:rPr>
                  <a:t>.</a:t>
                </a:r>
              </a:p>
              <a:p>
                <a:pPr algn="just"/>
                <a:r>
                  <a:rPr lang="es-ES" sz="1100" dirty="0" err="1"/>
                  <a:t>When</a:t>
                </a:r>
                <a:r>
                  <a:rPr lang="es-ES" sz="1100" dirty="0"/>
                  <a:t> a target </a:t>
                </a:r>
                <a:r>
                  <a:rPr lang="es-ES" sz="1100" dirty="0" err="1"/>
                  <a:t>analyte</a:t>
                </a:r>
                <a:r>
                  <a:rPr lang="es-ES" sz="1100" dirty="0"/>
                  <a:t> (</a:t>
                </a:r>
                <a:r>
                  <a:rPr lang="es-ES" sz="1100" dirty="0" err="1"/>
                  <a:t>such</a:t>
                </a:r>
                <a:r>
                  <a:rPr lang="es-ES" sz="1100" dirty="0"/>
                  <a:t> as viral </a:t>
                </a:r>
                <a:r>
                  <a:rPr lang="es-ES" sz="1100" dirty="0" err="1"/>
                  <a:t>antigens</a:t>
                </a:r>
                <a:r>
                  <a:rPr lang="es-ES" sz="1100" dirty="0"/>
                  <a:t> </a:t>
                </a:r>
                <a:r>
                  <a:rPr lang="es-ES" sz="1100" dirty="0" err="1"/>
                  <a:t>or</a:t>
                </a:r>
                <a:r>
                  <a:rPr lang="es-ES" sz="1100" dirty="0"/>
                  <a:t> </a:t>
                </a:r>
                <a:r>
                  <a:rPr lang="es-ES" sz="1100" dirty="0" err="1"/>
                  <a:t>specific</a:t>
                </a:r>
                <a:r>
                  <a:rPr lang="es-ES" sz="1100" dirty="0"/>
                  <a:t> </a:t>
                </a:r>
                <a:r>
                  <a:rPr lang="es-ES" sz="1100" dirty="0" err="1"/>
                  <a:t>proteins</a:t>
                </a:r>
                <a:r>
                  <a:rPr lang="es-ES" sz="1100" dirty="0"/>
                  <a:t>) </a:t>
                </a:r>
                <a:r>
                  <a:rPr lang="es-ES" sz="1100" dirty="0" err="1"/>
                  <a:t>binds</a:t>
                </a:r>
                <a:r>
                  <a:rPr lang="es-ES" sz="1100" dirty="0"/>
                  <a:t> </a:t>
                </a:r>
                <a:r>
                  <a:rPr lang="es-ES" sz="1100" dirty="0" err="1"/>
                  <a:t>to</a:t>
                </a:r>
                <a:r>
                  <a:rPr lang="es-ES" sz="1100" dirty="0"/>
                  <a:t> </a:t>
                </a:r>
                <a:r>
                  <a:rPr lang="es-ES" sz="1100" dirty="0" err="1"/>
                  <a:t>the</a:t>
                </a:r>
                <a:r>
                  <a:rPr lang="es-ES" sz="1100" dirty="0"/>
                  <a:t> </a:t>
                </a:r>
                <a:r>
                  <a:rPr lang="es-ES" sz="1100" dirty="0" err="1"/>
                  <a:t>surface</a:t>
                </a:r>
                <a:r>
                  <a:rPr lang="es-ES" sz="1100" dirty="0"/>
                  <a:t> </a:t>
                </a:r>
                <a:r>
                  <a:rPr lang="es-ES" sz="1100" dirty="0" err="1"/>
                  <a:t>receptors</a:t>
                </a:r>
                <a:r>
                  <a:rPr lang="es-ES" sz="1100" dirty="0"/>
                  <a:t>, </a:t>
                </a:r>
                <a:r>
                  <a:rPr lang="es-ES" sz="1100" dirty="0" err="1"/>
                  <a:t>it</a:t>
                </a:r>
                <a:r>
                  <a:rPr lang="es-ES" sz="1100" dirty="0"/>
                  <a:t> </a:t>
                </a:r>
                <a:r>
                  <a:rPr lang="es-ES" sz="1100" dirty="0" err="1"/>
                  <a:t>alters</a:t>
                </a:r>
                <a:r>
                  <a:rPr lang="es-ES" sz="1100" dirty="0"/>
                  <a:t> </a:t>
                </a:r>
                <a:r>
                  <a:rPr lang="es-ES" sz="1100" dirty="0" err="1"/>
                  <a:t>the</a:t>
                </a:r>
                <a:r>
                  <a:rPr lang="es-ES" sz="1100" dirty="0"/>
                  <a:t> local refractive </a:t>
                </a:r>
                <a:r>
                  <a:rPr lang="es-ES" sz="1100" dirty="0" err="1"/>
                  <a:t>index</a:t>
                </a:r>
                <a:r>
                  <a:rPr lang="es-ES" sz="1100" dirty="0"/>
                  <a:t> </a:t>
                </a:r>
                <a:r>
                  <a:rPr lang="es-ES" sz="1100" dirty="0" err="1"/>
                  <a:t>within</a:t>
                </a:r>
                <a:r>
                  <a:rPr lang="es-ES" sz="1100" dirty="0"/>
                  <a:t> </a:t>
                </a:r>
                <a:r>
                  <a:rPr lang="es-ES" sz="1100" dirty="0" err="1"/>
                  <a:t>the</a:t>
                </a:r>
                <a:r>
                  <a:rPr lang="es-ES" sz="1100" dirty="0"/>
                  <a:t> </a:t>
                </a:r>
                <a:r>
                  <a:rPr lang="es-ES" sz="1100" dirty="0" err="1"/>
                  <a:t>evanescent</a:t>
                </a:r>
                <a:r>
                  <a:rPr lang="es-ES" sz="1100" dirty="0"/>
                  <a:t> </a:t>
                </a:r>
                <a:r>
                  <a:rPr lang="es-ES" sz="1100" dirty="0" err="1"/>
                  <a:t>field</a:t>
                </a:r>
                <a:r>
                  <a:rPr lang="es-ES" sz="1100" dirty="0"/>
                  <a:t> </a:t>
                </a:r>
                <a:r>
                  <a:rPr lang="es-ES" sz="1100" dirty="0" err="1"/>
                  <a:t>decay</a:t>
                </a:r>
                <a:r>
                  <a:rPr lang="es-ES" sz="1100" dirty="0"/>
                  <a:t> </a:t>
                </a:r>
                <a:r>
                  <a:rPr lang="es-ES" sz="1100" dirty="0" err="1"/>
                  <a:t>depth</a:t>
                </a:r>
                <a:r>
                  <a:rPr lang="es-ES" sz="1100" dirty="0"/>
                  <a:t> (</a:t>
                </a:r>
                <a14:m>
                  <m:oMath xmlns:m="http://schemas.openxmlformats.org/officeDocument/2006/math">
                    <m:r>
                      <a:rPr lang="es-ES" sz="1100" b="0"/>
                      <m:t>∼</m:t>
                    </m:r>
                    <m:r>
                      <a:rPr lang="es-ES" sz="1100" b="0" i="1"/>
                      <m:t>100</m:t>
                    </m:r>
                    <m:r>
                      <a:rPr lang="es-ES" sz="1100" b="0"/>
                      <m:t>−</m:t>
                    </m:r>
                    <m:r>
                      <a:rPr lang="es-ES" sz="1100" b="0" i="1"/>
                      <m:t>200</m:t>
                    </m:r>
                    <m:r>
                      <a:rPr lang="es-ES" sz="1100" b="0"/>
                      <m:t> </m:t>
                    </m:r>
                    <m:r>
                      <a:rPr lang="es-ES" sz="1100" b="0" i="1"/>
                      <m:t>𝑛𝑚</m:t>
                    </m:r>
                  </m:oMath>
                </a14:m>
                <a:r>
                  <a:rPr lang="es-ES" sz="1100" dirty="0"/>
                  <a:t> </a:t>
                </a:r>
                <a:r>
                  <a:rPr lang="es-ES" sz="1100" dirty="0" err="1"/>
                  <a:t>from</a:t>
                </a:r>
                <a:r>
                  <a:rPr lang="es-ES" sz="1100" dirty="0"/>
                  <a:t> </a:t>
                </a:r>
                <a:r>
                  <a:rPr lang="es-ES" sz="1100" dirty="0" err="1"/>
                  <a:t>the</a:t>
                </a:r>
                <a:r>
                  <a:rPr lang="es-ES" sz="1100" dirty="0"/>
                  <a:t> </a:t>
                </a:r>
                <a:r>
                  <a:rPr lang="es-ES" sz="1100" dirty="0" err="1"/>
                  <a:t>waveguide</a:t>
                </a:r>
                <a:r>
                  <a:rPr lang="es-ES" sz="1100" dirty="0"/>
                  <a:t> </a:t>
                </a:r>
                <a:r>
                  <a:rPr lang="es-ES" sz="1100" dirty="0" err="1"/>
                  <a:t>surface</a:t>
                </a:r>
                <a:r>
                  <a:rPr lang="es-ES" sz="1100" dirty="0"/>
                  <a:t>). </a:t>
                </a:r>
                <a:r>
                  <a:rPr lang="es-ES" sz="1100" dirty="0" err="1"/>
                  <a:t>This</a:t>
                </a:r>
                <a:r>
                  <a:rPr lang="es-ES" sz="1100" dirty="0"/>
                  <a:t> </a:t>
                </a:r>
                <a:r>
                  <a:rPr lang="es-ES" sz="1100" dirty="0" err="1"/>
                  <a:t>index</a:t>
                </a:r>
                <a:r>
                  <a:rPr lang="es-ES" sz="1100" dirty="0"/>
                  <a:t> </a:t>
                </a:r>
                <a:r>
                  <a:rPr lang="es-ES" sz="1100" dirty="0" err="1"/>
                  <a:t>change</a:t>
                </a:r>
                <a:r>
                  <a:rPr lang="es-ES" sz="1100" dirty="0"/>
                  <a:t> (</a:t>
                </a:r>
                <a14:m>
                  <m:oMath xmlns:m="http://schemas.openxmlformats.org/officeDocument/2006/math">
                    <m:r>
                      <a:rPr lang="es-ES" sz="1100" b="0" i="1"/>
                      <m:t>𝛥</m:t>
                    </m:r>
                    <m:r>
                      <a:rPr lang="es-ES" sz="1100" b="0" i="1"/>
                      <m:t>𝑛</m:t>
                    </m:r>
                  </m:oMath>
                </a14:m>
                <a:r>
                  <a:rPr lang="es-ES" sz="1100" dirty="0"/>
                  <a:t>) </a:t>
                </a:r>
                <a:r>
                  <a:rPr lang="es-ES" sz="1100" dirty="0" err="1"/>
                  <a:t>modifies</a:t>
                </a:r>
                <a:r>
                  <a:rPr lang="es-ES" sz="1100" dirty="0"/>
                  <a:t> </a:t>
                </a:r>
                <a14:m>
                  <m:oMath xmlns:m="http://schemas.openxmlformats.org/officeDocument/2006/math">
                    <m:sSub>
                      <m:sSubPr>
                        <m:ctrlPr>
                          <a:rPr lang="es-ES" sz="1100" b="0" i="1"/>
                        </m:ctrlPr>
                      </m:sSubPr>
                      <m:e>
                        <m:r>
                          <a:rPr lang="es-ES" sz="1100" b="0" i="1"/>
                          <m:t>𝑛</m:t>
                        </m:r>
                      </m:e>
                      <m:sub>
                        <m:r>
                          <m:rPr>
                            <m:nor/>
                          </m:rPr>
                          <a:rPr lang="es-ES" sz="1100"/>
                          <m:t>eff</m:t>
                        </m:r>
                      </m:sub>
                    </m:sSub>
                  </m:oMath>
                </a14:m>
                <a:r>
                  <a:rPr lang="es-ES" sz="1100" dirty="0"/>
                  <a:t>, </a:t>
                </a:r>
                <a:r>
                  <a:rPr lang="es-ES" sz="1100" dirty="0" err="1"/>
                  <a:t>which</a:t>
                </a:r>
                <a:r>
                  <a:rPr lang="es-ES" sz="1100" dirty="0"/>
                  <a:t> </a:t>
                </a:r>
                <a:r>
                  <a:rPr lang="es-ES" sz="1100" dirty="0" err="1"/>
                  <a:t>the</a:t>
                </a:r>
                <a:r>
                  <a:rPr lang="es-ES" sz="1100" dirty="0"/>
                  <a:t> </a:t>
                </a:r>
                <a:r>
                  <a:rPr lang="es-ES" sz="1100" dirty="0" err="1"/>
                  <a:t>interferometer</a:t>
                </a:r>
                <a:r>
                  <a:rPr lang="es-ES" sz="1100" dirty="0"/>
                  <a:t> </a:t>
                </a:r>
                <a:r>
                  <a:rPr lang="es-ES" sz="1100" dirty="0" err="1"/>
                  <a:t>converts</a:t>
                </a:r>
                <a:r>
                  <a:rPr lang="es-ES" sz="1100" dirty="0"/>
                  <a:t> </a:t>
                </a:r>
                <a:r>
                  <a:rPr lang="es-ES" sz="1100" dirty="0" err="1"/>
                  <a:t>into</a:t>
                </a:r>
                <a:r>
                  <a:rPr lang="es-ES" sz="1100" dirty="0"/>
                  <a:t> a </a:t>
                </a:r>
                <a:r>
                  <a:rPr lang="es-ES" sz="1100" dirty="0" err="1"/>
                  <a:t>measurable</a:t>
                </a:r>
                <a:r>
                  <a:rPr lang="es-ES" sz="1100" dirty="0"/>
                  <a:t> </a:t>
                </a:r>
                <a:r>
                  <a:rPr lang="es-ES" sz="1100" dirty="0" err="1"/>
                  <a:t>optical</a:t>
                </a:r>
                <a:r>
                  <a:rPr lang="es-ES" sz="1100" dirty="0"/>
                  <a:t> </a:t>
                </a:r>
                <a:r>
                  <a:rPr lang="es-ES" sz="1100" dirty="0" err="1"/>
                  <a:t>intensity</a:t>
                </a:r>
                <a:r>
                  <a:rPr lang="es-ES" sz="1100" dirty="0"/>
                  <a:t> </a:t>
                </a:r>
                <a:r>
                  <a:rPr lang="es-ES" sz="1100" dirty="0" err="1"/>
                  <a:t>variation</a:t>
                </a:r>
                <a:r>
                  <a:rPr lang="es-ES" sz="1100" dirty="0"/>
                  <a:t> </a:t>
                </a:r>
                <a:r>
                  <a:rPr lang="es-ES" sz="1100" dirty="0" err="1"/>
                  <a:t>or</a:t>
                </a:r>
                <a:r>
                  <a:rPr lang="es-ES" sz="1100" dirty="0"/>
                  <a:t> a </a:t>
                </a:r>
                <a:r>
                  <a:rPr lang="es-ES" sz="1100" dirty="0" err="1"/>
                  <a:t>spectral</a:t>
                </a:r>
                <a:r>
                  <a:rPr lang="es-ES" sz="1100" dirty="0"/>
                  <a:t> </a:t>
                </a:r>
                <a:r>
                  <a:rPr lang="es-ES" sz="1100" dirty="0" err="1"/>
                  <a:t>wavelength</a:t>
                </a:r>
                <a:r>
                  <a:rPr lang="es-ES" sz="1100" dirty="0"/>
                  <a:t> shift (</a:t>
                </a:r>
                <a14:m>
                  <m:oMath xmlns:m="http://schemas.openxmlformats.org/officeDocument/2006/math">
                    <m:r>
                      <a:rPr lang="es-ES" sz="1100" b="0" i="1"/>
                      <m:t>𝛥𝜆</m:t>
                    </m:r>
                  </m:oMath>
                </a14:m>
                <a:r>
                  <a:rPr lang="es-ES" sz="1100" dirty="0"/>
                  <a:t>).</a:t>
                </a:r>
                <a:endParaRPr lang="en-US" sz="11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D32C39A5-DA38-E891-DE8C-05023C39E9D4}"/>
                  </a:ext>
                </a:extLst>
              </p:cNvPr>
              <p:cNvSpPr txBox="1">
                <a:spLocks noRot="1" noChangeAspect="1" noMove="1" noResize="1" noEditPoints="1" noAdjustHandles="1" noChangeArrowheads="1" noChangeShapeType="1" noTextEdit="1"/>
              </p:cNvSpPr>
              <p:nvPr/>
            </p:nvSpPr>
            <p:spPr>
              <a:xfrm>
                <a:off x="608012" y="2391854"/>
                <a:ext cx="6554788" cy="3932808"/>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6" name="Marcador de pie de página 2">
            <a:extLst>
              <a:ext uri="{FF2B5EF4-FFF2-40B4-BE49-F238E27FC236}">
                <a16:creationId xmlns:a16="http://schemas.microsoft.com/office/drawing/2014/main" id="{5814B3E9-33CB-D66B-F850-2D5165C55EE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5" name="Imagen 4">
            <a:extLst>
              <a:ext uri="{FF2B5EF4-FFF2-40B4-BE49-F238E27FC236}">
                <a16:creationId xmlns:a16="http://schemas.microsoft.com/office/drawing/2014/main" id="{9B859CA9-3691-A95E-CB86-7C0B9F7B152F}"/>
              </a:ext>
            </a:extLst>
          </p:cNvPr>
          <p:cNvPicPr>
            <a:picLocks noChangeAspect="1"/>
          </p:cNvPicPr>
          <p:nvPr/>
        </p:nvPicPr>
        <p:blipFill>
          <a:blip r:embed="rId5"/>
          <a:stretch>
            <a:fillRect/>
          </a:stretch>
        </p:blipFill>
        <p:spPr>
          <a:xfrm>
            <a:off x="7401702" y="2762129"/>
            <a:ext cx="4637898" cy="2876671"/>
          </a:xfrm>
          <a:prstGeom prst="rect">
            <a:avLst/>
          </a:prstGeom>
        </p:spPr>
      </p:pic>
    </p:spTree>
    <p:extLst>
      <p:ext uri="{BB962C8B-B14F-4D97-AF65-F5344CB8AC3E}">
        <p14:creationId xmlns:p14="http://schemas.microsoft.com/office/powerpoint/2010/main" val="2907443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C1CF6-CA89-34ED-60E7-B35166A0263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5E0E9F1-9405-B175-4853-5BDFE1A7B4E8}"/>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26288B4F-697C-B1CC-1062-F263381E60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F3E736B-9A41-4A32-45C2-962AD57BE5D1}"/>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4" name="Marcador de texto 2">
            <a:extLst>
              <a:ext uri="{FF2B5EF4-FFF2-40B4-BE49-F238E27FC236}">
                <a16:creationId xmlns:a16="http://schemas.microsoft.com/office/drawing/2014/main" id="{48C3B1AA-190D-183F-31CA-8AA823EB678E}"/>
              </a:ext>
            </a:extLst>
          </p:cNvPr>
          <p:cNvSpPr txBox="1">
            <a:spLocks/>
          </p:cNvSpPr>
          <p:nvPr/>
        </p:nvSpPr>
        <p:spPr>
          <a:xfrm>
            <a:off x="609601" y="949931"/>
            <a:ext cx="6477000"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AA3AF59-0133-9060-9101-0EF5E7442221}"/>
                  </a:ext>
                </a:extLst>
              </p:cNvPr>
              <p:cNvSpPr txBox="1"/>
              <p:nvPr/>
            </p:nvSpPr>
            <p:spPr>
              <a:xfrm>
                <a:off x="609600" y="2304871"/>
                <a:ext cx="6629400" cy="366837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r>
                  <a:rPr lang="es-ES" sz="1200" dirty="0" err="1"/>
                  <a:t>Cascading</a:t>
                </a:r>
                <a:r>
                  <a:rPr lang="es-ES" sz="1200" dirty="0"/>
                  <a:t> </a:t>
                </a:r>
                <a:r>
                  <a:rPr lang="es-ES" sz="1200" dirty="0" err="1"/>
                  <a:t>two</a:t>
                </a:r>
                <a:r>
                  <a:rPr lang="es-ES" sz="1200" dirty="0"/>
                  <a:t> </a:t>
                </a:r>
                <a:r>
                  <a:rPr lang="es-ES" sz="1200" dirty="0" err="1"/>
                  <a:t>identical</a:t>
                </a:r>
                <a:r>
                  <a:rPr lang="es-ES" sz="1200" dirty="0"/>
                  <a:t>, </a:t>
                </a:r>
                <a:r>
                  <a:rPr lang="es-ES" sz="1200" dirty="0" err="1"/>
                  <a:t>uncoupled</a:t>
                </a:r>
                <a:r>
                  <a:rPr lang="es-ES" sz="1200" dirty="0"/>
                  <a:t> Mach-Zehnder </a:t>
                </a:r>
                <a:r>
                  <a:rPr lang="es-ES" sz="1200" dirty="0" err="1"/>
                  <a:t>Interferometers</a:t>
                </a:r>
                <a:r>
                  <a:rPr lang="es-ES" sz="1200" dirty="0"/>
                  <a:t> (MZIs) in series </a:t>
                </a:r>
                <a:r>
                  <a:rPr lang="es-ES" sz="1200" dirty="0" err="1"/>
                  <a:t>yields</a:t>
                </a:r>
                <a:r>
                  <a:rPr lang="es-ES" sz="1200" dirty="0"/>
                  <a:t> </a:t>
                </a:r>
                <a:r>
                  <a:rPr lang="es-ES" sz="1200" dirty="0" err="1"/>
                  <a:t>an</a:t>
                </a:r>
                <a:r>
                  <a:rPr lang="es-ES" sz="1200" dirty="0"/>
                  <a:t> </a:t>
                </a:r>
                <a:r>
                  <a:rPr lang="es-ES" sz="1200" dirty="0" err="1"/>
                  <a:t>overall</a:t>
                </a:r>
                <a:r>
                  <a:rPr lang="es-ES" sz="1200" dirty="0"/>
                  <a:t> </a:t>
                </a:r>
                <a:r>
                  <a:rPr lang="es-ES" sz="1200" dirty="0" err="1"/>
                  <a:t>complex</a:t>
                </a:r>
                <a:r>
                  <a:rPr lang="es-ES" sz="1200" dirty="0"/>
                  <a:t> </a:t>
                </a:r>
                <a:r>
                  <a:rPr lang="es-ES" sz="1200" dirty="0" err="1"/>
                  <a:t>field</a:t>
                </a:r>
                <a:r>
                  <a:rPr lang="es-ES" sz="1200" dirty="0"/>
                  <a:t> transfer </a:t>
                </a:r>
                <a:r>
                  <a:rPr lang="es-ES" sz="1200" dirty="0" err="1"/>
                  <a:t>function</a:t>
                </a:r>
                <a:r>
                  <a:rPr lang="es-ES" sz="1200" dirty="0"/>
                  <a:t> </a:t>
                </a:r>
                <a:r>
                  <a:rPr lang="es-ES" sz="1200" dirty="0" err="1"/>
                  <a:t>given</a:t>
                </a:r>
                <a:r>
                  <a:rPr lang="es-ES" sz="1200" dirty="0"/>
                  <a:t> </a:t>
                </a:r>
                <a:r>
                  <a:rPr lang="es-ES" sz="1200" dirty="0" err="1"/>
                  <a:t>by</a:t>
                </a:r>
                <a:r>
                  <a:rPr lang="es-ES" sz="1200" dirty="0"/>
                  <a:t> </a:t>
                </a:r>
                <a:r>
                  <a:rPr lang="es-ES" sz="1200" dirty="0" err="1"/>
                  <a:t>the</a:t>
                </a:r>
                <a:r>
                  <a:rPr lang="es-ES" sz="1200" dirty="0"/>
                  <a:t> </a:t>
                </a:r>
                <a:r>
                  <a:rPr lang="es-ES" sz="1200" dirty="0" err="1"/>
                  <a:t>product</a:t>
                </a:r>
                <a:r>
                  <a:rPr lang="es-ES" sz="1200" dirty="0"/>
                  <a:t> </a:t>
                </a:r>
                <a:r>
                  <a:rPr lang="es-ES" sz="1200" dirty="0" err="1"/>
                  <a:t>of</a:t>
                </a:r>
                <a:r>
                  <a:rPr lang="es-ES" sz="1200" dirty="0"/>
                  <a:t> </a:t>
                </a:r>
                <a:r>
                  <a:rPr lang="es-ES" sz="1200" dirty="0" err="1"/>
                  <a:t>the</a:t>
                </a:r>
                <a:r>
                  <a:rPr lang="es-ES" sz="1200" dirty="0"/>
                  <a:t> individual </a:t>
                </a:r>
                <a:r>
                  <a:rPr lang="es-ES" sz="1200" dirty="0" err="1"/>
                  <a:t>stages</a:t>
                </a:r>
                <a:r>
                  <a:rPr lang="es-ES" sz="1200" dirty="0"/>
                  <a:t>, </a:t>
                </a:r>
                <a14:m>
                  <m:oMath xmlns:m="http://schemas.openxmlformats.org/officeDocument/2006/math">
                    <m:sSub>
                      <m:sSubPr>
                        <m:ctrlPr>
                          <a:rPr lang="es-ES" sz="1200" i="1"/>
                        </m:ctrlPr>
                      </m:sSubPr>
                      <m:e>
                        <m:r>
                          <a:rPr lang="es-ES" sz="1200" i="1"/>
                          <m:t>𝐻</m:t>
                        </m:r>
                      </m:e>
                      <m:sub>
                        <m:r>
                          <m:rPr>
                            <m:sty m:val="p"/>
                          </m:rPr>
                          <a:rPr lang="es-ES" sz="1200"/>
                          <m:t>cascaded</m:t>
                        </m:r>
                      </m:sub>
                    </m:sSub>
                    <m:d>
                      <m:dPr>
                        <m:ctrlPr>
                          <a:rPr lang="es-ES" sz="1200" i="1"/>
                        </m:ctrlPr>
                      </m:dPr>
                      <m:e>
                        <m:r>
                          <a:rPr lang="es-ES" sz="1200" i="1"/>
                          <m:t>𝜆</m:t>
                        </m:r>
                      </m:e>
                    </m:d>
                    <m:r>
                      <a:rPr lang="es-ES" sz="1200"/>
                      <m:t>=</m:t>
                    </m:r>
                    <m:sSub>
                      <m:sSubPr>
                        <m:ctrlPr>
                          <a:rPr lang="es-ES" sz="1200" i="1"/>
                        </m:ctrlPr>
                      </m:sSubPr>
                      <m:e>
                        <m:r>
                          <a:rPr lang="es-ES" sz="1200" i="1"/>
                          <m:t>𝐻</m:t>
                        </m:r>
                      </m:e>
                      <m:sub>
                        <m:r>
                          <a:rPr lang="es-ES" sz="1200"/>
                          <m:t>1</m:t>
                        </m:r>
                      </m:sub>
                    </m:sSub>
                    <m:d>
                      <m:dPr>
                        <m:ctrlPr>
                          <a:rPr lang="es-ES" sz="1200" i="1"/>
                        </m:ctrlPr>
                      </m:dPr>
                      <m:e>
                        <m:r>
                          <a:rPr lang="es-ES" sz="1200" i="1"/>
                          <m:t>𝜆</m:t>
                        </m:r>
                      </m:e>
                    </m:d>
                    <m:r>
                      <a:rPr lang="es-ES" sz="1200"/>
                      <m:t>⋅</m:t>
                    </m:r>
                    <m:sSub>
                      <m:sSubPr>
                        <m:ctrlPr>
                          <a:rPr lang="es-ES" sz="1200" i="1"/>
                        </m:ctrlPr>
                      </m:sSubPr>
                      <m:e>
                        <m:r>
                          <a:rPr lang="es-ES" sz="1200" i="1"/>
                          <m:t>𝐻</m:t>
                        </m:r>
                      </m:e>
                      <m:sub>
                        <m:r>
                          <a:rPr lang="es-ES" sz="1200"/>
                          <m:t>2</m:t>
                        </m:r>
                      </m:sub>
                    </m:sSub>
                    <m:d>
                      <m:dPr>
                        <m:ctrlPr>
                          <a:rPr lang="es-ES" sz="1200" i="1"/>
                        </m:ctrlPr>
                      </m:dPr>
                      <m:e>
                        <m:r>
                          <a:rPr lang="es-ES" sz="1200" i="1"/>
                          <m:t>𝜆</m:t>
                        </m:r>
                      </m:e>
                    </m:d>
                  </m:oMath>
                </a14:m>
                <a:r>
                  <a:rPr lang="es-ES" sz="1200" dirty="0"/>
                  <a:t>. In </a:t>
                </a:r>
                <a:r>
                  <a:rPr lang="es-ES" sz="1200" dirty="0" err="1"/>
                  <a:t>terms</a:t>
                </a:r>
                <a:r>
                  <a:rPr lang="es-ES" sz="1200" dirty="0"/>
                  <a:t> </a:t>
                </a:r>
                <a:r>
                  <a:rPr lang="es-ES" sz="1200" dirty="0" err="1"/>
                  <a:t>of</a:t>
                </a:r>
                <a:r>
                  <a:rPr lang="es-ES" sz="1200" dirty="0"/>
                  <a:t> </a:t>
                </a:r>
                <a:r>
                  <a:rPr lang="es-ES" sz="1200" dirty="0" err="1"/>
                  <a:t>power</a:t>
                </a:r>
                <a:r>
                  <a:rPr lang="es-ES" sz="1200" dirty="0"/>
                  <a:t> </a:t>
                </a:r>
                <a:r>
                  <a:rPr lang="es-ES" sz="1200" dirty="0" err="1"/>
                  <a:t>transmission</a:t>
                </a:r>
                <a:r>
                  <a:rPr lang="es-ES" sz="1200" dirty="0"/>
                  <a:t>, </a:t>
                </a:r>
                <a:r>
                  <a:rPr lang="es-ES" sz="1200" dirty="0" err="1"/>
                  <a:t>this</a:t>
                </a:r>
                <a:r>
                  <a:rPr lang="es-ES" sz="1200" dirty="0"/>
                  <a:t> </a:t>
                </a:r>
                <a:r>
                  <a:rPr lang="es-ES" sz="1200" dirty="0" err="1"/>
                  <a:t>results</a:t>
                </a:r>
                <a:r>
                  <a:rPr lang="es-ES" sz="1200" dirty="0"/>
                  <a:t> in </a:t>
                </a:r>
                <a:r>
                  <a:rPr lang="es-ES" sz="1200" dirty="0" err="1"/>
                  <a:t>the</a:t>
                </a:r>
                <a:r>
                  <a:rPr lang="es-ES" sz="1200" dirty="0"/>
                  <a:t> </a:t>
                </a:r>
                <a:r>
                  <a:rPr lang="es-ES" sz="1200" dirty="0" err="1"/>
                  <a:t>squaring</a:t>
                </a:r>
                <a:r>
                  <a:rPr lang="es-ES" sz="1200" dirty="0"/>
                  <a:t> </a:t>
                </a:r>
                <a:r>
                  <a:rPr lang="es-ES" sz="1200" dirty="0" err="1"/>
                  <a:t>of</a:t>
                </a:r>
                <a:r>
                  <a:rPr lang="es-ES" sz="1200" dirty="0"/>
                  <a:t> </a:t>
                </a:r>
                <a:r>
                  <a:rPr lang="es-ES" sz="1200" dirty="0" err="1"/>
                  <a:t>the</a:t>
                </a:r>
                <a:r>
                  <a:rPr lang="es-ES" sz="1200" dirty="0"/>
                  <a:t> individual </a:t>
                </a:r>
                <a:r>
                  <a:rPr lang="es-ES" sz="1200" dirty="0" err="1"/>
                  <a:t>spectral</a:t>
                </a:r>
                <a:r>
                  <a:rPr lang="es-ES" sz="1200" dirty="0"/>
                  <a:t> response:</a:t>
                </a:r>
              </a:p>
              <a:p>
                <a14:m>
                  <m:oMathPara xmlns:m="http://schemas.openxmlformats.org/officeDocument/2006/math">
                    <m:oMath>
                      <m:sSub>
                        <m:sSubPr>
                          <m:ctrlPr>
                            <a:rPr lang="es-ES" sz="1200" i="1"/>
                          </m:ctrlPr>
                        </m:sSubPr>
                        <m:e>
                          <m:r>
                            <a:rPr lang="es-ES" sz="1200" i="1"/>
                            <m:t>𝑇</m:t>
                          </m:r>
                        </m:e>
                        <m:sub>
                          <m:r>
                            <m:rPr>
                              <m:sty m:val="p"/>
                            </m:rPr>
                            <a:rPr lang="es-ES" sz="1200"/>
                            <m:t>cascaded</m:t>
                          </m:r>
                        </m:sub>
                      </m:sSub>
                      <m:d>
                        <m:dPr>
                          <m:ctrlPr>
                            <a:rPr lang="es-ES" sz="1200" i="1"/>
                          </m:ctrlPr>
                        </m:dPr>
                        <m:e>
                          <m:r>
                            <a:rPr lang="es-ES" sz="1200" i="1"/>
                            <m:t>𝜆</m:t>
                          </m:r>
                        </m:e>
                      </m:d>
                      <m:r>
                        <a:rPr lang="es-ES" sz="1200"/>
                        <m:t>=|</m:t>
                      </m:r>
                      <m:sSub>
                        <m:sSubPr>
                          <m:ctrlPr>
                            <a:rPr lang="es-ES" sz="1200" i="1"/>
                          </m:ctrlPr>
                        </m:sSubPr>
                        <m:e>
                          <m:r>
                            <a:rPr lang="es-ES" sz="1200" i="1"/>
                            <m:t>𝐻</m:t>
                          </m:r>
                        </m:e>
                        <m:sub>
                          <m:r>
                            <a:rPr lang="es-ES" sz="1200"/>
                            <m:t>1</m:t>
                          </m:r>
                        </m:sub>
                      </m:sSub>
                      <m:d>
                        <m:dPr>
                          <m:ctrlPr>
                            <a:rPr lang="es-ES" sz="1200" i="1"/>
                          </m:ctrlPr>
                        </m:dPr>
                        <m:e>
                          <m:r>
                            <a:rPr lang="es-ES" sz="1200" i="1"/>
                            <m:t>𝜆</m:t>
                          </m:r>
                        </m:e>
                      </m:d>
                      <m:r>
                        <a:rPr lang="es-ES" sz="1200"/>
                        <m:t>|</m:t>
                      </m:r>
                      <m:sSup>
                        <m:sSupPr>
                          <m:ctrlPr>
                            <a:rPr lang="es-ES" sz="1200"/>
                          </m:ctrlPr>
                        </m:sSupPr>
                        <m:e>
                          <m:r>
                            <a:rPr lang="es-ES" sz="1200"/>
                            <m:t>​</m:t>
                          </m:r>
                        </m:e>
                        <m:sup>
                          <m:r>
                            <a:rPr lang="es-ES" sz="1200"/>
                            <m:t>2</m:t>
                          </m:r>
                        </m:sup>
                      </m:sSup>
                      <m:r>
                        <a:rPr lang="es-ES" sz="1200"/>
                        <m:t>⋅|</m:t>
                      </m:r>
                      <m:sSub>
                        <m:sSubPr>
                          <m:ctrlPr>
                            <a:rPr lang="es-ES" sz="1200" i="1"/>
                          </m:ctrlPr>
                        </m:sSubPr>
                        <m:e>
                          <m:r>
                            <a:rPr lang="es-ES" sz="1200" i="1"/>
                            <m:t>𝐻</m:t>
                          </m:r>
                        </m:e>
                        <m:sub>
                          <m:r>
                            <a:rPr lang="es-ES" sz="1200"/>
                            <m:t>2</m:t>
                          </m:r>
                        </m:sub>
                      </m:sSub>
                      <m:d>
                        <m:dPr>
                          <m:ctrlPr>
                            <a:rPr lang="es-ES" sz="1200" i="1"/>
                          </m:ctrlPr>
                        </m:dPr>
                        <m:e>
                          <m:r>
                            <a:rPr lang="es-ES" sz="1200" i="1"/>
                            <m:t>𝜆</m:t>
                          </m:r>
                        </m:e>
                      </m:d>
                      <m:r>
                        <a:rPr lang="es-ES" sz="1200"/>
                        <m:t>|</m:t>
                      </m:r>
                      <m:sSup>
                        <m:sSupPr>
                          <m:ctrlPr>
                            <a:rPr lang="es-ES" sz="1200"/>
                          </m:ctrlPr>
                        </m:sSupPr>
                        <m:e>
                          <m:r>
                            <a:rPr lang="es-ES" sz="1200"/>
                            <m:t>​</m:t>
                          </m:r>
                        </m:e>
                        <m:sup>
                          <m:r>
                            <a:rPr lang="es-ES" sz="1200"/>
                            <m:t>2</m:t>
                          </m:r>
                        </m:sup>
                      </m:sSup>
                      <m:r>
                        <a:rPr lang="es-ES" sz="1200"/>
                        <m:t>=</m:t>
                      </m:r>
                      <m:func>
                        <m:funcPr>
                          <m:ctrlPr>
                            <a:rPr lang="es-ES" sz="1200" i="1"/>
                          </m:ctrlPr>
                        </m:funcPr>
                        <m:fName>
                          <m:sSup>
                            <m:sSupPr>
                              <m:ctrlPr>
                                <a:rPr lang="es-ES" sz="1200"/>
                              </m:ctrlPr>
                            </m:sSupPr>
                            <m:e>
                              <m:r>
                                <m:rPr>
                                  <m:sty m:val="p"/>
                                </m:rPr>
                                <a:rPr lang="es-ES" sz="1200"/>
                                <m:t>cos</m:t>
                              </m:r>
                            </m:e>
                            <m:sup>
                              <m:r>
                                <a:rPr lang="es-ES" sz="1200"/>
                                <m:t>4</m:t>
                              </m:r>
                            </m:sup>
                          </m:sSup>
                        </m:fName>
                        <m:e>
                          <m:d>
                            <m:dPr>
                              <m:ctrlPr>
                                <a:rPr lang="es-ES" sz="1200" i="1"/>
                              </m:ctrlPr>
                            </m:dPr>
                            <m:e>
                              <m:f>
                                <m:fPr>
                                  <m:ctrlPr>
                                    <a:rPr lang="es-ES" sz="1200"/>
                                  </m:ctrlPr>
                                </m:fPr>
                                <m:num>
                                  <m:r>
                                    <m:rPr>
                                      <m:sty m:val="p"/>
                                    </m:rPr>
                                    <a:rPr lang="es-ES" sz="1200"/>
                                    <m:t>Δ</m:t>
                                  </m:r>
                                  <m:r>
                                    <a:rPr lang="es-ES" sz="1200" i="1"/>
                                    <m:t>𝜙</m:t>
                                  </m:r>
                                  <m:d>
                                    <m:dPr>
                                      <m:ctrlPr>
                                        <a:rPr lang="es-ES" sz="1200" i="1"/>
                                      </m:ctrlPr>
                                    </m:dPr>
                                    <m:e>
                                      <m:r>
                                        <a:rPr lang="es-ES" sz="1200" i="1"/>
                                        <m:t>𝜆</m:t>
                                      </m:r>
                                    </m:e>
                                  </m:d>
                                </m:num>
                                <m:den>
                                  <m:r>
                                    <a:rPr lang="es-ES" sz="1200"/>
                                    <m:t>2</m:t>
                                  </m:r>
                                </m:den>
                              </m:f>
                            </m:e>
                          </m:d>
                        </m:e>
                      </m:func>
                    </m:oMath>
                  </m:oMathPara>
                </a14:m>
                <a:endParaRPr lang="es-ES" sz="1200" dirty="0"/>
              </a:p>
              <a:p>
                <a:r>
                  <a:rPr lang="es-ES" sz="1200" dirty="0"/>
                  <a:t>As </a:t>
                </a:r>
                <a:r>
                  <a:rPr lang="es-ES" sz="1200" dirty="0" err="1"/>
                  <a:t>observed</a:t>
                </a:r>
                <a:r>
                  <a:rPr lang="es-ES" sz="1200" dirty="0"/>
                  <a:t> in </a:t>
                </a:r>
                <a:r>
                  <a:rPr lang="es-ES" sz="1200" dirty="0" err="1"/>
                  <a:t>the</a:t>
                </a:r>
                <a:r>
                  <a:rPr lang="es-ES" sz="1200" dirty="0"/>
                  <a:t> linear </a:t>
                </a:r>
                <a:r>
                  <a:rPr lang="es-ES" sz="1200" dirty="0" err="1"/>
                  <a:t>spectrum</a:t>
                </a:r>
                <a:r>
                  <a:rPr lang="es-ES" sz="1200" dirty="0"/>
                  <a:t>, </a:t>
                </a:r>
                <a:r>
                  <a:rPr lang="es-ES" sz="1200" dirty="0" err="1"/>
                  <a:t>squaring</a:t>
                </a:r>
                <a:r>
                  <a:rPr lang="es-ES" sz="1200" dirty="0"/>
                  <a:t> </a:t>
                </a:r>
                <a:r>
                  <a:rPr lang="es-ES" sz="1200" dirty="0" err="1"/>
                  <a:t>the</a:t>
                </a:r>
                <a:r>
                  <a:rPr lang="es-ES" sz="1200" dirty="0"/>
                  <a:t> sinusoidal </a:t>
                </a:r>
                <a:r>
                  <a:rPr lang="es-ES" sz="1200" dirty="0" err="1"/>
                  <a:t>transmission</a:t>
                </a:r>
                <a:r>
                  <a:rPr lang="es-ES" sz="1200" dirty="0"/>
                  <a:t> </a:t>
                </a:r>
                <a:r>
                  <a:rPr lang="es-ES" sz="1200" dirty="0" err="1"/>
                  <a:t>does</a:t>
                </a:r>
                <a:r>
                  <a:rPr lang="es-ES" sz="1200" dirty="0"/>
                  <a:t> </a:t>
                </a:r>
                <a:r>
                  <a:rPr lang="es-ES" sz="1200" dirty="0" err="1"/>
                  <a:t>not</a:t>
                </a:r>
                <a:r>
                  <a:rPr lang="es-ES" sz="1200" dirty="0"/>
                  <a:t> alter </a:t>
                </a:r>
                <a:r>
                  <a:rPr lang="es-ES" sz="1200" dirty="0" err="1"/>
                  <a:t>the</a:t>
                </a:r>
                <a:r>
                  <a:rPr lang="es-ES" sz="1200" dirty="0"/>
                  <a:t> </a:t>
                </a:r>
                <a:r>
                  <a:rPr lang="es-ES" sz="1200" dirty="0" err="1"/>
                  <a:t>peak</a:t>
                </a:r>
                <a:r>
                  <a:rPr lang="es-ES" sz="1200" dirty="0"/>
                  <a:t> </a:t>
                </a:r>
                <a:r>
                  <a:rPr lang="es-ES" sz="1200" dirty="0" err="1"/>
                  <a:t>wavelength</a:t>
                </a:r>
                <a:r>
                  <a:rPr lang="es-ES" sz="1200" dirty="0"/>
                  <a:t> positions (</a:t>
                </a:r>
                <a14:m>
                  <m:oMath xmlns:m="http://schemas.openxmlformats.org/officeDocument/2006/math">
                    <m:sSub>
                      <m:sSubPr>
                        <m:ctrlPr>
                          <a:rPr lang="es-ES" sz="1200" i="1"/>
                        </m:ctrlPr>
                      </m:sSubPr>
                      <m:e>
                        <m:r>
                          <a:rPr lang="es-ES" sz="1200" i="1"/>
                          <m:t>𝜆</m:t>
                        </m:r>
                      </m:e>
                      <m:sub>
                        <m:r>
                          <a:rPr lang="es-ES" sz="1200"/>
                          <m:t>0</m:t>
                        </m:r>
                      </m:sub>
                    </m:sSub>
                    <m:r>
                      <a:rPr lang="es-ES" sz="1200"/>
                      <m:t>≈1.531 </m:t>
                    </m:r>
                    <m:r>
                      <a:rPr lang="es-ES" sz="1200" i="1"/>
                      <m:t>𝜇</m:t>
                    </m:r>
                    <m:r>
                      <m:rPr>
                        <m:sty m:val="p"/>
                      </m:rPr>
                      <a:rPr lang="es-ES" sz="1200"/>
                      <m:t>m</m:t>
                    </m:r>
                  </m:oMath>
                </a14:m>
                <a:r>
                  <a:rPr lang="es-ES" sz="1200" dirty="0"/>
                  <a:t> and </a:t>
                </a:r>
                <a14:m>
                  <m:oMath xmlns:m="http://schemas.openxmlformats.org/officeDocument/2006/math">
                    <m:r>
                      <a:rPr lang="es-ES" sz="1200"/>
                      <m:t>1.561 </m:t>
                    </m:r>
                    <m:r>
                      <a:rPr lang="es-ES" sz="1200" i="1"/>
                      <m:t>𝜇</m:t>
                    </m:r>
                    <m:r>
                      <m:rPr>
                        <m:sty m:val="p"/>
                      </m:rPr>
                      <a:rPr lang="es-ES" sz="1200"/>
                      <m:t>m</m:t>
                    </m:r>
                  </m:oMath>
                </a14:m>
                <a:r>
                  <a:rPr lang="es-ES" sz="1200" dirty="0"/>
                  <a:t>) </a:t>
                </a:r>
                <a:r>
                  <a:rPr lang="es-ES" sz="1200" dirty="0" err="1"/>
                  <a:t>nor</a:t>
                </a:r>
                <a:r>
                  <a:rPr lang="es-ES" sz="1200" dirty="0"/>
                  <a:t> </a:t>
                </a:r>
                <a:r>
                  <a:rPr lang="es-ES" sz="1200" dirty="0" err="1"/>
                  <a:t>the</a:t>
                </a:r>
                <a:r>
                  <a:rPr lang="es-ES" sz="1200" dirty="0"/>
                  <a:t> Free </a:t>
                </a:r>
                <a:r>
                  <a:rPr lang="es-ES" sz="1200" dirty="0" err="1"/>
                  <a:t>Spectral</a:t>
                </a:r>
                <a:r>
                  <a:rPr lang="es-ES" sz="1200" dirty="0"/>
                  <a:t> Range (</a:t>
                </a:r>
                <a14:m>
                  <m:oMath xmlns:m="http://schemas.openxmlformats.org/officeDocument/2006/math">
                    <m:r>
                      <m:rPr>
                        <m:sty m:val="p"/>
                      </m:rPr>
                      <a:rPr lang="es-ES" sz="1200"/>
                      <m:t>FSR</m:t>
                    </m:r>
                    <m:r>
                      <a:rPr lang="es-ES" sz="1200"/>
                      <m:t>≈30 </m:t>
                    </m:r>
                    <m:r>
                      <m:rPr>
                        <m:sty m:val="p"/>
                      </m:rPr>
                      <a:rPr lang="es-ES" sz="1200"/>
                      <m:t>nm</m:t>
                    </m:r>
                  </m:oMath>
                </a14:m>
                <a:r>
                  <a:rPr lang="es-ES" sz="1200" dirty="0"/>
                  <a:t>), </a:t>
                </a:r>
                <a:r>
                  <a:rPr lang="es-ES" sz="1200" dirty="0" err="1"/>
                  <a:t>since</a:t>
                </a:r>
                <a:r>
                  <a:rPr lang="es-ES" sz="1200" dirty="0"/>
                  <a:t> </a:t>
                </a:r>
                <a:r>
                  <a:rPr lang="es-ES" sz="1200" dirty="0" err="1"/>
                  <a:t>both</a:t>
                </a:r>
                <a:r>
                  <a:rPr lang="es-ES" sz="1200" dirty="0"/>
                  <a:t> </a:t>
                </a:r>
                <a:r>
                  <a:rPr lang="es-ES" sz="1200" dirty="0" err="1"/>
                  <a:t>stages</a:t>
                </a:r>
                <a:r>
                  <a:rPr lang="es-ES" sz="1200" dirty="0"/>
                  <a:t> </a:t>
                </a:r>
                <a:r>
                  <a:rPr lang="es-ES" sz="1200" dirty="0" err="1"/>
                  <a:t>maintain</a:t>
                </a:r>
                <a:r>
                  <a:rPr lang="es-ES" sz="1200" dirty="0"/>
                  <a:t> </a:t>
                </a:r>
                <a:r>
                  <a:rPr lang="es-ES" sz="1200" dirty="0" err="1"/>
                  <a:t>identical</a:t>
                </a:r>
                <a:r>
                  <a:rPr lang="es-ES" sz="1200" dirty="0"/>
                  <a:t> </a:t>
                </a:r>
                <a:r>
                  <a:rPr lang="es-ES" sz="1200" dirty="0" err="1"/>
                  <a:t>optical</a:t>
                </a:r>
                <a:r>
                  <a:rPr lang="es-ES" sz="1200" dirty="0"/>
                  <a:t> </a:t>
                </a:r>
                <a:r>
                  <a:rPr lang="es-ES" sz="1200" dirty="0" err="1"/>
                  <a:t>path</a:t>
                </a:r>
                <a:r>
                  <a:rPr lang="es-ES" sz="1200" dirty="0"/>
                  <a:t> </a:t>
                </a:r>
                <a:r>
                  <a:rPr lang="es-ES" sz="1200" dirty="0" err="1"/>
                  <a:t>differences</a:t>
                </a:r>
                <a:r>
                  <a:rPr lang="es-ES" sz="1200" dirty="0"/>
                  <a:t> (</a:t>
                </a:r>
                <a14:m>
                  <m:oMath xmlns:m="http://schemas.openxmlformats.org/officeDocument/2006/math">
                    <m:r>
                      <m:rPr>
                        <m:sty m:val="p"/>
                      </m:rPr>
                      <a:rPr lang="es-ES" sz="1200"/>
                      <m:t>Δ</m:t>
                    </m:r>
                    <m:sSub>
                      <m:sSubPr>
                        <m:ctrlPr>
                          <a:rPr lang="es-ES" sz="1200" i="1"/>
                        </m:ctrlPr>
                      </m:sSubPr>
                      <m:e>
                        <m:r>
                          <a:rPr lang="es-ES" sz="1200" i="1"/>
                          <m:t>𝐿</m:t>
                        </m:r>
                      </m:e>
                      <m:sub>
                        <m:r>
                          <a:rPr lang="es-ES" sz="1200"/>
                          <m:t>1</m:t>
                        </m:r>
                      </m:sub>
                    </m:sSub>
                    <m:r>
                      <a:rPr lang="es-ES" sz="1200"/>
                      <m:t>=</m:t>
                    </m:r>
                    <m:r>
                      <m:rPr>
                        <m:sty m:val="p"/>
                      </m:rPr>
                      <a:rPr lang="es-ES" sz="1200"/>
                      <m:t>Δ</m:t>
                    </m:r>
                    <m:sSub>
                      <m:sSubPr>
                        <m:ctrlPr>
                          <a:rPr lang="es-ES" sz="1200" i="1"/>
                        </m:ctrlPr>
                      </m:sSubPr>
                      <m:e>
                        <m:r>
                          <a:rPr lang="es-ES" sz="1200" i="1"/>
                          <m:t>𝐿</m:t>
                        </m:r>
                      </m:e>
                      <m:sub>
                        <m:r>
                          <a:rPr lang="es-ES" sz="1200"/>
                          <m:t>2</m:t>
                        </m:r>
                      </m:sub>
                    </m:sSub>
                  </m:oMath>
                </a14:m>
                <a:r>
                  <a:rPr lang="es-ES" sz="1200" dirty="0"/>
                  <a:t>).</a:t>
                </a:r>
              </a:p>
              <a:p>
                <a:r>
                  <a:rPr lang="es-ES" sz="1200" dirty="0" err="1"/>
                  <a:t>However</a:t>
                </a:r>
                <a:r>
                  <a:rPr lang="es-ES" sz="1200" dirty="0"/>
                  <a:t>, </a:t>
                </a:r>
                <a:r>
                  <a:rPr lang="es-ES" sz="1200" dirty="0" err="1"/>
                  <a:t>the</a:t>
                </a:r>
                <a:r>
                  <a:rPr lang="es-ES" sz="1200" dirty="0"/>
                  <a:t> </a:t>
                </a:r>
                <a:r>
                  <a:rPr lang="es-ES" sz="1200" dirty="0" err="1"/>
                  <a:t>geometric</a:t>
                </a:r>
                <a:r>
                  <a:rPr lang="es-ES" sz="1200" dirty="0"/>
                  <a:t> </a:t>
                </a:r>
                <a:r>
                  <a:rPr lang="es-ES" sz="1200" dirty="0" err="1"/>
                  <a:t>profile</a:t>
                </a:r>
                <a:r>
                  <a:rPr lang="es-ES" sz="1200" dirty="0"/>
                  <a:t> </a:t>
                </a:r>
                <a:r>
                  <a:rPr lang="es-ES" sz="1200" dirty="0" err="1"/>
                  <a:t>of</a:t>
                </a:r>
                <a:r>
                  <a:rPr lang="es-ES" sz="1200" dirty="0"/>
                  <a:t> </a:t>
                </a:r>
                <a:r>
                  <a:rPr lang="es-ES" sz="1200" dirty="0" err="1"/>
                  <a:t>the</a:t>
                </a:r>
                <a:r>
                  <a:rPr lang="es-ES" sz="1200" dirty="0"/>
                  <a:t> </a:t>
                </a:r>
                <a:r>
                  <a:rPr lang="es-ES" sz="1200" dirty="0" err="1"/>
                  <a:t>transmission</a:t>
                </a:r>
                <a:r>
                  <a:rPr lang="es-ES" sz="1200" dirty="0"/>
                  <a:t> </a:t>
                </a:r>
                <a:r>
                  <a:rPr lang="es-ES" sz="1200" dirty="0" err="1"/>
                  <a:t>peaks</a:t>
                </a:r>
                <a:r>
                  <a:rPr lang="es-ES" sz="1200" dirty="0"/>
                  <a:t> </a:t>
                </a:r>
                <a:r>
                  <a:rPr lang="es-ES" sz="1200" dirty="0" err="1"/>
                  <a:t>undergoes</a:t>
                </a:r>
                <a:r>
                  <a:rPr lang="es-ES" sz="1200" dirty="0"/>
                  <a:t> </a:t>
                </a:r>
                <a:r>
                  <a:rPr lang="es-ES" sz="1200" dirty="0" err="1"/>
                  <a:t>two</a:t>
                </a:r>
                <a:r>
                  <a:rPr lang="es-ES" sz="1200" dirty="0"/>
                  <a:t> </a:t>
                </a:r>
                <a:r>
                  <a:rPr lang="es-ES" sz="1200" dirty="0" err="1"/>
                  <a:t>distinct</a:t>
                </a:r>
                <a:r>
                  <a:rPr lang="es-ES" sz="1200" dirty="0"/>
                  <a:t> </a:t>
                </a:r>
                <a:r>
                  <a:rPr lang="es-ES" sz="1200" dirty="0" err="1"/>
                  <a:t>modifications</a:t>
                </a:r>
                <a:r>
                  <a:rPr lang="es-ES" sz="1200" dirty="0"/>
                  <a:t>. Near </a:t>
                </a:r>
                <a:r>
                  <a:rPr lang="es-ES" sz="1200" dirty="0" err="1"/>
                  <a:t>resonance</a:t>
                </a:r>
                <a:r>
                  <a:rPr lang="es-ES" sz="1200" dirty="0"/>
                  <a:t>, </a:t>
                </a:r>
                <a:r>
                  <a:rPr lang="es-ES" sz="1200" dirty="0" err="1"/>
                  <a:t>because</a:t>
                </a:r>
                <a:r>
                  <a:rPr lang="es-ES" sz="1200" dirty="0"/>
                  <a:t> </a:t>
                </a:r>
                <a:r>
                  <a:rPr lang="es-ES" sz="1200" dirty="0" err="1"/>
                  <a:t>fractional</a:t>
                </a:r>
                <a:r>
                  <a:rPr lang="es-ES" sz="1200" dirty="0"/>
                  <a:t> </a:t>
                </a:r>
                <a:r>
                  <a:rPr lang="es-ES" sz="1200" dirty="0" err="1"/>
                  <a:t>power</a:t>
                </a:r>
                <a:r>
                  <a:rPr lang="es-ES" sz="1200" dirty="0"/>
                  <a:t> </a:t>
                </a:r>
                <a:r>
                  <a:rPr lang="es-ES" sz="1200" dirty="0" err="1"/>
                  <a:t>values</a:t>
                </a:r>
                <a:r>
                  <a:rPr lang="es-ES" sz="1200" dirty="0"/>
                  <a:t> </a:t>
                </a:r>
                <a:r>
                  <a:rPr lang="es-ES" sz="1200" dirty="0" err="1"/>
                  <a:t>below</a:t>
                </a:r>
                <a:r>
                  <a:rPr lang="es-ES" sz="1200" dirty="0"/>
                  <a:t> </a:t>
                </a:r>
                <a:r>
                  <a:rPr lang="es-ES" sz="1200" dirty="0" err="1"/>
                  <a:t>unity</a:t>
                </a:r>
                <a:r>
                  <a:rPr lang="es-ES" sz="1200" dirty="0"/>
                  <a:t> </a:t>
                </a:r>
                <a:r>
                  <a:rPr lang="es-ES" sz="1200" dirty="0" err="1"/>
                  <a:t>decrease</a:t>
                </a:r>
                <a:r>
                  <a:rPr lang="es-ES" sz="1200" dirty="0"/>
                  <a:t> </a:t>
                </a:r>
                <a:r>
                  <a:rPr lang="es-ES" sz="1200" dirty="0" err="1"/>
                  <a:t>quadratically</a:t>
                </a:r>
                <a:r>
                  <a:rPr lang="es-ES" sz="1200" dirty="0"/>
                  <a:t> (</a:t>
                </a:r>
                <a14:m>
                  <m:oMath xmlns:m="http://schemas.openxmlformats.org/officeDocument/2006/math">
                    <m:sSup>
                      <m:sSupPr>
                        <m:ctrlPr>
                          <a:rPr lang="es-ES" sz="1200" i="1"/>
                        </m:ctrlPr>
                      </m:sSupPr>
                      <m:e>
                        <m:r>
                          <a:rPr lang="es-ES" sz="1200" i="1"/>
                          <m:t>𝑇</m:t>
                        </m:r>
                      </m:e>
                      <m:sup>
                        <m:r>
                          <a:rPr lang="es-ES" sz="1200"/>
                          <m:t>2</m:t>
                        </m:r>
                      </m:sup>
                    </m:sSup>
                    <m:r>
                      <a:rPr lang="es-ES" sz="1200"/>
                      <m:t>&lt;</m:t>
                    </m:r>
                    <m:r>
                      <a:rPr lang="es-ES" sz="1200" i="1"/>
                      <m:t>𝑇</m:t>
                    </m:r>
                  </m:oMath>
                </a14:m>
                <a:r>
                  <a:rPr lang="es-ES" sz="1200" dirty="0"/>
                  <a:t> </a:t>
                </a:r>
                <a:r>
                  <a:rPr lang="es-ES" sz="1200" dirty="0" err="1"/>
                  <a:t>for</a:t>
                </a:r>
                <a:r>
                  <a:rPr lang="es-ES" sz="1200" dirty="0"/>
                  <a:t> </a:t>
                </a:r>
                <a14:m>
                  <m:oMath xmlns:m="http://schemas.openxmlformats.org/officeDocument/2006/math">
                    <m:r>
                      <a:rPr lang="es-ES" sz="1200" i="1"/>
                      <m:t>𝑇</m:t>
                    </m:r>
                    <m:r>
                      <a:rPr lang="es-ES" sz="1200"/>
                      <m:t>&lt;1</m:t>
                    </m:r>
                  </m:oMath>
                </a14:m>
                <a:r>
                  <a:rPr lang="es-ES" sz="1200" dirty="0"/>
                  <a:t>), </a:t>
                </a:r>
                <a:r>
                  <a:rPr lang="es-ES" sz="1200" dirty="0" err="1"/>
                  <a:t>the</a:t>
                </a:r>
                <a:r>
                  <a:rPr lang="es-ES" sz="1200" dirty="0"/>
                  <a:t> 3-dB </a:t>
                </a:r>
                <a:r>
                  <a:rPr lang="es-ES" sz="1200" dirty="0" err="1"/>
                  <a:t>passband</a:t>
                </a:r>
                <a:r>
                  <a:rPr lang="es-ES" sz="1200" dirty="0"/>
                  <a:t> </a:t>
                </a:r>
                <a:r>
                  <a:rPr lang="es-ES" sz="1200" dirty="0" err="1"/>
                  <a:t>bandwidth</a:t>
                </a:r>
                <a:r>
                  <a:rPr lang="es-ES" sz="1200" dirty="0"/>
                  <a:t> (Full </a:t>
                </a:r>
                <a:r>
                  <a:rPr lang="es-ES" sz="1200" dirty="0" err="1"/>
                  <a:t>Width</a:t>
                </a:r>
                <a:r>
                  <a:rPr lang="es-ES" sz="1200" dirty="0"/>
                  <a:t> at Half Maximum, FWHM) </a:t>
                </a:r>
                <a:r>
                  <a:rPr lang="es-ES" sz="1200" dirty="0" err="1"/>
                  <a:t>noticeably</a:t>
                </a:r>
                <a:r>
                  <a:rPr lang="es-ES" sz="1200" dirty="0"/>
                  <a:t> </a:t>
                </a:r>
                <a:r>
                  <a:rPr lang="es-ES" sz="1200" dirty="0" err="1"/>
                  <a:t>narrows</a:t>
                </a:r>
                <a:r>
                  <a:rPr lang="es-ES" sz="1200" dirty="0"/>
                  <a:t>, </a:t>
                </a:r>
                <a:r>
                  <a:rPr lang="es-ES" sz="1200" dirty="0" err="1"/>
                  <a:t>resulting</a:t>
                </a:r>
                <a:r>
                  <a:rPr lang="es-ES" sz="1200" dirty="0"/>
                  <a:t> in </a:t>
                </a:r>
                <a:r>
                  <a:rPr lang="es-ES" sz="1200" dirty="0" err="1"/>
                  <a:t>sharper</a:t>
                </a:r>
                <a:r>
                  <a:rPr lang="es-ES" sz="1200" dirty="0"/>
                  <a:t>, more selective </a:t>
                </a:r>
                <a:r>
                  <a:rPr lang="es-ES" sz="1200" dirty="0" err="1"/>
                  <a:t>transmission</a:t>
                </a:r>
                <a:r>
                  <a:rPr lang="es-ES" sz="1200" dirty="0"/>
                  <a:t> </a:t>
                </a:r>
                <a:r>
                  <a:rPr lang="es-ES" sz="1200" dirty="0" err="1"/>
                  <a:t>peaks</a:t>
                </a:r>
                <a:r>
                  <a:rPr lang="es-ES" sz="1200" dirty="0"/>
                  <a:t>. </a:t>
                </a:r>
                <a:r>
                  <a:rPr lang="es-ES" sz="1200" dirty="0" err="1"/>
                  <a:t>Concurrently</a:t>
                </a:r>
                <a:r>
                  <a:rPr lang="es-ES" sz="1200" dirty="0"/>
                  <a:t>, </a:t>
                </a:r>
                <a:r>
                  <a:rPr lang="es-ES" sz="1200" dirty="0" err="1"/>
                  <a:t>near</a:t>
                </a:r>
                <a:r>
                  <a:rPr lang="es-ES" sz="1200" dirty="0"/>
                  <a:t> </a:t>
                </a:r>
                <a:r>
                  <a:rPr lang="es-ES" sz="1200" dirty="0" err="1"/>
                  <a:t>the</a:t>
                </a:r>
                <a:r>
                  <a:rPr lang="es-ES" sz="1200" dirty="0"/>
                  <a:t> destructive </a:t>
                </a:r>
                <a:r>
                  <a:rPr lang="es-ES" sz="1200" dirty="0" err="1"/>
                  <a:t>interference</a:t>
                </a:r>
                <a:r>
                  <a:rPr lang="es-ES" sz="1200" dirty="0"/>
                  <a:t> </a:t>
                </a:r>
                <a:r>
                  <a:rPr lang="es-ES" sz="1200" dirty="0" err="1"/>
                  <a:t>state</a:t>
                </a:r>
                <a:r>
                  <a:rPr lang="es-ES" sz="1200" dirty="0"/>
                  <a:t> (</a:t>
                </a:r>
                <a14:m>
                  <m:oMath xmlns:m="http://schemas.openxmlformats.org/officeDocument/2006/math">
                    <m:r>
                      <a:rPr lang="es-ES" sz="1200" i="1"/>
                      <m:t>𝜆</m:t>
                    </m:r>
                    <m:r>
                      <a:rPr lang="es-ES" sz="1200"/>
                      <m:t>≈1.545 </m:t>
                    </m:r>
                    <m:r>
                      <a:rPr lang="es-ES" sz="1200" i="1"/>
                      <m:t>𝜇</m:t>
                    </m:r>
                    <m:r>
                      <m:rPr>
                        <m:sty m:val="p"/>
                      </m:rPr>
                      <a:rPr lang="es-ES" sz="1200"/>
                      <m:t>m</m:t>
                    </m:r>
                  </m:oMath>
                </a14:m>
                <a:r>
                  <a:rPr lang="es-ES" sz="1200" dirty="0"/>
                  <a:t>), </a:t>
                </a:r>
                <a:r>
                  <a:rPr lang="es-ES" sz="1200" dirty="0" err="1"/>
                  <a:t>squaring</a:t>
                </a:r>
                <a:r>
                  <a:rPr lang="es-ES" sz="1200" dirty="0"/>
                  <a:t> </a:t>
                </a:r>
                <a:r>
                  <a:rPr lang="es-ES" sz="1200" dirty="0" err="1"/>
                  <a:t>near-zero</a:t>
                </a:r>
                <a:r>
                  <a:rPr lang="es-ES" sz="1200" dirty="0"/>
                  <a:t> </a:t>
                </a:r>
                <a:r>
                  <a:rPr lang="es-ES" sz="1200" dirty="0" err="1"/>
                  <a:t>values</a:t>
                </a:r>
                <a:r>
                  <a:rPr lang="es-ES" sz="1200" dirty="0"/>
                  <a:t> </a:t>
                </a:r>
                <a:r>
                  <a:rPr lang="es-ES" sz="1200" dirty="0" err="1"/>
                  <a:t>flattens</a:t>
                </a:r>
                <a:r>
                  <a:rPr lang="es-ES" sz="1200" dirty="0"/>
                  <a:t> </a:t>
                </a:r>
                <a:r>
                  <a:rPr lang="es-ES" sz="1200" dirty="0" err="1"/>
                  <a:t>the</a:t>
                </a:r>
                <a:r>
                  <a:rPr lang="es-ES" sz="1200" dirty="0"/>
                  <a:t> bottom </a:t>
                </a:r>
                <a:r>
                  <a:rPr lang="es-ES" sz="1200" dirty="0" err="1"/>
                  <a:t>of</a:t>
                </a:r>
                <a:r>
                  <a:rPr lang="es-ES" sz="1200" dirty="0"/>
                  <a:t> </a:t>
                </a:r>
                <a:r>
                  <a:rPr lang="es-ES" sz="1200" dirty="0" err="1"/>
                  <a:t>the</a:t>
                </a:r>
                <a:r>
                  <a:rPr lang="es-ES" sz="1200" dirty="0"/>
                  <a:t> </a:t>
                </a:r>
                <a:r>
                  <a:rPr lang="es-ES" sz="1200" dirty="0" err="1"/>
                  <a:t>transmission</a:t>
                </a:r>
                <a:r>
                  <a:rPr lang="es-ES" sz="1200" dirty="0"/>
                  <a:t> </a:t>
                </a:r>
                <a:r>
                  <a:rPr lang="es-ES" sz="1200" dirty="0" err="1"/>
                  <a:t>valley</a:t>
                </a:r>
                <a:r>
                  <a:rPr lang="es-ES" sz="1200" dirty="0"/>
                  <a:t> in linear </a:t>
                </a:r>
                <a:r>
                  <a:rPr lang="es-ES" sz="1200" dirty="0" err="1"/>
                  <a:t>scale</a:t>
                </a:r>
                <a:r>
                  <a:rPr lang="es-ES" sz="1200" dirty="0"/>
                  <a:t>.</a:t>
                </a:r>
              </a:p>
              <a:p>
                <a:endParaRPr lang="es-ES" sz="1200" dirty="0"/>
              </a:p>
              <a:p>
                <a:r>
                  <a:rPr lang="es-ES" sz="1200" dirty="0"/>
                  <a:t>In </a:t>
                </a:r>
                <a:r>
                  <a:rPr lang="es-ES" sz="1200" dirty="0" err="1"/>
                  <a:t>logarithmic</a:t>
                </a:r>
                <a:r>
                  <a:rPr lang="es-ES" sz="1200" dirty="0"/>
                  <a:t> </a:t>
                </a:r>
                <a:r>
                  <a:rPr lang="es-ES" sz="1200" dirty="0" err="1"/>
                  <a:t>scale</a:t>
                </a:r>
                <a:r>
                  <a:rPr lang="es-ES" sz="1200" dirty="0"/>
                  <a:t> (dB), </a:t>
                </a:r>
                <a:r>
                  <a:rPr lang="es-ES" sz="1200" dirty="0" err="1"/>
                  <a:t>this</a:t>
                </a:r>
                <a:r>
                  <a:rPr lang="es-ES" sz="1200" dirty="0"/>
                  <a:t> </a:t>
                </a:r>
                <a:r>
                  <a:rPr lang="es-ES" sz="1200" dirty="0" err="1"/>
                  <a:t>cascading</a:t>
                </a:r>
                <a:r>
                  <a:rPr lang="es-ES" sz="1200" dirty="0"/>
                  <a:t> </a:t>
                </a:r>
                <a:r>
                  <a:rPr lang="es-ES" sz="1200" dirty="0" err="1"/>
                  <a:t>doubles</a:t>
                </a:r>
                <a:r>
                  <a:rPr lang="es-ES" sz="1200" dirty="0"/>
                  <a:t> </a:t>
                </a:r>
                <a:r>
                  <a:rPr lang="es-ES" sz="1200" dirty="0" err="1"/>
                  <a:t>the</a:t>
                </a:r>
                <a:r>
                  <a:rPr lang="es-ES" sz="1200" dirty="0"/>
                  <a:t> roll-off </a:t>
                </a:r>
                <a:r>
                  <a:rPr lang="es-ES" sz="1200" dirty="0" err="1"/>
                  <a:t>steepness</a:t>
                </a:r>
                <a:r>
                  <a:rPr lang="es-ES" sz="1200" dirty="0"/>
                  <a:t> </a:t>
                </a:r>
                <a:r>
                  <a:rPr lang="es-ES" sz="1200" dirty="0" err="1"/>
                  <a:t>from</a:t>
                </a:r>
                <a:r>
                  <a:rPr lang="es-ES" sz="1200" dirty="0"/>
                  <a:t> </a:t>
                </a:r>
                <a:r>
                  <a:rPr lang="es-ES" sz="1200" dirty="0" err="1"/>
                  <a:t>the</a:t>
                </a:r>
                <a:r>
                  <a:rPr lang="es-ES" sz="1200" dirty="0"/>
                  <a:t> </a:t>
                </a:r>
                <a:r>
                  <a:rPr lang="es-ES" sz="1200" dirty="0" err="1"/>
                  <a:t>passband</a:t>
                </a:r>
                <a:r>
                  <a:rPr lang="es-ES" sz="1200" dirty="0"/>
                  <a:t> </a:t>
                </a:r>
                <a:r>
                  <a:rPr lang="es-ES" sz="1200" dirty="0" err="1"/>
                  <a:t>to</a:t>
                </a:r>
                <a:r>
                  <a:rPr lang="es-ES" sz="1200" dirty="0"/>
                  <a:t> </a:t>
                </a:r>
                <a:r>
                  <a:rPr lang="es-ES" sz="1200" dirty="0" err="1"/>
                  <a:t>the</a:t>
                </a:r>
                <a:r>
                  <a:rPr lang="es-ES" sz="1200" dirty="0"/>
                  <a:t> </a:t>
                </a:r>
                <a:r>
                  <a:rPr lang="es-ES" sz="1200" dirty="0" err="1"/>
                  <a:t>stopband</a:t>
                </a:r>
                <a:r>
                  <a:rPr lang="es-ES" sz="1200" dirty="0"/>
                  <a:t> (</a:t>
                </a:r>
                <a14:m>
                  <m:oMath xmlns:m="http://schemas.openxmlformats.org/officeDocument/2006/math">
                    <m:sSub>
                      <m:sSubPr>
                        <m:ctrlPr>
                          <a:rPr lang="es-ES" sz="1200" i="1"/>
                        </m:ctrlPr>
                      </m:sSubPr>
                      <m:e>
                        <m:r>
                          <a:rPr lang="es-ES" sz="1200" i="1"/>
                          <m:t>𝑇</m:t>
                        </m:r>
                      </m:e>
                      <m:sub>
                        <m:r>
                          <m:rPr>
                            <m:sty m:val="p"/>
                          </m:rPr>
                          <a:rPr lang="es-ES" sz="1200"/>
                          <m:t>dB</m:t>
                        </m:r>
                        <m:r>
                          <a:rPr lang="es-ES" sz="1200"/>
                          <m:t>,</m:t>
                        </m:r>
                        <m:r>
                          <m:rPr>
                            <m:sty m:val="p"/>
                          </m:rPr>
                          <a:rPr lang="es-ES" sz="1200"/>
                          <m:t>cascaded</m:t>
                        </m:r>
                      </m:sub>
                    </m:sSub>
                    <m:r>
                      <a:rPr lang="es-ES" sz="1200"/>
                      <m:t>=2×</m:t>
                    </m:r>
                    <m:sSub>
                      <m:sSubPr>
                        <m:ctrlPr>
                          <a:rPr lang="es-ES" sz="1200" i="1"/>
                        </m:ctrlPr>
                      </m:sSubPr>
                      <m:e>
                        <m:r>
                          <a:rPr lang="es-ES" sz="1200" i="1"/>
                          <m:t>𝑇</m:t>
                        </m:r>
                      </m:e>
                      <m:sub>
                        <m:r>
                          <m:rPr>
                            <m:sty m:val="p"/>
                          </m:rPr>
                          <a:rPr lang="es-ES" sz="1200"/>
                          <m:t>dB</m:t>
                        </m:r>
                        <m:r>
                          <a:rPr lang="es-ES" sz="1200"/>
                          <m:t>,</m:t>
                        </m:r>
                        <m:r>
                          <m:rPr>
                            <m:sty m:val="p"/>
                          </m:rPr>
                          <a:rPr lang="es-ES" sz="1200"/>
                          <m:t>single</m:t>
                        </m:r>
                      </m:sub>
                    </m:sSub>
                  </m:oMath>
                </a14:m>
                <a:r>
                  <a:rPr lang="es-ES" sz="1200" dirty="0"/>
                  <a:t>). </a:t>
                </a:r>
                <a:r>
                  <a:rPr lang="es-ES" sz="1200" dirty="0" err="1"/>
                  <a:t>Consequently</a:t>
                </a:r>
                <a:r>
                  <a:rPr lang="es-ES" sz="1200" dirty="0"/>
                  <a:t>, </a:t>
                </a:r>
                <a:r>
                  <a:rPr lang="es-ES" sz="1200" dirty="0" err="1"/>
                  <a:t>out</a:t>
                </a:r>
                <a:r>
                  <a:rPr lang="es-ES" sz="1200" dirty="0"/>
                  <a:t>-</a:t>
                </a:r>
                <a:r>
                  <a:rPr lang="es-ES" sz="1200" dirty="0" err="1"/>
                  <a:t>of</a:t>
                </a:r>
                <a:r>
                  <a:rPr lang="es-ES" sz="1200" dirty="0"/>
                  <a:t>-band </a:t>
                </a:r>
                <a:r>
                  <a:rPr lang="es-ES" sz="1200" dirty="0" err="1"/>
                  <a:t>rejection</a:t>
                </a:r>
                <a:r>
                  <a:rPr lang="es-ES" sz="1200" dirty="0"/>
                  <a:t> and </a:t>
                </a:r>
                <a:r>
                  <a:rPr lang="es-ES" sz="1200" dirty="0" err="1"/>
                  <a:t>inter-channel</a:t>
                </a:r>
                <a:r>
                  <a:rPr lang="es-ES" sz="1200" dirty="0"/>
                  <a:t> </a:t>
                </a:r>
                <a:r>
                  <a:rPr lang="es-ES" sz="1200" dirty="0" err="1"/>
                  <a:t>isolation</a:t>
                </a:r>
                <a:r>
                  <a:rPr lang="es-ES" sz="1200" dirty="0"/>
                  <a:t> are </a:t>
                </a:r>
                <a:r>
                  <a:rPr lang="es-ES" sz="1200" dirty="0" err="1"/>
                  <a:t>doubled</a:t>
                </a:r>
                <a:r>
                  <a:rPr lang="es-ES" sz="1200" dirty="0"/>
                  <a:t> </a:t>
                </a:r>
                <a:r>
                  <a:rPr lang="es-ES" sz="1200" dirty="0" err="1"/>
                  <a:t>across</a:t>
                </a:r>
                <a:r>
                  <a:rPr lang="es-ES" sz="1200" dirty="0"/>
                  <a:t> </a:t>
                </a:r>
                <a:r>
                  <a:rPr lang="es-ES" sz="1200" dirty="0" err="1"/>
                  <a:t>the</a:t>
                </a:r>
                <a:r>
                  <a:rPr lang="es-ES" sz="1200" dirty="0"/>
                  <a:t> </a:t>
                </a:r>
                <a:r>
                  <a:rPr lang="es-ES" sz="1200" dirty="0" err="1"/>
                  <a:t>entire</a:t>
                </a:r>
                <a:r>
                  <a:rPr lang="es-ES" sz="1200" dirty="0"/>
                  <a:t> </a:t>
                </a:r>
                <a:r>
                  <a:rPr lang="es-ES" sz="1200" dirty="0" err="1"/>
                  <a:t>spectrum</a:t>
                </a:r>
                <a:r>
                  <a:rPr lang="es-ES" sz="1200" dirty="0"/>
                  <a:t>, </a:t>
                </a:r>
                <a:r>
                  <a:rPr lang="es-ES" sz="1200" dirty="0" err="1"/>
                  <a:t>providing</a:t>
                </a:r>
                <a:r>
                  <a:rPr lang="es-ES" sz="1200" dirty="0"/>
                  <a:t> </a:t>
                </a:r>
                <a:r>
                  <a:rPr lang="es-ES" sz="1200" dirty="0" err="1"/>
                  <a:t>significantly</a:t>
                </a:r>
                <a:r>
                  <a:rPr lang="es-ES" sz="1200" dirty="0"/>
                  <a:t> </a:t>
                </a:r>
                <a:r>
                  <a:rPr lang="es-ES" sz="1200" dirty="0" err="1"/>
                  <a:t>steeper</a:t>
                </a:r>
                <a:r>
                  <a:rPr lang="es-ES" sz="1200" dirty="0"/>
                  <a:t> </a:t>
                </a:r>
                <a:r>
                  <a:rPr lang="es-ES" sz="1200" dirty="0" err="1"/>
                  <a:t>filter</a:t>
                </a:r>
                <a:r>
                  <a:rPr lang="es-ES" sz="1200" dirty="0"/>
                  <a:t> </a:t>
                </a:r>
                <a:r>
                  <a:rPr lang="es-ES" sz="1200" dirty="0" err="1"/>
                  <a:t>skirts</a:t>
                </a:r>
                <a:r>
                  <a:rPr lang="es-ES" sz="1200" dirty="0"/>
                  <a:t> and </a:t>
                </a:r>
                <a:r>
                  <a:rPr lang="es-ES" sz="1200" dirty="0" err="1"/>
                  <a:t>suppressing</a:t>
                </a:r>
                <a:r>
                  <a:rPr lang="es-ES" sz="1200" dirty="0"/>
                  <a:t> </a:t>
                </a:r>
                <a:r>
                  <a:rPr lang="es-ES" sz="1200" dirty="0" err="1"/>
                  <a:t>adjacent</a:t>
                </a:r>
                <a:r>
                  <a:rPr lang="es-ES" sz="1200" dirty="0"/>
                  <a:t> </a:t>
                </a:r>
                <a:r>
                  <a:rPr lang="es-ES" sz="1200" dirty="0" err="1"/>
                  <a:t>channel</a:t>
                </a:r>
                <a:r>
                  <a:rPr lang="es-ES" sz="1200" dirty="0"/>
                  <a:t> </a:t>
                </a:r>
                <a:r>
                  <a:rPr lang="es-ES" sz="1200" dirty="0" err="1"/>
                  <a:t>cross-talk</a:t>
                </a:r>
                <a:r>
                  <a:rPr lang="es-ES" sz="1200" dirty="0"/>
                  <a:t> </a:t>
                </a:r>
                <a:r>
                  <a:rPr lang="es-ES" sz="1200" dirty="0" err="1"/>
                  <a:t>without</a:t>
                </a:r>
                <a:r>
                  <a:rPr lang="es-ES" sz="1200" dirty="0"/>
                  <a:t> </a:t>
                </a:r>
                <a:r>
                  <a:rPr lang="es-ES" sz="1200" dirty="0" err="1"/>
                  <a:t>increasing</a:t>
                </a:r>
                <a:r>
                  <a:rPr lang="es-ES" sz="1200" dirty="0"/>
                  <a:t> </a:t>
                </a:r>
                <a:r>
                  <a:rPr lang="es-ES" sz="1200" dirty="0" err="1"/>
                  <a:t>the</a:t>
                </a:r>
                <a:r>
                  <a:rPr lang="es-ES" sz="1200" dirty="0"/>
                  <a:t> </a:t>
                </a:r>
                <a:r>
                  <a:rPr lang="es-ES" sz="1200" dirty="0" err="1"/>
                  <a:t>physical</a:t>
                </a:r>
                <a:r>
                  <a:rPr lang="es-ES" sz="1200" dirty="0"/>
                  <a:t> </a:t>
                </a:r>
                <a:r>
                  <a:rPr lang="es-ES" sz="1200" dirty="0" err="1"/>
                  <a:t>complexity</a:t>
                </a:r>
                <a:r>
                  <a:rPr lang="es-ES" sz="1200" dirty="0"/>
                  <a:t> </a:t>
                </a:r>
                <a:r>
                  <a:rPr lang="es-ES" sz="1200" dirty="0" err="1"/>
                  <a:t>of</a:t>
                </a:r>
                <a:r>
                  <a:rPr lang="es-ES" sz="1200" dirty="0"/>
                  <a:t> </a:t>
                </a:r>
                <a:r>
                  <a:rPr lang="es-ES" sz="1200" dirty="0" err="1"/>
                  <a:t>the</a:t>
                </a:r>
                <a:r>
                  <a:rPr lang="es-ES" sz="1200" dirty="0"/>
                  <a:t> individual </a:t>
                </a:r>
                <a:r>
                  <a:rPr lang="es-ES" sz="1200" dirty="0" err="1"/>
                  <a:t>delay</a:t>
                </a:r>
                <a:r>
                  <a:rPr lang="es-ES" sz="1200" dirty="0"/>
                  <a:t> </a:t>
                </a:r>
                <a:r>
                  <a:rPr lang="es-ES" sz="1200" dirty="0" err="1"/>
                  <a:t>arms</a:t>
                </a:r>
                <a:r>
                  <a:rPr lang="es-ES" sz="1200" dirty="0"/>
                  <a:t>.</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CAA3AF59-0133-9060-9101-0EF5E7442221}"/>
                  </a:ext>
                </a:extLst>
              </p:cNvPr>
              <p:cNvSpPr txBox="1">
                <a:spLocks noRot="1" noChangeAspect="1" noMove="1" noResize="1" noEditPoints="1" noAdjustHandles="1" noChangeArrowheads="1" noChangeShapeType="1" noTextEdit="1"/>
              </p:cNvSpPr>
              <p:nvPr/>
            </p:nvSpPr>
            <p:spPr>
              <a:xfrm>
                <a:off x="609600" y="2304871"/>
                <a:ext cx="6629400" cy="3668377"/>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6" name="Marcador de pie de página 2">
            <a:extLst>
              <a:ext uri="{FF2B5EF4-FFF2-40B4-BE49-F238E27FC236}">
                <a16:creationId xmlns:a16="http://schemas.microsoft.com/office/drawing/2014/main" id="{FDAFAC04-5A0C-838C-B0EC-4CEF9B15E4D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5" name="Imagen 4">
            <a:extLst>
              <a:ext uri="{FF2B5EF4-FFF2-40B4-BE49-F238E27FC236}">
                <a16:creationId xmlns:a16="http://schemas.microsoft.com/office/drawing/2014/main" id="{78BA7079-CC3F-E736-6042-AAD51C32245D}"/>
              </a:ext>
            </a:extLst>
          </p:cNvPr>
          <p:cNvPicPr>
            <a:picLocks noChangeAspect="1"/>
          </p:cNvPicPr>
          <p:nvPr/>
        </p:nvPicPr>
        <p:blipFill>
          <a:blip r:embed="rId5"/>
          <a:stretch>
            <a:fillRect/>
          </a:stretch>
        </p:blipFill>
        <p:spPr>
          <a:xfrm>
            <a:off x="7696200" y="3348742"/>
            <a:ext cx="3699026" cy="2559326"/>
          </a:xfrm>
          <a:prstGeom prst="rect">
            <a:avLst/>
          </a:prstGeom>
        </p:spPr>
      </p:pic>
      <p:pic>
        <p:nvPicPr>
          <p:cNvPr id="8" name="Imagen 7">
            <a:extLst>
              <a:ext uri="{FF2B5EF4-FFF2-40B4-BE49-F238E27FC236}">
                <a16:creationId xmlns:a16="http://schemas.microsoft.com/office/drawing/2014/main" id="{968AD8E8-2F96-A639-12F7-67D01C851602}"/>
              </a:ext>
            </a:extLst>
          </p:cNvPr>
          <p:cNvPicPr>
            <a:picLocks noChangeAspect="1"/>
          </p:cNvPicPr>
          <p:nvPr/>
        </p:nvPicPr>
        <p:blipFill>
          <a:blip r:embed="rId6"/>
          <a:stretch>
            <a:fillRect/>
          </a:stretch>
        </p:blipFill>
        <p:spPr>
          <a:xfrm>
            <a:off x="7696200" y="605465"/>
            <a:ext cx="3699027" cy="2563643"/>
          </a:xfrm>
          <a:prstGeom prst="rect">
            <a:avLst/>
          </a:prstGeom>
        </p:spPr>
      </p:pic>
    </p:spTree>
    <p:extLst>
      <p:ext uri="{BB962C8B-B14F-4D97-AF65-F5344CB8AC3E}">
        <p14:creationId xmlns:p14="http://schemas.microsoft.com/office/powerpoint/2010/main" val="3499851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2640</TotalTime>
  <Words>2700</Words>
  <Application>Microsoft Office PowerPoint</Application>
  <PresentationFormat>Panorámica</PresentationFormat>
  <Paragraphs>141</Paragraphs>
  <Slides>13</Slides>
  <Notes>10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13</vt:i4>
      </vt:variant>
    </vt:vector>
  </HeadingPairs>
  <TitlesOfParts>
    <vt:vector size="21" baseType="lpstr">
      <vt:lpstr>Aptos</vt:lpstr>
      <vt:lpstr>Arial</vt:lpstr>
      <vt:lpstr>Calibri</vt:lpstr>
      <vt:lpstr>Cambria Math</vt:lpstr>
      <vt:lpstr>Courier New</vt:lpstr>
      <vt:lpstr>Lucida Sans</vt:lpstr>
      <vt:lpstr>Wingdings</vt:lpstr>
      <vt:lpstr>Office Theme</vt:lpstr>
      <vt:lpstr>Presentación de PowerPoint</vt:lpstr>
      <vt:lpstr>Instructions General</vt:lpstr>
      <vt:lpstr>ASSESSMENT #1 – Recap from theory – MZI configurations </vt:lpstr>
      <vt:lpstr>ASSESSMENT #1 – Balanced – MZI configurations </vt:lpstr>
      <vt:lpstr>ASSESSMENT #1 – Unbalanced: Phase difference – MZI configurations </vt:lpstr>
      <vt:lpstr>ASSESSMENT #1 – Unbalanced: Delay imbalance– MZI configurations </vt:lpstr>
      <vt:lpstr>ASSESSMENT #1 – Unbalanced: Amplitude imbalance– MZI configurations </vt:lpstr>
      <vt:lpstr>ASSESSMENT #2 – Recap from theory – Calculation of ΔL  </vt:lpstr>
      <vt:lpstr>ASSESSMENT #3 – SAX implementation  </vt:lpstr>
      <vt:lpstr>Extra assessments </vt:lpstr>
      <vt:lpstr>Extra assessments </vt:lpstr>
      <vt:lpstr>Extra assessments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Andrés Sanchez-Toril Bastrygina</cp:lastModifiedBy>
  <cp:revision>23</cp:revision>
  <dcterms:created xsi:type="dcterms:W3CDTF">2025-01-27T02:46:57Z</dcterms:created>
  <dcterms:modified xsi:type="dcterms:W3CDTF">2026-10-05T14:09:32Z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